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1134" r:id="rId2"/>
    <p:sldId id="1187" r:id="rId3"/>
    <p:sldId id="1188" r:id="rId4"/>
    <p:sldId id="1189" r:id="rId5"/>
    <p:sldId id="1190" r:id="rId6"/>
    <p:sldId id="1182" r:id="rId7"/>
    <p:sldId id="1183" r:id="rId8"/>
    <p:sldId id="1184" r:id="rId9"/>
    <p:sldId id="1138" r:id="rId10"/>
    <p:sldId id="113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D958F-83C2-4BDE-8308-66A1427857CE}" v="1" dt="2025-01-22T00:12:43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 Kwon" userId="6622d71374edf8bd" providerId="LiveId" clId="{F08D958F-83C2-4BDE-8308-66A1427857CE}"/>
    <pc:docChg chg="modSld">
      <pc:chgData name="Sora Kwon" userId="6622d71374edf8bd" providerId="LiveId" clId="{F08D958F-83C2-4BDE-8308-66A1427857CE}" dt="2025-01-22T00:12:43.595" v="0" actId="1076"/>
      <pc:docMkLst>
        <pc:docMk/>
      </pc:docMkLst>
      <pc:sldChg chg="modSp">
        <pc:chgData name="Sora Kwon" userId="6622d71374edf8bd" providerId="LiveId" clId="{F08D958F-83C2-4BDE-8308-66A1427857CE}" dt="2025-01-22T00:12:43.595" v="0" actId="1076"/>
        <pc:sldMkLst>
          <pc:docMk/>
          <pc:sldMk cId="1505210201" sldId="1182"/>
        </pc:sldMkLst>
        <pc:spChg chg="mod">
          <ac:chgData name="Sora Kwon" userId="6622d71374edf8bd" providerId="LiveId" clId="{F08D958F-83C2-4BDE-8308-66A1427857CE}" dt="2025-01-22T00:12:43.595" v="0" actId="1076"/>
          <ac:spMkLst>
            <pc:docMk/>
            <pc:sldMk cId="1505210201" sldId="1182"/>
            <ac:spMk id="2" creationId="{34EBFEF3-B7B5-A550-243C-3EB6A3530B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C108F-900F-497E-A6BF-DE0F5263EEFD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790E8-84A9-4FE9-8963-5ABAA7AF1E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89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00013" y="492125"/>
            <a:ext cx="7283451" cy="4097338"/>
          </a:xfrm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74786" y="5057565"/>
            <a:ext cx="5534654" cy="4813689"/>
          </a:xfrm>
        </p:spPr>
        <p:txBody>
          <a:bodyPr/>
          <a:lstStyle/>
          <a:p>
            <a:pPr marL="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Tx/>
              <a:buFont typeface="Wingdings"/>
              <a:buNone/>
              <a:tabLst/>
              <a:defRPr/>
            </a:pPr>
            <a:r>
              <a:rPr lang="en-US" altLang="ko-KR" dirty="0">
                <a:ea typeface="굴림" pitchFamily="50" charset="-127"/>
              </a:rPr>
              <a:t>[</a:t>
            </a:r>
            <a:r>
              <a:rPr lang="en-US" altLang="ko-KR" sz="1000" b="1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3-way handshake</a:t>
            </a:r>
            <a:r>
              <a:rPr lang="en-US" altLang="ko-KR" dirty="0">
                <a:ea typeface="굴림" pitchFamily="50" charset="-127"/>
              </a:rPr>
              <a:t>]</a:t>
            </a:r>
          </a:p>
          <a:p>
            <a:pPr marL="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Tx/>
              <a:buFont typeface="Wingdings"/>
              <a:buNone/>
              <a:tabLst/>
              <a:defRPr/>
            </a:pPr>
            <a:r>
              <a:rPr lang="en-US" altLang="ko-KR" dirty="0"/>
              <a:t>TCP </a:t>
            </a:r>
            <a:r>
              <a:rPr lang="ko-KR" altLang="en-US"/>
              <a:t>클라이언트와 서버간에 신뢰성 있는 데이터를 전송하기 위해 실 데이터를 전송하기 전 통신을 개시할 것을 상호 확인하는 과정</a:t>
            </a:r>
          </a:p>
          <a:p>
            <a:pPr marL="0" lvl="2" indent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/>
              <a:buNone/>
              <a:defRPr/>
            </a:pP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/>
              <a:buChar char="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두 시스템이 통신을 하기 전에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클라이언트는 포트가 닫힌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Closed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서버는 해당 포트로 항상 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서비스를 제공할 수 있는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Listen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 pitchFamily="2" charset="2"/>
              <a:buChar char="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처음 클라이언트가 통신을 하고자 하면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임의의 포트 번호가 클라이언트 프로그램에 할당되고 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클라이언트는 서버에 연결하고 싶다는 의사 표시로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SYN Sent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상태가 됨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 pitchFamily="2" charset="2"/>
              <a:buChar char="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클라이언트의 연결 요청을 받은 서버는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SYN Received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상태가 되고 클라이언트에게 연결을 해도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좋다는 </a:t>
            </a:r>
            <a:r>
              <a:rPr lang="ko-KR" altLang="en-US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의미로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SYN+ACK </a:t>
            </a:r>
            <a:r>
              <a:rPr lang="ko-KR" altLang="en-US" dirty="0" err="1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패킷을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보냄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 pitchFamily="2" charset="2"/>
              <a:buChar char="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마지막으로 클라이언트는 연결을 요청한 것에 대한 서버의 응답을 확인했다는 표시로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ACK </a:t>
            </a:r>
            <a:r>
              <a:rPr lang="ko-KR" altLang="en-US" dirty="0" err="1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패킷을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서버에 보냄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.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B80C2B-2AC0-4F51-95F2-1B39C0D83A65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0012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260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909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62232" y="5057565"/>
            <a:ext cx="5588263" cy="45575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757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6FD29-F480-CA9C-A1D1-697D3B6B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7736E6-51F5-6288-2319-13817C1F3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5F1773-C21C-B9EA-82B4-0F35BCEC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2411A-F8B7-7553-6BCB-C5CE2FE7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08EA7-FD13-FF1A-6F11-7648AE55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AE090-9AD8-AA12-48E4-FE706F8A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EF80C4-60AA-696C-88D6-FC53FBD11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F76A0-4961-B76D-47F2-F0C32972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C4054A-7198-9128-E6CA-65F649B0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ADA45F-235C-D80B-CAD5-3F59D260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8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48407-4190-AC74-FB4D-3313534E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D41DFC-AB10-A289-FF19-EAA937A6B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DD98E-7001-3A24-00D4-7CBAEEDB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059CAD-CB64-8C6F-DE03-DCBA378A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09C75C-8E4B-7994-BE26-9FF9CD07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63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A57AF-5E1C-402A-BA76-85FE5BC6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CBDCB8-0822-D398-33EF-0E01CBE0F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8A011F-5451-90D1-2831-EB1722CE3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B641D-3F47-632E-BFAB-063E94C8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ED3404-FC9B-73B4-F18A-B3BB118D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050730-50C7-9EE3-4CD0-1105AF31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5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A13C3-7E45-E613-7157-F22C06F0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ADD62D-ACD1-6DC0-13C5-966C6F27E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42EB6F-950A-B755-1466-A3DFAD705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8575F2-E918-42AD-BDA9-B60FD746D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387756-F65C-9B02-F6BB-334961BDE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79532A-D853-F96E-5DC9-91FC6C1F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6FB35C-D1F9-1275-DD6A-C2C7F7B3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4E0E7B-6D26-C70C-FC53-DB906899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5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D1CAA-469D-F121-3DFF-60859093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843FFA-E400-4AED-74CE-B32902AE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8D7CCF-7D85-22A0-2543-5FEF9AF2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58232B-D394-15D5-9268-D3D81024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82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E36A96-5DA1-40C7-5978-32A7C636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37399C-02B2-D439-A480-1745FCFF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0ECB62-B7BF-F5AC-6203-38FB93DA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84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28CFE-F273-2868-FB0C-6F9E23FC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08E9-0C48-C60A-0573-C10ACDBC4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7A6CCD-D77D-1451-24F0-847DA7D82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A0A319-BFFF-F624-EEFB-2EC2C6932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EF43C0-6A48-34E9-50BA-DA1EE6CD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B51DEF-F18E-138C-FBF3-023FA7B3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78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39B1B-521A-AFD1-42DB-4F20C46E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96B7E7-6844-7030-5765-6B6ADE12F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A7C62E-848F-159D-DFB4-D9FD42E41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2E48F-0F01-E6B6-869A-20B7E3E0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6B0EA-A0D0-5CD8-70F2-CE7AF8E9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289FEE-347E-3074-E9FF-41BCFC75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55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160E4-B006-5858-74C4-1A88181C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405678-225F-EE4B-1B6C-69829351F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33B1EE-8FC2-75D3-09FC-9FDAAFE9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A0E21-44B1-63F1-C803-E8A525930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E6A7E-9F7E-ACA9-FAE6-EC7DFC31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77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CF9069-4DD9-20CE-052A-8713613DB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3063F9-E1E0-1E01-653A-DA3805101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60987F-78B0-9BBC-4D73-0115A99D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85E70B-A8B9-9C11-49D9-B3FC8703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F71863-9056-97A9-550E-56857C89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35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9095912" y="6408476"/>
            <a:ext cx="2743200" cy="365125"/>
          </a:xfrm>
        </p:spPr>
        <p:txBody>
          <a:bodyPr/>
          <a:lstStyle>
            <a:lvl1pPr>
              <a:defRPr sz="11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B2209E9-2AE8-42A0-AB53-D13299BB30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324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77E8BF-D542-9375-D97F-31DAB0E6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E8EFE6-A211-9310-DF29-7241322FE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673CE6-5F8E-1024-4A1D-F5367C0E4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49FAC-8067-4DAF-A5AD-CFE0B6FF2EB2}" type="datetimeFigureOut">
              <a:rPr lang="ko-KR" altLang="en-US" smtClean="0"/>
              <a:t>2025-01-22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A4B695-CA4F-0C03-7F70-2928043B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84DA0-554E-7E0B-B1B6-4308C4E89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44D71-7FC9-4E73-873D-1EC3A2940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05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729876" y="510210"/>
            <a:ext cx="7431088" cy="480536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2585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TCP </a:t>
            </a:r>
            <a:r>
              <a:rPr lang="ko-KR" altLang="en-US" sz="2585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연결 설정 </a:t>
            </a:r>
            <a:r>
              <a:rPr lang="en-US" altLang="ko-KR" sz="2585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(3-Way Handshaking) </a:t>
            </a:r>
          </a:p>
          <a:p>
            <a:pPr marL="237271" lvl="1" indent="0">
              <a:buNone/>
              <a:defRPr/>
            </a:pPr>
            <a:endParaRPr lang="en-US" altLang="ko-KR" sz="2585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997" y="1393967"/>
            <a:ext cx="6822057" cy="495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433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8921208" y="6427034"/>
            <a:ext cx="1543050" cy="273844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/>
        </p:nvCxnSpPr>
        <p:spPr>
          <a:xfrm flipH="1">
            <a:off x="2872593" y="2168558"/>
            <a:ext cx="26576" cy="407980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H="1">
            <a:off x="5537717" y="2180584"/>
            <a:ext cx="14223" cy="406777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59435" y="1606616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2924468" y="2373979"/>
            <a:ext cx="2613248" cy="6730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803421">
            <a:off x="2748567" y="2335868"/>
            <a:ext cx="2547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SYN=(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  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 SN=767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2903374" y="3681006"/>
            <a:ext cx="2661956" cy="756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2906921" y="5043827"/>
            <a:ext cx="2658170" cy="704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839121">
            <a:off x="2882661" y="5399752"/>
            <a:ext cx="2893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❾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 AN=(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❿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 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 rot="20648991">
            <a:off x="2641543" y="4071126"/>
            <a:ext cx="2988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SYN=( 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) SN=373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10238" y="1597074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 rot="863904">
            <a:off x="2677841" y="5090943"/>
            <a:ext cx="3153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)  SN=(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)</a:t>
            </a:r>
            <a:r>
              <a:rPr lang="en-US" altLang="ko-KR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ko-KR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rot="865450">
            <a:off x="2438704" y="2660087"/>
            <a:ext cx="3355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 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 AN=(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) 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20589839">
            <a:off x="2925715" y="3689270"/>
            <a:ext cx="2800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) AN=(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)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37255" y="2677675"/>
            <a:ext cx="4578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❾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❿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99577" y="675262"/>
            <a:ext cx="6078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3WHS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일부분이다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괄호부분을 모두 합한 값은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74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98306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946897" y="535894"/>
            <a:ext cx="7280275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sz="2400" dirty="0">
                <a:ea typeface="함초롬바탕" panose="02030504000101010101"/>
              </a:rPr>
              <a:t> </a:t>
            </a:r>
            <a:r>
              <a:rPr lang="ko-KR" altLang="en-US" sz="2400" dirty="0">
                <a:ea typeface="함초롬바탕" panose="02030504000101010101"/>
              </a:rPr>
              <a:t>정상적인 트래픽 전송 과정 </a:t>
            </a:r>
          </a:p>
        </p:txBody>
      </p:sp>
      <p:grpSp>
        <p:nvGrpSpPr>
          <p:cNvPr id="98307" name="그룹 3"/>
          <p:cNvGrpSpPr>
            <a:grpSpLocks/>
          </p:cNvGrpSpPr>
          <p:nvPr/>
        </p:nvGrpSpPr>
        <p:grpSpPr bwMode="auto">
          <a:xfrm flipH="1">
            <a:off x="8750316" y="3244367"/>
            <a:ext cx="868973" cy="942569"/>
            <a:chOff x="1533695" y="4087365"/>
            <a:chExt cx="838200" cy="1008271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59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89"/>
              <a:ext cx="43819" cy="7838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4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4"/>
              <a:ext cx="35338" cy="32919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8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8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1"/>
              <a:ext cx="90463" cy="48594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5"/>
              <a:ext cx="107425" cy="70538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7"/>
              <a:ext cx="144176" cy="352694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1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19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7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7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2"/>
              <a:ext cx="4240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7"/>
              <a:ext cx="706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2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2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2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2"/>
              <a:ext cx="2827" cy="7524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1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8"/>
              <a:ext cx="0" cy="2037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2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8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8"/>
              <a:ext cx="113079" cy="23513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8361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7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3"/>
              <a:ext cx="436768" cy="51101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8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19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4"/>
              <a:ext cx="361854" cy="402855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9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830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596" y="2800350"/>
            <a:ext cx="1462453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9" name="TextBox 58"/>
          <p:cNvSpPr txBox="1">
            <a:spLocks noChangeArrowheads="1"/>
          </p:cNvSpPr>
          <p:nvPr/>
        </p:nvSpPr>
        <p:spPr bwMode="auto">
          <a:xfrm>
            <a:off x="2730514" y="4337541"/>
            <a:ext cx="1197764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4616466" y="1821475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8311" name="TextBox 60"/>
          <p:cNvSpPr txBox="1">
            <a:spLocks noChangeArrowheads="1"/>
          </p:cNvSpPr>
          <p:nvPr/>
        </p:nvSpPr>
        <p:spPr bwMode="auto">
          <a:xfrm>
            <a:off x="5051685" y="1968014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4616466" y="2536581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4607672" y="3253154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4603276" y="3996106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8" name="오른쪽 화살표 67"/>
          <p:cNvSpPr/>
          <p:nvPr/>
        </p:nvSpPr>
        <p:spPr>
          <a:xfrm>
            <a:off x="4594484" y="4709748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0" name="오른쪽 화살표 69"/>
          <p:cNvSpPr/>
          <p:nvPr/>
        </p:nvSpPr>
        <p:spPr>
          <a:xfrm rot="10800000">
            <a:off x="4594484" y="5423390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8317" name="TextBox 73"/>
          <p:cNvSpPr txBox="1">
            <a:spLocks noChangeArrowheads="1"/>
          </p:cNvSpPr>
          <p:nvPr/>
        </p:nvSpPr>
        <p:spPr bwMode="auto">
          <a:xfrm>
            <a:off x="8772294" y="4312629"/>
            <a:ext cx="1197764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8318" name="TextBox 74"/>
          <p:cNvSpPr txBox="1">
            <a:spLocks noChangeArrowheads="1"/>
          </p:cNvSpPr>
          <p:nvPr/>
        </p:nvSpPr>
        <p:spPr bwMode="auto">
          <a:xfrm>
            <a:off x="5753604" y="2684587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AN=5500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19" name="TextBox 75"/>
          <p:cNvSpPr txBox="1">
            <a:spLocks noChangeArrowheads="1"/>
          </p:cNvSpPr>
          <p:nvPr/>
        </p:nvSpPr>
        <p:spPr bwMode="auto">
          <a:xfrm>
            <a:off x="5750673" y="4152903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AN=6100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0" name="TextBox 76"/>
          <p:cNvSpPr txBox="1">
            <a:spLocks noChangeArrowheads="1"/>
          </p:cNvSpPr>
          <p:nvPr/>
        </p:nvSpPr>
        <p:spPr bwMode="auto">
          <a:xfrm>
            <a:off x="5819546" y="5556741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AN=6400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1" name="TextBox 77"/>
          <p:cNvSpPr txBox="1">
            <a:spLocks noChangeArrowheads="1"/>
          </p:cNvSpPr>
          <p:nvPr/>
        </p:nvSpPr>
        <p:spPr bwMode="auto">
          <a:xfrm>
            <a:off x="4943247" y="3399694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2" name="TextBox 78"/>
          <p:cNvSpPr txBox="1">
            <a:spLocks noChangeArrowheads="1"/>
          </p:cNvSpPr>
          <p:nvPr/>
        </p:nvSpPr>
        <p:spPr bwMode="auto">
          <a:xfrm>
            <a:off x="4943247" y="4857752"/>
            <a:ext cx="234391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6100 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300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3" name="TextBox 1"/>
          <p:cNvSpPr txBox="1">
            <a:spLocks noChangeArrowheads="1"/>
          </p:cNvSpPr>
          <p:nvPr/>
        </p:nvSpPr>
        <p:spPr bwMode="auto">
          <a:xfrm>
            <a:off x="8517320" y="2807679"/>
            <a:ext cx="1643399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AN=SN+ </a:t>
            </a:r>
            <a:r>
              <a:rPr lang="en-US" altLang="ko-KR" sz="147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DataSize</a:t>
            </a:r>
            <a:endParaRPr lang="ko-KR" altLang="en-US" sz="14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550345" y="1821474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656731" y="1821474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763117" y="1821474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86950" y="1546359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710164" y="154571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813694" y="154689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48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99330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449450" y="414894"/>
            <a:ext cx="7280275" cy="481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 dirty="0">
                <a:ea typeface="함초롬바탕" panose="02030504000101010101"/>
              </a:rPr>
              <a:t>비정상적인 트래픽 전송 과정 </a:t>
            </a:r>
          </a:p>
        </p:txBody>
      </p:sp>
      <p:grpSp>
        <p:nvGrpSpPr>
          <p:cNvPr id="99331" name="그룹 3"/>
          <p:cNvGrpSpPr>
            <a:grpSpLocks/>
          </p:cNvGrpSpPr>
          <p:nvPr/>
        </p:nvGrpSpPr>
        <p:grpSpPr bwMode="auto">
          <a:xfrm flipH="1">
            <a:off x="9170901" y="2566443"/>
            <a:ext cx="868973" cy="942566"/>
            <a:chOff x="1533695" y="4087365"/>
            <a:chExt cx="838200" cy="1008269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60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8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9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90"/>
              <a:ext cx="43819" cy="78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5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5"/>
              <a:ext cx="35338" cy="32918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6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7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2"/>
              <a:ext cx="90463" cy="4859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4"/>
              <a:ext cx="107425" cy="705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6"/>
              <a:ext cx="144176" cy="352695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2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20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8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3"/>
              <a:ext cx="4240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8"/>
              <a:ext cx="706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3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3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3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3"/>
              <a:ext cx="2827" cy="75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0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9"/>
              <a:ext cx="0" cy="20377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1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9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9"/>
              <a:ext cx="113079" cy="23512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938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6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2"/>
              <a:ext cx="436768" cy="511016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6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9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20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3"/>
              <a:ext cx="361854" cy="402856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8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332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82" y="2122428"/>
            <a:ext cx="1462453" cy="139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Box 58"/>
          <p:cNvSpPr txBox="1">
            <a:spLocks noChangeArrowheads="1"/>
          </p:cNvSpPr>
          <p:nvPr/>
        </p:nvSpPr>
        <p:spPr bwMode="auto">
          <a:xfrm>
            <a:off x="3151100" y="3659619"/>
            <a:ext cx="1197764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5037051" y="1143551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35" name="TextBox 60"/>
          <p:cNvSpPr txBox="1">
            <a:spLocks noChangeArrowheads="1"/>
          </p:cNvSpPr>
          <p:nvPr/>
        </p:nvSpPr>
        <p:spPr bwMode="auto">
          <a:xfrm>
            <a:off x="5472271" y="1291557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5037051" y="1860125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5028259" y="2576698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5022396" y="3318182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8" name="오른쪽 화살표 67"/>
          <p:cNvSpPr/>
          <p:nvPr/>
        </p:nvSpPr>
        <p:spPr>
          <a:xfrm>
            <a:off x="5035585" y="5423829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0" name="오른쪽 화살표 69"/>
          <p:cNvSpPr/>
          <p:nvPr/>
        </p:nvSpPr>
        <p:spPr>
          <a:xfrm rot="10800000">
            <a:off x="5035585" y="6137471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41" name="TextBox 73"/>
          <p:cNvSpPr txBox="1">
            <a:spLocks noChangeArrowheads="1"/>
          </p:cNvSpPr>
          <p:nvPr/>
        </p:nvSpPr>
        <p:spPr bwMode="auto">
          <a:xfrm>
            <a:off x="9192880" y="3634707"/>
            <a:ext cx="1197764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9342" name="TextBox 74"/>
          <p:cNvSpPr txBox="1">
            <a:spLocks noChangeArrowheads="1"/>
          </p:cNvSpPr>
          <p:nvPr/>
        </p:nvSpPr>
        <p:spPr bwMode="auto">
          <a:xfrm>
            <a:off x="6156605" y="2006665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AN=5200 </a:t>
            </a:r>
            <a:r>
              <a:rPr lang="ko-KR" altLang="en-US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3" name="TextBox 75"/>
          <p:cNvSpPr txBox="1">
            <a:spLocks noChangeArrowheads="1"/>
          </p:cNvSpPr>
          <p:nvPr/>
        </p:nvSpPr>
        <p:spPr bwMode="auto">
          <a:xfrm>
            <a:off x="6171258" y="3476445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5400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4" name="TextBox 76"/>
          <p:cNvSpPr txBox="1">
            <a:spLocks noChangeArrowheads="1"/>
          </p:cNvSpPr>
          <p:nvPr/>
        </p:nvSpPr>
        <p:spPr bwMode="auto">
          <a:xfrm>
            <a:off x="6244527" y="6272287"/>
            <a:ext cx="1350050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 # : 6000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5" name="TextBox 77"/>
          <p:cNvSpPr txBox="1">
            <a:spLocks noChangeArrowheads="1"/>
          </p:cNvSpPr>
          <p:nvPr/>
        </p:nvSpPr>
        <p:spPr bwMode="auto">
          <a:xfrm>
            <a:off x="5363833" y="2721773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6" name="TextBox 78"/>
          <p:cNvSpPr txBox="1">
            <a:spLocks noChangeArrowheads="1"/>
          </p:cNvSpPr>
          <p:nvPr/>
        </p:nvSpPr>
        <p:spPr bwMode="auto">
          <a:xfrm>
            <a:off x="5385814" y="5573299"/>
            <a:ext cx="234391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666124" y="1461453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772510" y="1461453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878896" y="1461453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702729" y="1186338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825943" y="1185694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929472" y="1186870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오른쪽 화살표 77"/>
          <p:cNvSpPr/>
          <p:nvPr/>
        </p:nvSpPr>
        <p:spPr>
          <a:xfrm>
            <a:off x="5022500" y="4038949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9" name="오른쪽 화살표 78"/>
          <p:cNvSpPr/>
          <p:nvPr/>
        </p:nvSpPr>
        <p:spPr>
          <a:xfrm rot="10800000">
            <a:off x="5016637" y="4780433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80" name="TextBox 75"/>
          <p:cNvSpPr txBox="1">
            <a:spLocks noChangeArrowheads="1"/>
          </p:cNvSpPr>
          <p:nvPr/>
        </p:nvSpPr>
        <p:spPr bwMode="auto">
          <a:xfrm>
            <a:off x="6165499" y="4938696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" name="TextBox 77"/>
          <p:cNvSpPr txBox="1">
            <a:spLocks noChangeArrowheads="1"/>
          </p:cNvSpPr>
          <p:nvPr/>
        </p:nvSpPr>
        <p:spPr bwMode="auto">
          <a:xfrm>
            <a:off x="5358074" y="4184024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7298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600831" y="490364"/>
            <a:ext cx="7280275" cy="481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 dirty="0">
                <a:ea typeface="함초롬바탕" panose="02030504000101010101"/>
              </a:rPr>
              <a:t>비정상적인 트래픽 전송 과정 </a:t>
            </a:r>
          </a:p>
        </p:txBody>
      </p:sp>
      <p:grpSp>
        <p:nvGrpSpPr>
          <p:cNvPr id="99331" name="그룹 3"/>
          <p:cNvGrpSpPr>
            <a:grpSpLocks/>
          </p:cNvGrpSpPr>
          <p:nvPr/>
        </p:nvGrpSpPr>
        <p:grpSpPr bwMode="auto">
          <a:xfrm flipH="1">
            <a:off x="9283916" y="3745636"/>
            <a:ext cx="868973" cy="942566"/>
            <a:chOff x="1533695" y="4087365"/>
            <a:chExt cx="838200" cy="1008269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60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8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9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90"/>
              <a:ext cx="43819" cy="78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5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5"/>
              <a:ext cx="35338" cy="32918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6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7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2"/>
              <a:ext cx="90463" cy="4859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4"/>
              <a:ext cx="107425" cy="705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6"/>
              <a:ext cx="144176" cy="352695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2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20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8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3"/>
              <a:ext cx="4240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8"/>
              <a:ext cx="706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3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3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3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3"/>
              <a:ext cx="2827" cy="75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0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9"/>
              <a:ext cx="0" cy="20377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1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9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9"/>
              <a:ext cx="113079" cy="23512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938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6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2"/>
              <a:ext cx="436768" cy="511016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6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9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20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3"/>
              <a:ext cx="361854" cy="402856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8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332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197" y="3301621"/>
            <a:ext cx="1462453" cy="139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Box 58"/>
          <p:cNvSpPr txBox="1">
            <a:spLocks noChangeArrowheads="1"/>
          </p:cNvSpPr>
          <p:nvPr/>
        </p:nvSpPr>
        <p:spPr bwMode="auto">
          <a:xfrm>
            <a:off x="3264115" y="4838812"/>
            <a:ext cx="1197764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5150066" y="2322744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35" name="TextBox 60"/>
          <p:cNvSpPr txBox="1">
            <a:spLocks noChangeArrowheads="1"/>
          </p:cNvSpPr>
          <p:nvPr/>
        </p:nvSpPr>
        <p:spPr bwMode="auto">
          <a:xfrm>
            <a:off x="5585286" y="2470750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6537787" y="3039318"/>
            <a:ext cx="2244966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5141274" y="3755891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5135411" y="4497375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41" name="TextBox 73"/>
          <p:cNvSpPr txBox="1">
            <a:spLocks noChangeArrowheads="1"/>
          </p:cNvSpPr>
          <p:nvPr/>
        </p:nvSpPr>
        <p:spPr bwMode="auto">
          <a:xfrm>
            <a:off x="9305895" y="4813900"/>
            <a:ext cx="1197764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9342" name="TextBox 74"/>
          <p:cNvSpPr txBox="1">
            <a:spLocks noChangeArrowheads="1"/>
          </p:cNvSpPr>
          <p:nvPr/>
        </p:nvSpPr>
        <p:spPr bwMode="auto">
          <a:xfrm>
            <a:off x="7361573" y="3155093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AN=5500 </a:t>
            </a:r>
            <a:r>
              <a:rPr lang="ko-KR" altLang="en-US" sz="1477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9343" name="TextBox 75"/>
          <p:cNvSpPr txBox="1">
            <a:spLocks noChangeArrowheads="1"/>
          </p:cNvSpPr>
          <p:nvPr/>
        </p:nvSpPr>
        <p:spPr bwMode="auto">
          <a:xfrm>
            <a:off x="6284273" y="4655638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9345" name="TextBox 77"/>
          <p:cNvSpPr txBox="1">
            <a:spLocks noChangeArrowheads="1"/>
          </p:cNvSpPr>
          <p:nvPr/>
        </p:nvSpPr>
        <p:spPr bwMode="auto">
          <a:xfrm>
            <a:off x="5476848" y="3900966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779139" y="2640646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885525" y="2640646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991911" y="2640646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815744" y="236553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938958" y="2364887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042487" y="2366063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오른쪽 화살표 77"/>
          <p:cNvSpPr/>
          <p:nvPr/>
        </p:nvSpPr>
        <p:spPr>
          <a:xfrm>
            <a:off x="5135515" y="5218142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81" name="TextBox 77"/>
          <p:cNvSpPr txBox="1">
            <a:spLocks noChangeArrowheads="1"/>
          </p:cNvSpPr>
          <p:nvPr/>
        </p:nvSpPr>
        <p:spPr bwMode="auto">
          <a:xfrm>
            <a:off x="5471089" y="5363217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2" name="그림 8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765" y="3475081"/>
            <a:ext cx="845645" cy="845645"/>
          </a:xfrm>
          <a:prstGeom prst="rect">
            <a:avLst/>
          </a:prstGeom>
        </p:spPr>
      </p:pic>
      <p:sp>
        <p:nvSpPr>
          <p:cNvPr id="83" name="폭발 1 82"/>
          <p:cNvSpPr/>
          <p:nvPr/>
        </p:nvSpPr>
        <p:spPr>
          <a:xfrm>
            <a:off x="5997263" y="2987856"/>
            <a:ext cx="758330" cy="56262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4" name="TextBox 83"/>
          <p:cNvSpPr txBox="1"/>
          <p:nvPr/>
        </p:nvSpPr>
        <p:spPr>
          <a:xfrm>
            <a:off x="1297952" y="1116511"/>
            <a:ext cx="28552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en-US"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송신측에서 재전송 시도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405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 flipH="1">
            <a:off x="8964027" y="2120444"/>
            <a:ext cx="941018" cy="1020399"/>
            <a:chOff x="1533695" y="4087365"/>
            <a:chExt cx="838200" cy="1007923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786661" y="4766953"/>
              <a:ext cx="164547" cy="328335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800948" y="4752666"/>
              <a:ext cx="164547" cy="328335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43327" y="2150205"/>
            <a:ext cx="1366509" cy="130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3612305" y="3538641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5698244" y="2060267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828872" y="2223604"/>
            <a:ext cx="320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6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 rot="10800000">
            <a:off x="5698243" y="3486352"/>
            <a:ext cx="2807836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8886105" y="3259694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57772" y="3613861"/>
            <a:ext cx="2460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AN=7800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4" name="오른쪽 화살표 73"/>
          <p:cNvSpPr/>
          <p:nvPr/>
        </p:nvSpPr>
        <p:spPr>
          <a:xfrm>
            <a:off x="5705373" y="2779553"/>
            <a:ext cx="2852713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오른쪽 화살표 77"/>
          <p:cNvSpPr/>
          <p:nvPr/>
        </p:nvSpPr>
        <p:spPr>
          <a:xfrm rot="10800000">
            <a:off x="5731218" y="5818170"/>
            <a:ext cx="2800707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6671824" y="5960203"/>
            <a:ext cx="131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ACK=8800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5626350" y="1410392"/>
            <a:ext cx="2891770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6215930" y="1547851"/>
            <a:ext cx="2134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3000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613528" y="493455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432485" y="1602434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3538871" y="1602434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645257" y="1602434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469090" y="1327319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592304" y="132667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SN=6400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95833" y="132785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SN=7800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715890" y="1603505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766466" y="1328922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SN=8800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733783" y="2973534"/>
            <a:ext cx="320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6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1" name="오른쪽 화살표 90"/>
          <p:cNvSpPr/>
          <p:nvPr/>
        </p:nvSpPr>
        <p:spPr>
          <a:xfrm rot="10800000">
            <a:off x="5698242" y="4327779"/>
            <a:ext cx="2891770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6342601" y="4489286"/>
            <a:ext cx="2134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1000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3" name="오른쪽 화살표 92"/>
          <p:cNvSpPr/>
          <p:nvPr/>
        </p:nvSpPr>
        <p:spPr>
          <a:xfrm>
            <a:off x="5828873" y="4978253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5959501" y="5141590"/>
            <a:ext cx="320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7800 (</a:t>
            </a:r>
            <a:r>
              <a:rPr lang="en-US" altLang="ko-KR" sz="16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1000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10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 flipH="1">
            <a:off x="9120015" y="3182760"/>
            <a:ext cx="796383" cy="905304"/>
            <a:chOff x="1533695" y="4087365"/>
            <a:chExt cx="838200" cy="978481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756778" y="4796396"/>
              <a:ext cx="194431" cy="269450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771064" y="4782109"/>
              <a:ext cx="194431" cy="269450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35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35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71630" y="3111530"/>
            <a:ext cx="1248943" cy="1188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2844024" y="434687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5404602" y="1113115"/>
            <a:ext cx="2634910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8" name="TextBox 67"/>
          <p:cNvSpPr txBox="1"/>
          <p:nvPr/>
        </p:nvSpPr>
        <p:spPr>
          <a:xfrm>
            <a:off x="9081887" y="4262657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5404603" y="607946"/>
            <a:ext cx="2623799" cy="445180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9" name="TextBox 108"/>
          <p:cNvSpPr txBox="1"/>
          <p:nvPr/>
        </p:nvSpPr>
        <p:spPr>
          <a:xfrm>
            <a:off x="5952942" y="699995"/>
            <a:ext cx="2260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1500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243457" y="2562181"/>
            <a:ext cx="602557" cy="2981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3595227" y="2559971"/>
            <a:ext cx="602557" cy="2981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925017" y="2559971"/>
            <a:ext cx="602557" cy="2981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270910" y="2355846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SN=3000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35302" y="2353152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SN=4400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962949" y="2354034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SN=5800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554329" y="2559971"/>
            <a:ext cx="602557" cy="2981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592261" y="2354034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SN=8600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60"/>
          <p:cNvSpPr txBox="1">
            <a:spLocks noChangeArrowheads="1"/>
          </p:cNvSpPr>
          <p:nvPr/>
        </p:nvSpPr>
        <p:spPr bwMode="auto">
          <a:xfrm>
            <a:off x="5642929" y="1162736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3000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3" name="오른쪽 화살표 92"/>
          <p:cNvSpPr/>
          <p:nvPr/>
        </p:nvSpPr>
        <p:spPr>
          <a:xfrm rot="10800000">
            <a:off x="5353514" y="1757656"/>
            <a:ext cx="2634480" cy="435219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94" name="TextBox 75"/>
          <p:cNvSpPr txBox="1">
            <a:spLocks noChangeArrowheads="1"/>
          </p:cNvSpPr>
          <p:nvPr/>
        </p:nvSpPr>
        <p:spPr bwMode="auto">
          <a:xfrm>
            <a:off x="6341499" y="1853571"/>
            <a:ext cx="103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4400 </a:t>
            </a:r>
            <a:r>
              <a:rPr lang="ko-KR" altLang="en-US" sz="14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2268899" y="2557438"/>
            <a:ext cx="602557" cy="2981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306831" y="2351502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SN=7200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오른쪽 화살표 98"/>
          <p:cNvSpPr/>
          <p:nvPr/>
        </p:nvSpPr>
        <p:spPr>
          <a:xfrm rot="10800000">
            <a:off x="5326347" y="2280751"/>
            <a:ext cx="2587174" cy="445180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0" name="TextBox 99"/>
          <p:cNvSpPr txBox="1"/>
          <p:nvPr/>
        </p:nvSpPr>
        <p:spPr>
          <a:xfrm>
            <a:off x="5905462" y="2374373"/>
            <a:ext cx="1927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5000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1" name="오른쪽 화살표 100"/>
          <p:cNvSpPr/>
          <p:nvPr/>
        </p:nvSpPr>
        <p:spPr>
          <a:xfrm>
            <a:off x="5447759" y="2972823"/>
            <a:ext cx="2569120" cy="52881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60"/>
          <p:cNvSpPr txBox="1">
            <a:spLocks noChangeArrowheads="1"/>
          </p:cNvSpPr>
          <p:nvPr/>
        </p:nvSpPr>
        <p:spPr bwMode="auto">
          <a:xfrm>
            <a:off x="5627017" y="3071733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4400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3" name="오른쪽 화살표 102"/>
          <p:cNvSpPr/>
          <p:nvPr/>
        </p:nvSpPr>
        <p:spPr>
          <a:xfrm>
            <a:off x="5447760" y="3515897"/>
            <a:ext cx="1787479" cy="51177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TextBox 60"/>
          <p:cNvSpPr txBox="1">
            <a:spLocks noChangeArrowheads="1"/>
          </p:cNvSpPr>
          <p:nvPr/>
        </p:nvSpPr>
        <p:spPr bwMode="auto">
          <a:xfrm>
            <a:off x="5640346" y="3605234"/>
            <a:ext cx="8739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5800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5" name="오른쪽 화살표 104"/>
          <p:cNvSpPr/>
          <p:nvPr/>
        </p:nvSpPr>
        <p:spPr>
          <a:xfrm>
            <a:off x="5447759" y="4154851"/>
            <a:ext cx="2540236" cy="438218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TextBox 60"/>
          <p:cNvSpPr txBox="1">
            <a:spLocks noChangeArrowheads="1"/>
          </p:cNvSpPr>
          <p:nvPr/>
        </p:nvSpPr>
        <p:spPr bwMode="auto">
          <a:xfrm>
            <a:off x="5646818" y="4192985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7200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7" name="폭발 1 106"/>
          <p:cNvSpPr/>
          <p:nvPr/>
        </p:nvSpPr>
        <p:spPr>
          <a:xfrm>
            <a:off x="7019147" y="3501636"/>
            <a:ext cx="758330" cy="56262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0" name="직사각형 109"/>
          <p:cNvSpPr/>
          <p:nvPr/>
        </p:nvSpPr>
        <p:spPr>
          <a:xfrm>
            <a:off x="9827792" y="2614797"/>
            <a:ext cx="602557" cy="2981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9867867" y="2407979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SN=4400</a:t>
            </a:r>
            <a:endParaRPr lang="ko-KR" altLang="en-US" sz="878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8426478" y="2634886"/>
            <a:ext cx="602557" cy="2981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464410" y="2428949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SN=7200</a:t>
            </a:r>
            <a:endParaRPr lang="ko-KR" altLang="en-US" sz="878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9141319" y="2628726"/>
            <a:ext cx="602557" cy="2981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오른쪽 화살표 114"/>
          <p:cNvSpPr/>
          <p:nvPr/>
        </p:nvSpPr>
        <p:spPr>
          <a:xfrm rot="10800000">
            <a:off x="5404602" y="4778568"/>
            <a:ext cx="2583393" cy="491668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116" name="TextBox 75"/>
          <p:cNvSpPr txBox="1">
            <a:spLocks noChangeArrowheads="1"/>
          </p:cNvSpPr>
          <p:nvPr/>
        </p:nvSpPr>
        <p:spPr bwMode="auto">
          <a:xfrm>
            <a:off x="6429082" y="4860559"/>
            <a:ext cx="11801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NAK= 5800 </a:t>
            </a:r>
            <a:r>
              <a:rPr lang="ko-KR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7" name="오른쪽 화살표 116"/>
          <p:cNvSpPr/>
          <p:nvPr/>
        </p:nvSpPr>
        <p:spPr>
          <a:xfrm>
            <a:off x="5404601" y="5416548"/>
            <a:ext cx="2617251" cy="496036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8" name="TextBox 60"/>
          <p:cNvSpPr txBox="1">
            <a:spLocks noChangeArrowheads="1"/>
          </p:cNvSpPr>
          <p:nvPr/>
        </p:nvSpPr>
        <p:spPr bwMode="auto">
          <a:xfrm>
            <a:off x="5692623" y="5493782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5800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9" name="오른쪽 화살표 118"/>
          <p:cNvSpPr/>
          <p:nvPr/>
        </p:nvSpPr>
        <p:spPr>
          <a:xfrm rot="10800000">
            <a:off x="5367638" y="5921129"/>
            <a:ext cx="2620356" cy="53981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120" name="TextBox 75"/>
          <p:cNvSpPr txBox="1">
            <a:spLocks noChangeArrowheads="1"/>
          </p:cNvSpPr>
          <p:nvPr/>
        </p:nvSpPr>
        <p:spPr bwMode="auto">
          <a:xfrm>
            <a:off x="6516796" y="6067442"/>
            <a:ext cx="103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7200 </a:t>
            </a:r>
            <a:r>
              <a:rPr lang="ko-KR" altLang="en-US" sz="14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122046" y="2421374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SN=????</a:t>
            </a:r>
            <a:endParaRPr lang="ko-KR" altLang="en-US" sz="878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제목 1">
            <a:extLst>
              <a:ext uri="{FF2B5EF4-FFF2-40B4-BE49-F238E27FC236}">
                <a16:creationId xmlns:a16="http://schemas.microsoft.com/office/drawing/2014/main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1839742" y="333551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231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 flipH="1">
            <a:off x="8494032" y="2751976"/>
            <a:ext cx="1033237" cy="1009378"/>
            <a:chOff x="1533695" y="4087365"/>
            <a:chExt cx="838200" cy="984028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801348" y="4790849"/>
              <a:ext cx="149861" cy="280544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815635" y="4776562"/>
              <a:ext cx="149861" cy="280544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23650" y="2637910"/>
            <a:ext cx="1424231" cy="135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2948679" y="4085042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5084091" y="1837015"/>
            <a:ext cx="2185193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62" name="TextBox 61"/>
          <p:cNvSpPr txBox="1"/>
          <p:nvPr/>
        </p:nvSpPr>
        <p:spPr>
          <a:xfrm>
            <a:off x="5449186" y="1968381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1400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 rot="10800000">
            <a:off x="4872922" y="3183342"/>
            <a:ext cx="2311171" cy="445180"/>
          </a:xfrm>
          <a:prstGeom prst="rightArrow">
            <a:avLst>
              <a:gd name="adj1" fmla="val 50000"/>
              <a:gd name="adj2" fmla="val 86095"/>
            </a:avLst>
          </a:prstGeom>
          <a:solidFill>
            <a:srgbClr val="FF0000"/>
          </a:solidFill>
          <a:ln cap="sq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8623129" y="3900146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42859" y="3257277"/>
            <a:ext cx="2697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Window size : 0 </a:t>
            </a:r>
            <a:r>
              <a:rPr lang="ko-KR" altLang="en-US" sz="1400" b="1">
                <a:solidFill>
                  <a:schemeClr val="bg1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endParaRPr lang="ko-KR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4" name="오른쪽 화살표 73"/>
          <p:cNvSpPr/>
          <p:nvPr/>
        </p:nvSpPr>
        <p:spPr>
          <a:xfrm>
            <a:off x="5093121" y="2368045"/>
            <a:ext cx="2192246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5" name="TextBox 74"/>
          <p:cNvSpPr txBox="1"/>
          <p:nvPr/>
        </p:nvSpPr>
        <p:spPr>
          <a:xfrm>
            <a:off x="5458218" y="2499410"/>
            <a:ext cx="1815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6" name="오른쪽 화살표 75"/>
          <p:cNvSpPr/>
          <p:nvPr/>
        </p:nvSpPr>
        <p:spPr>
          <a:xfrm>
            <a:off x="5011433" y="3777645"/>
            <a:ext cx="2205464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rgbClr val="FFC000"/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7" name="TextBox 76"/>
          <p:cNvSpPr txBox="1"/>
          <p:nvPr/>
        </p:nvSpPr>
        <p:spPr>
          <a:xfrm>
            <a:off x="5368400" y="3856992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Keep Alive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4884725" y="4315391"/>
            <a:ext cx="2332172" cy="445180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09" name="TextBox 108"/>
          <p:cNvSpPr txBox="1"/>
          <p:nvPr/>
        </p:nvSpPr>
        <p:spPr>
          <a:xfrm>
            <a:off x="4681624" y="4395567"/>
            <a:ext cx="299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Window size : 1000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0" name="오른쪽 화살표 109"/>
          <p:cNvSpPr/>
          <p:nvPr/>
        </p:nvSpPr>
        <p:spPr>
          <a:xfrm>
            <a:off x="5016727" y="5047989"/>
            <a:ext cx="2230579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1" name="TextBox 110"/>
          <p:cNvSpPr txBox="1"/>
          <p:nvPr/>
        </p:nvSpPr>
        <p:spPr>
          <a:xfrm>
            <a:off x="5368400" y="5108886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800 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3" name="오른쪽 화살표 112"/>
          <p:cNvSpPr/>
          <p:nvPr/>
        </p:nvSpPr>
        <p:spPr>
          <a:xfrm>
            <a:off x="5016727" y="5564637"/>
            <a:ext cx="2230579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4" name="TextBox 113"/>
          <p:cNvSpPr txBox="1"/>
          <p:nvPr/>
        </p:nvSpPr>
        <p:spPr>
          <a:xfrm>
            <a:off x="5368400" y="5610770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200 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2127419" y="441443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81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슬라이드 번호 개체 틀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524000" y="149225"/>
            <a:ext cx="7888288" cy="852488"/>
          </a:xfrm>
        </p:spPr>
        <p:txBody>
          <a:bodyPr>
            <a:normAutofit/>
          </a:bodyPr>
          <a:lstStyle/>
          <a:p>
            <a:pPr marL="273050"/>
            <a:r>
              <a:rPr lang="en-US" altLang="ko-KR" sz="27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ko-KR" altLang="en-US" sz="2708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 종료</a:t>
            </a:r>
            <a:r>
              <a:rPr lang="en-US" altLang="ko-KR" sz="27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(4-way Handshake)</a:t>
            </a:r>
            <a:endParaRPr lang="ko-KR" altLang="en-US" sz="2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643520" y="1478771"/>
            <a:ext cx="7129" cy="51745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7568103" y="1478771"/>
            <a:ext cx="4881" cy="51745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01025" y="1112886"/>
            <a:ext cx="82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73012" y="1109439"/>
            <a:ext cx="862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4643519" y="2079680"/>
            <a:ext cx="2924582" cy="814957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712479">
            <a:off x="5404420" y="2125040"/>
            <a:ext cx="839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① FIN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1790" y="1942511"/>
            <a:ext cx="1574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FIN_WAIT-1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83157" y="2648060"/>
            <a:ext cx="1844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② CLOSE_WAIT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4643519" y="2988989"/>
            <a:ext cx="2875408" cy="1077079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20246189">
            <a:off x="5492313" y="3301061"/>
            <a:ext cx="878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4632902" y="3867760"/>
            <a:ext cx="2916292" cy="1081203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0554174">
            <a:off x="5538067" y="4163331"/>
            <a:ext cx="787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 FIN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3428" y="5127512"/>
            <a:ext cx="1586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 TIME_WAIT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(2MSL) 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/>
          <p:cNvCxnSpPr>
            <a:cxnSpLocks/>
          </p:cNvCxnSpPr>
          <p:nvPr/>
        </p:nvCxnSpPr>
        <p:spPr>
          <a:xfrm>
            <a:off x="4657190" y="5127511"/>
            <a:ext cx="2892005" cy="450458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57486" y="3927338"/>
            <a:ext cx="15172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 LAST_ACK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91891" y="5419898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 CLOSED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86746" y="3896790"/>
            <a:ext cx="1677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FIN_WAIT_2 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 rot="624948">
            <a:off x="5509220" y="5021500"/>
            <a:ext cx="878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 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왼쪽 대괄호 24"/>
          <p:cNvSpPr/>
          <p:nvPr/>
        </p:nvSpPr>
        <p:spPr bwMode="auto">
          <a:xfrm>
            <a:off x="4473674" y="2099643"/>
            <a:ext cx="145259" cy="1966424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2934" y="3060810"/>
            <a:ext cx="3217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② Application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Close( )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7189" y="5914882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 CLOSED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59876" y="3485054"/>
            <a:ext cx="3335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 Application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Close( )</a:t>
            </a:r>
            <a:r>
              <a:rPr lang="ko-KR" altLang="en-US" sz="1600" dirty="0">
                <a:latin typeface="함초롬바탕 확장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0545" y="5715583"/>
            <a:ext cx="2103088" cy="270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61" dirty="0">
                <a:latin typeface="Times New Roman" pitchFamily="18" charset="0"/>
                <a:cs typeface="Times New Roman" pitchFamily="18" charset="0"/>
              </a:rPr>
              <a:t>2MSL : Max Segment Lifetime</a:t>
            </a:r>
            <a:endParaRPr lang="ko-KR" altLang="en-US" sz="116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50001" y="1435120"/>
            <a:ext cx="1574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18928" y="1416728"/>
            <a:ext cx="1574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왼쪽 대괄호 46"/>
          <p:cNvSpPr/>
          <p:nvPr/>
        </p:nvSpPr>
        <p:spPr bwMode="auto">
          <a:xfrm>
            <a:off x="4473673" y="4113997"/>
            <a:ext cx="185266" cy="753698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  <p:sp>
        <p:nvSpPr>
          <p:cNvPr id="48" name="왼쪽 대괄호 47"/>
          <p:cNvSpPr/>
          <p:nvPr/>
        </p:nvSpPr>
        <p:spPr bwMode="auto">
          <a:xfrm flipH="1">
            <a:off x="7622393" y="2986194"/>
            <a:ext cx="86030" cy="910596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  <p:sp>
        <p:nvSpPr>
          <p:cNvPr id="50" name="왼쪽 대괄호 49"/>
          <p:cNvSpPr/>
          <p:nvPr/>
        </p:nvSpPr>
        <p:spPr bwMode="auto">
          <a:xfrm>
            <a:off x="4519657" y="4960316"/>
            <a:ext cx="89873" cy="902898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003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H="1">
            <a:off x="2655646" y="606059"/>
            <a:ext cx="23497" cy="575888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flipH="1">
            <a:off x="5285378" y="606058"/>
            <a:ext cx="15532" cy="57528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42862" y="239621"/>
            <a:ext cx="69602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2902" y="223145"/>
            <a:ext cx="724878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690784" y="982255"/>
            <a:ext cx="2610126" cy="57470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712479">
            <a:off x="3805656" y="1036546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2692655" y="1959384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20846372">
            <a:off x="3646604" y="2018808"/>
            <a:ext cx="58381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2679142" y="2839832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20554174">
            <a:off x="3693892" y="2906381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2692656" y="3649952"/>
            <a:ext cx="1576275" cy="50755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712479">
            <a:off x="3188886" y="3882787"/>
            <a:ext cx="58381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92232" y="3431743"/>
            <a:ext cx="829073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ko-KR" altLang="en-US" sz="12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폭발 1 30"/>
          <p:cNvSpPr/>
          <p:nvPr/>
        </p:nvSpPr>
        <p:spPr>
          <a:xfrm>
            <a:off x="4194227" y="3955410"/>
            <a:ext cx="806683" cy="673552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/>
          <p:cNvCxnSpPr/>
          <p:nvPr/>
        </p:nvCxnSpPr>
        <p:spPr>
          <a:xfrm flipH="1">
            <a:off x="2655646" y="4599365"/>
            <a:ext cx="2658779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H="1">
            <a:off x="2685627" y="5319201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20554174">
            <a:off x="2961360" y="4895534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rot="20554174">
            <a:off x="3098700" y="5577277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690855" y="532667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Server</a:t>
            </a:r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에서는 소켓을 종료하지 못하게 됨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1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8381445" y="6321921"/>
            <a:ext cx="2057400" cy="365125"/>
          </a:xfrm>
        </p:spPr>
        <p:txBody>
          <a:bodyPr/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547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1082</Words>
  <Application>Microsoft Office PowerPoint</Application>
  <PresentationFormat>와이드스크린</PresentationFormat>
  <Paragraphs>217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굴림</vt:lpstr>
      <vt:lpstr>나눔고딕</vt:lpstr>
      <vt:lpstr>맑은 고딕</vt:lpstr>
      <vt:lpstr>함초롬돋움</vt:lpstr>
      <vt:lpstr>함초롬바탕</vt:lpstr>
      <vt:lpstr>함초롬바탕 확장</vt:lpstr>
      <vt:lpstr>Arial</vt:lpstr>
      <vt:lpstr>Arial Narrow</vt:lpstr>
      <vt:lpstr>Times New Roman</vt:lpstr>
      <vt:lpstr>Wingdings</vt:lpstr>
      <vt:lpstr>Office 테마</vt:lpstr>
      <vt:lpstr>PowerPoint 프레젠테이션</vt:lpstr>
      <vt:lpstr>PowerPoint 프레젠테이션</vt:lpstr>
      <vt:lpstr>❶ 정상적인 트래픽 전송 과정 </vt:lpstr>
      <vt:lpstr>❷ 비정상적인 트래픽 전송 과정 </vt:lpstr>
      <vt:lpstr>❷ 비정상적인 트래픽 전송 과정 </vt:lpstr>
      <vt:lpstr>PowerPoint 프레젠테이션</vt:lpstr>
      <vt:lpstr>PowerPoint 프레젠테이션</vt:lpstr>
      <vt:lpstr>PowerPoint 프레젠테이션</vt:lpstr>
      <vt:lpstr>TCP 연결 종료(4-way Handshake)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Sora Kwon</dc:creator>
  <cp:lastModifiedBy>Sora Kwon</cp:lastModifiedBy>
  <cp:revision>1</cp:revision>
  <dcterms:created xsi:type="dcterms:W3CDTF">2025-01-22T00:10:39Z</dcterms:created>
  <dcterms:modified xsi:type="dcterms:W3CDTF">2025-01-22T00:12:54Z</dcterms:modified>
</cp:coreProperties>
</file>