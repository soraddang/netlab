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sldIdLst>
    <p:sldId id="1177" r:id="rId2"/>
    <p:sldId id="1174" r:id="rId3"/>
    <p:sldId id="1179" r:id="rId4"/>
    <p:sldId id="1132" r:id="rId5"/>
    <p:sldId id="1133" r:id="rId6"/>
    <p:sldId id="1134" r:id="rId7"/>
    <p:sldId id="1187" r:id="rId8"/>
    <p:sldId id="1188" r:id="rId9"/>
    <p:sldId id="1189" r:id="rId10"/>
    <p:sldId id="1190" r:id="rId11"/>
    <p:sldId id="1182" r:id="rId12"/>
    <p:sldId id="1183" r:id="rId13"/>
    <p:sldId id="1184" r:id="rId14"/>
    <p:sldId id="1138" r:id="rId15"/>
    <p:sldId id="1139" r:id="rId16"/>
    <p:sldId id="1141" r:id="rId17"/>
    <p:sldId id="1191" r:id="rId18"/>
    <p:sldId id="1192" r:id="rId19"/>
    <p:sldId id="1193" r:id="rId20"/>
    <p:sldId id="1194" r:id="rId21"/>
    <p:sldId id="1195" r:id="rId22"/>
    <p:sldId id="1142" r:id="rId23"/>
    <p:sldId id="1143" r:id="rId24"/>
    <p:sldId id="1144" r:id="rId25"/>
    <p:sldId id="1145" r:id="rId26"/>
    <p:sldId id="1146" r:id="rId27"/>
    <p:sldId id="1147" r:id="rId28"/>
    <p:sldId id="1178" r:id="rId29"/>
    <p:sldId id="1149" r:id="rId30"/>
    <p:sldId id="1150" r:id="rId31"/>
    <p:sldId id="1151" r:id="rId32"/>
    <p:sldId id="1152" r:id="rId33"/>
    <p:sldId id="1153" r:id="rId34"/>
    <p:sldId id="1154" r:id="rId35"/>
    <p:sldId id="1155" r:id="rId36"/>
    <p:sldId id="1156" r:id="rId37"/>
    <p:sldId id="1157" r:id="rId38"/>
    <p:sldId id="1158" r:id="rId39"/>
    <p:sldId id="1159" r:id="rId40"/>
    <p:sldId id="1160" r:id="rId41"/>
    <p:sldId id="1161" r:id="rId42"/>
    <p:sldId id="1162" r:id="rId43"/>
    <p:sldId id="1163" r:id="rId44"/>
    <p:sldId id="1164" r:id="rId45"/>
    <p:sldId id="1165" r:id="rId46"/>
    <p:sldId id="1166" r:id="rId47"/>
    <p:sldId id="1167" r:id="rId48"/>
    <p:sldId id="1168" r:id="rId49"/>
    <p:sldId id="1169" r:id="rId50"/>
  </p:sldIdLst>
  <p:sldSz cx="9144000" cy="6858000" type="screen4x3"/>
  <p:notesSz cx="7102475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4317" autoAdjust="0"/>
    <p:restoredTop sz="94660"/>
  </p:normalViewPr>
  <p:slideViewPr>
    <p:cSldViewPr snapToGrid="0">
      <p:cViewPr varScale="1">
        <p:scale>
          <a:sx n="84" d="100"/>
          <a:sy n="84" d="100"/>
        </p:scale>
        <p:origin x="1958" y="7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739" cy="513508"/>
          </a:xfrm>
          <a:prstGeom prst="rect">
            <a:avLst/>
          </a:prstGeom>
        </p:spPr>
        <p:txBody>
          <a:bodyPr vert="horz" lIns="94778" tIns="47388" rIns="94778" bIns="4738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094" y="0"/>
            <a:ext cx="3077739" cy="513508"/>
          </a:xfrm>
          <a:prstGeom prst="rect">
            <a:avLst/>
          </a:prstGeom>
        </p:spPr>
        <p:txBody>
          <a:bodyPr vert="horz" lIns="94778" tIns="47388" rIns="94778" bIns="47388" rtlCol="0"/>
          <a:lstStyle>
            <a:lvl1pPr algn="r">
              <a:defRPr sz="1200"/>
            </a:lvl1pPr>
          </a:lstStyle>
          <a:p>
            <a:fld id="{6E2CB153-45EF-48E8-99E9-7B97BED85BE4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78" tIns="47388" rIns="94778" bIns="4738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4778" tIns="47388" rIns="94778" bIns="4738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721108"/>
            <a:ext cx="3077739" cy="513507"/>
          </a:xfrm>
          <a:prstGeom prst="rect">
            <a:avLst/>
          </a:prstGeom>
        </p:spPr>
        <p:txBody>
          <a:bodyPr vert="horz" lIns="94778" tIns="47388" rIns="94778" bIns="4738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094" y="9721108"/>
            <a:ext cx="3077739" cy="513507"/>
          </a:xfrm>
          <a:prstGeom prst="rect">
            <a:avLst/>
          </a:prstGeom>
        </p:spPr>
        <p:txBody>
          <a:bodyPr vert="horz" lIns="94778" tIns="47388" rIns="94778" bIns="47388" rtlCol="0" anchor="b"/>
          <a:lstStyle>
            <a:lvl1pPr algn="r">
              <a:defRPr sz="1200"/>
            </a:lvl1pPr>
          </a:lstStyle>
          <a:p>
            <a:fld id="{5BE81944-C09D-40AD-A756-3B56302354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431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5538" y="1160463"/>
            <a:ext cx="4683125" cy="3513137"/>
          </a:xfrm>
          <a:ln/>
        </p:spPr>
      </p:sp>
      <p:sp>
        <p:nvSpPr>
          <p:cNvPr id="34713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ko-KR" baseline="0" dirty="0" smtClean="0">
                <a:latin typeface="굴림" charset="-127"/>
                <a:ea typeface="굴림" charset="-127"/>
              </a:rPr>
              <a:t>TCP/IP</a:t>
            </a:r>
            <a:r>
              <a:rPr lang="ko-KR" altLang="en-US" baseline="0" smtClean="0">
                <a:latin typeface="굴림" charset="-127"/>
                <a:ea typeface="굴림" charset="-127"/>
              </a:rPr>
              <a:t>의 애플리케이션 층의 프로토콜들은</a:t>
            </a:r>
            <a:r>
              <a:rPr lang="en-US" altLang="ko-KR" baseline="0" dirty="0" smtClean="0">
                <a:latin typeface="굴림" charset="-127"/>
                <a:ea typeface="굴림" charset="-127"/>
              </a:rPr>
              <a:t> TCP </a:t>
            </a:r>
            <a:r>
              <a:rPr lang="ko-KR" altLang="en-US" baseline="0" smtClean="0">
                <a:latin typeface="굴림" charset="-127"/>
                <a:ea typeface="굴림" charset="-127"/>
              </a:rPr>
              <a:t>계열과 </a:t>
            </a:r>
            <a:r>
              <a:rPr lang="en-US" altLang="ko-KR" baseline="0" dirty="0" smtClean="0">
                <a:latin typeface="굴림" charset="-127"/>
                <a:ea typeface="굴림" charset="-127"/>
              </a:rPr>
              <a:t>UDP </a:t>
            </a:r>
            <a:r>
              <a:rPr lang="ko-KR" altLang="en-US" baseline="0" smtClean="0">
                <a:latin typeface="굴림" charset="-127"/>
                <a:ea typeface="굴림" charset="-127"/>
              </a:rPr>
              <a:t>계열로 나눠지는데</a:t>
            </a:r>
            <a:endParaRPr lang="en-US" altLang="ko-KR" baseline="0" dirty="0" smtClean="0">
              <a:latin typeface="굴림" charset="-127"/>
              <a:ea typeface="굴림" charset="-127"/>
            </a:endParaRPr>
          </a:p>
          <a:p>
            <a:pPr marL="0" indent="0" eaLnBrk="1" hangingPunct="1">
              <a:buFontTx/>
              <a:buNone/>
            </a:pPr>
            <a:r>
              <a:rPr lang="en-US" altLang="ko-KR" baseline="0" dirty="0" smtClean="0">
                <a:latin typeface="굴림" charset="-127"/>
                <a:ea typeface="굴림" charset="-127"/>
              </a:rPr>
              <a:t>TCP </a:t>
            </a:r>
            <a:r>
              <a:rPr lang="ko-KR" altLang="en-US" baseline="0" smtClean="0">
                <a:latin typeface="굴림" charset="-127"/>
                <a:ea typeface="굴림" charset="-127"/>
              </a:rPr>
              <a:t>계열의 </a:t>
            </a:r>
            <a:r>
              <a:rPr lang="en-US" altLang="ko-KR" baseline="0" dirty="0" smtClean="0">
                <a:latin typeface="굴림" charset="-127"/>
                <a:ea typeface="굴림" charset="-127"/>
              </a:rPr>
              <a:t>Application</a:t>
            </a:r>
            <a:r>
              <a:rPr lang="ko-KR" altLang="en-US" baseline="0" smtClean="0">
                <a:latin typeface="굴림" charset="-127"/>
                <a:ea typeface="굴림" charset="-127"/>
              </a:rPr>
              <a:t>은 </a:t>
            </a:r>
            <a:r>
              <a:rPr lang="en-US" altLang="ko-KR" baseline="0" dirty="0" smtClean="0">
                <a:latin typeface="굴림" charset="-127"/>
                <a:ea typeface="굴림" charset="-127"/>
              </a:rPr>
              <a:t>FTP, HTTP, Telnet, SMTP</a:t>
            </a:r>
            <a:r>
              <a:rPr lang="ko-KR" altLang="en-US" baseline="0" smtClean="0">
                <a:latin typeface="굴림" charset="-127"/>
                <a:ea typeface="굴림" charset="-127"/>
              </a:rPr>
              <a:t>등이 있으며</a:t>
            </a:r>
            <a:r>
              <a:rPr lang="en-US" altLang="ko-KR" baseline="0" dirty="0" smtClean="0">
                <a:latin typeface="굴림" charset="-127"/>
                <a:ea typeface="굴림" charset="-127"/>
              </a:rPr>
              <a:t>, </a:t>
            </a:r>
          </a:p>
          <a:p>
            <a:pPr marL="0" indent="0" eaLnBrk="1" hangingPunct="1">
              <a:buFontTx/>
              <a:buNone/>
            </a:pPr>
            <a:r>
              <a:rPr lang="en-US" altLang="ko-KR" baseline="0" dirty="0" smtClean="0">
                <a:latin typeface="굴림" charset="-127"/>
                <a:ea typeface="굴림" charset="-127"/>
              </a:rPr>
              <a:t>UDP </a:t>
            </a:r>
            <a:r>
              <a:rPr lang="ko-KR" altLang="en-US" baseline="0" smtClean="0">
                <a:latin typeface="굴림" charset="-127"/>
                <a:ea typeface="굴림" charset="-127"/>
              </a:rPr>
              <a:t>계열의 </a:t>
            </a:r>
            <a:r>
              <a:rPr lang="en-US" altLang="ko-KR" baseline="0" dirty="0" err="1" smtClean="0">
                <a:latin typeface="굴림" charset="-127"/>
                <a:ea typeface="굴림" charset="-127"/>
              </a:rPr>
              <a:t>appliction</a:t>
            </a:r>
            <a:r>
              <a:rPr lang="en-US" altLang="ko-KR" baseline="0" dirty="0" smtClean="0">
                <a:latin typeface="굴림" charset="-127"/>
                <a:ea typeface="굴림" charset="-127"/>
              </a:rPr>
              <a:t> </a:t>
            </a:r>
            <a:r>
              <a:rPr lang="ko-KR" altLang="en-US" baseline="0" smtClean="0">
                <a:latin typeface="굴림" charset="-127"/>
                <a:ea typeface="굴림" charset="-127"/>
              </a:rPr>
              <a:t>프로토콜로는 </a:t>
            </a:r>
            <a:r>
              <a:rPr lang="en-US" altLang="ko-KR" baseline="0" dirty="0" smtClean="0">
                <a:latin typeface="굴림" charset="-127"/>
                <a:ea typeface="굴림" charset="-127"/>
              </a:rPr>
              <a:t>TFTP, SMNP </a:t>
            </a:r>
            <a:r>
              <a:rPr lang="ko-KR" altLang="en-US" baseline="0" smtClean="0">
                <a:latin typeface="굴림" charset="-127"/>
                <a:ea typeface="굴림" charset="-127"/>
              </a:rPr>
              <a:t>등이 있으며</a:t>
            </a:r>
            <a:endParaRPr lang="en-US" altLang="ko-KR" baseline="0" dirty="0" smtClean="0">
              <a:latin typeface="굴림" charset="-127"/>
              <a:ea typeface="굴림" charset="-127"/>
            </a:endParaRPr>
          </a:p>
          <a:p>
            <a:pPr marL="0" indent="0" eaLnBrk="1" hangingPunct="1">
              <a:buFontTx/>
              <a:buNone/>
            </a:pPr>
            <a:r>
              <a:rPr lang="en-US" altLang="ko-KR" baseline="0" dirty="0" smtClean="0">
                <a:latin typeface="굴림" charset="-127"/>
                <a:ea typeface="굴림" charset="-127"/>
              </a:rPr>
              <a:t>DNS</a:t>
            </a:r>
            <a:r>
              <a:rPr lang="ko-KR" altLang="en-US" baseline="0" smtClean="0">
                <a:latin typeface="굴림" charset="-127"/>
                <a:ea typeface="굴림" charset="-127"/>
              </a:rPr>
              <a:t>는 상황에 따라 </a:t>
            </a:r>
            <a:r>
              <a:rPr lang="en-US" altLang="ko-KR" baseline="0" dirty="0" smtClean="0">
                <a:latin typeface="굴림" charset="-127"/>
                <a:ea typeface="굴림" charset="-127"/>
              </a:rPr>
              <a:t>TCP </a:t>
            </a:r>
            <a:r>
              <a:rPr lang="ko-KR" altLang="en-US" baseline="0" smtClean="0">
                <a:latin typeface="굴림" charset="-127"/>
                <a:ea typeface="굴림" charset="-127"/>
              </a:rPr>
              <a:t>또는 </a:t>
            </a:r>
            <a:r>
              <a:rPr lang="en-US" altLang="ko-KR" baseline="0" dirty="0" smtClean="0">
                <a:latin typeface="굴림" charset="-127"/>
                <a:ea typeface="굴림" charset="-127"/>
              </a:rPr>
              <a:t>UDP</a:t>
            </a:r>
            <a:r>
              <a:rPr lang="ko-KR" altLang="en-US" baseline="0" smtClean="0">
                <a:latin typeface="굴림" charset="-127"/>
                <a:ea typeface="굴림" charset="-127"/>
              </a:rPr>
              <a:t>로 방식을 이용하여 운영되는 프로토콜입니다</a:t>
            </a:r>
            <a:r>
              <a:rPr lang="en-US" altLang="ko-KR" baseline="0" dirty="0" smtClean="0">
                <a:latin typeface="굴림" charset="-127"/>
                <a:ea typeface="굴림" charset="-127"/>
              </a:rPr>
              <a:t>.   </a:t>
            </a:r>
          </a:p>
          <a:p>
            <a:pPr marL="0" indent="0" eaLnBrk="1" hangingPunct="1">
              <a:buFontTx/>
              <a:buNone/>
            </a:pPr>
            <a:endParaRPr lang="en-US" altLang="ko-KR" dirty="0" smtClean="0">
              <a:latin typeface="굴림" charset="-127"/>
              <a:ea typeface="굴림" charset="-127"/>
            </a:endParaRPr>
          </a:p>
          <a:p>
            <a:pPr eaLnBrk="1" hangingPunct="1"/>
            <a:endParaRPr lang="en-US" altLang="ko-KR" dirty="0" smtClean="0">
              <a:latin typeface="굴림" charset="-127"/>
              <a:ea typeface="굴림" charset="-127"/>
            </a:endParaRPr>
          </a:p>
        </p:txBody>
      </p:sp>
      <p:pic>
        <p:nvPicPr>
          <p:cNvPr id="347140" name="Picture 6" descr="책제목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75" y="668338"/>
            <a:ext cx="53070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7141" name="Text Box 7"/>
          <p:cNvSpPr txBox="1">
            <a:spLocks noChangeArrowheads="1"/>
          </p:cNvSpPr>
          <p:nvPr/>
        </p:nvSpPr>
        <p:spPr bwMode="auto">
          <a:xfrm>
            <a:off x="1412875" y="828675"/>
            <a:ext cx="4068763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>
            <a:spAutoFit/>
          </a:bodyPr>
          <a:lstStyle>
            <a:lvl1pPr defTabSz="9271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271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271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271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271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defTabSz="9271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defTabSz="9271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defTabSz="9271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defTabSz="9271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ko-KR" altLang="en-US" sz="900" b="0">
                <a:latin typeface="HY울릉도L" pitchFamily="18" charset="-127"/>
                <a:ea typeface="HY울릉도L" pitchFamily="18" charset="-127"/>
              </a:rPr>
              <a:t>업무에 바로 쓰는 네트워크 기술</a:t>
            </a:r>
          </a:p>
        </p:txBody>
      </p:sp>
    </p:spTree>
    <p:extLst>
      <p:ext uri="{BB962C8B-B14F-4D97-AF65-F5344CB8AC3E}">
        <p14:creationId xmlns:p14="http://schemas.microsoft.com/office/powerpoint/2010/main" val="398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smtClean="0"/>
              <a:t>다시 한번 </a:t>
            </a:r>
            <a:r>
              <a:rPr lang="en-US" altLang="ko-KR" dirty="0" smtClean="0"/>
              <a:t>PDU</a:t>
            </a:r>
            <a:r>
              <a:rPr lang="ko-KR" altLang="en-US" smtClean="0"/>
              <a:t>를 살펴 보자면</a:t>
            </a:r>
            <a:r>
              <a:rPr lang="en-US" altLang="ko-KR" dirty="0" smtClean="0"/>
              <a:t>, </a:t>
            </a:r>
          </a:p>
          <a:p>
            <a:pPr marL="0" indent="0">
              <a:buNone/>
            </a:pPr>
            <a:r>
              <a:rPr lang="ko-KR" altLang="en-US" dirty="0" smtClean="0"/>
              <a:t>상위계층에 데이터가 하위계층으로 적재되는 것을 </a:t>
            </a:r>
            <a:r>
              <a:rPr lang="en-US" altLang="ko-KR" dirty="0" smtClean="0"/>
              <a:t>payload</a:t>
            </a:r>
            <a:r>
              <a:rPr lang="ko-KR" altLang="en-US" smtClean="0"/>
              <a:t>라 하며</a:t>
            </a:r>
            <a:r>
              <a:rPr lang="en-US" altLang="ko-KR" dirty="0" smtClean="0"/>
              <a:t>, </a:t>
            </a:r>
          </a:p>
          <a:p>
            <a:pPr marL="0" indent="0">
              <a:buNone/>
            </a:pPr>
            <a:r>
              <a:rPr lang="en-US" altLang="ko-KR" dirty="0" smtClean="0"/>
              <a:t>Payload</a:t>
            </a:r>
            <a:r>
              <a:rPr lang="ko-KR" altLang="en-US" smtClean="0"/>
              <a:t>가 되면서 통신에 필요한 제어 정보가 추가되는데</a:t>
            </a:r>
            <a:r>
              <a:rPr lang="en-US" altLang="ko-KR" dirty="0" smtClean="0"/>
              <a:t>, </a:t>
            </a:r>
            <a:r>
              <a:rPr lang="ko-KR" altLang="en-US" smtClean="0"/>
              <a:t>우리는 이것을 캡슐화 라 학습했습니다</a:t>
            </a:r>
            <a:r>
              <a:rPr lang="en-US" altLang="ko-KR" dirty="0" smtClean="0"/>
              <a:t>. </a:t>
            </a:r>
          </a:p>
          <a:p>
            <a:pPr marL="0" indent="0">
              <a:buNone/>
            </a:pPr>
            <a:r>
              <a:rPr lang="ko-KR" altLang="en-US" dirty="0" err="1" smtClean="0"/>
              <a:t>페이로드되면서</a:t>
            </a:r>
            <a:r>
              <a:rPr lang="en-US" altLang="ko-KR" dirty="0" smtClean="0"/>
              <a:t>, </a:t>
            </a:r>
            <a:r>
              <a:rPr lang="ko-KR" altLang="en-US" smtClean="0"/>
              <a:t>데이터 </a:t>
            </a:r>
            <a:r>
              <a:rPr lang="ko-KR" altLang="en-US" dirty="0" smtClean="0"/>
              <a:t>앞에 부착되는 제어정보를 </a:t>
            </a:r>
            <a:r>
              <a:rPr lang="ko-KR" altLang="en-US" dirty="0" err="1" smtClean="0"/>
              <a:t>헤더라하며</a:t>
            </a:r>
            <a:r>
              <a:rPr lang="en-US" altLang="ko-KR" dirty="0" smtClean="0"/>
              <a:t>, </a:t>
            </a:r>
            <a:r>
              <a:rPr lang="ko-KR" altLang="en-US" smtClean="0"/>
              <a:t>데이터 </a:t>
            </a:r>
            <a:r>
              <a:rPr lang="ko-KR" altLang="en-US" dirty="0" smtClean="0"/>
              <a:t>뒤에 부착되는 제어 정보를 트레일러라 합니다</a:t>
            </a:r>
            <a:r>
              <a:rPr lang="en-US" altLang="ko-KR" dirty="0" smtClean="0"/>
              <a:t>. </a:t>
            </a:r>
          </a:p>
          <a:p>
            <a:pPr marL="0" indent="0">
              <a:buNone/>
            </a:pPr>
            <a:r>
              <a:rPr lang="en-US" altLang="ko-KR" dirty="0" smtClean="0"/>
              <a:t>7/6/5</a:t>
            </a:r>
            <a:r>
              <a:rPr lang="ko-KR" altLang="en-US" smtClean="0"/>
              <a:t>계층 </a:t>
            </a:r>
            <a:r>
              <a:rPr lang="en-US" altLang="ko-KR" dirty="0" smtClean="0"/>
              <a:t>PDU</a:t>
            </a:r>
            <a:r>
              <a:rPr lang="ko-KR" altLang="en-US" smtClean="0"/>
              <a:t>인 메시지가 </a:t>
            </a:r>
            <a:r>
              <a:rPr lang="en-US" altLang="ko-KR" dirty="0" smtClean="0"/>
              <a:t>4</a:t>
            </a:r>
            <a:r>
              <a:rPr lang="ko-KR" altLang="en-US" smtClean="0"/>
              <a:t>계층으로 페이로드되면서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4</a:t>
            </a:r>
            <a:r>
              <a:rPr lang="ko-KR" altLang="en-US" smtClean="0"/>
              <a:t>계층 제어정보가</a:t>
            </a:r>
            <a:r>
              <a:rPr lang="ko-KR" altLang="en-US" baseline="0" smtClean="0"/>
              <a:t> 추가되는데</a:t>
            </a:r>
            <a:r>
              <a:rPr lang="en-US" altLang="ko-KR" baseline="0" dirty="0" smtClean="0"/>
              <a:t>, </a:t>
            </a:r>
            <a:r>
              <a:rPr lang="ko-KR" altLang="en-US" baseline="0" smtClean="0"/>
              <a:t>이떄 </a:t>
            </a:r>
            <a:r>
              <a:rPr lang="en-US" altLang="ko-KR" baseline="0" dirty="0" smtClean="0"/>
              <a:t>4</a:t>
            </a:r>
            <a:r>
              <a:rPr lang="ko-KR" altLang="en-US" baseline="0" smtClean="0"/>
              <a:t>계층 </a:t>
            </a:r>
            <a:r>
              <a:rPr lang="en-US" altLang="ko-KR" baseline="0" dirty="0" smtClean="0"/>
              <a:t>PDU</a:t>
            </a:r>
            <a:r>
              <a:rPr lang="ko-KR" altLang="en-US" baseline="0" smtClean="0"/>
              <a:t>를 세그먼트라 하며</a:t>
            </a:r>
            <a:r>
              <a:rPr lang="en-US" altLang="ko-KR" baseline="0" dirty="0" smtClean="0"/>
              <a:t>, </a:t>
            </a:r>
            <a:r>
              <a:rPr lang="ko-KR" altLang="en-US" baseline="0" smtClean="0"/>
              <a:t>세그먼트에는 </a:t>
            </a:r>
            <a:r>
              <a:rPr lang="ko-KR" altLang="en-US" baseline="0" dirty="0" smtClean="0"/>
              <a:t>다양한 제어정보가 부착이 되지만 주요 제어정보로 송수신 포트가 있습니다</a:t>
            </a:r>
            <a:r>
              <a:rPr lang="en-US" altLang="ko-KR" baseline="0" dirty="0" smtClean="0"/>
              <a:t>. </a:t>
            </a:r>
          </a:p>
          <a:p>
            <a:pPr marL="0" indent="0">
              <a:buNone/>
            </a:pPr>
            <a:endParaRPr lang="en-US" altLang="ko-KR" baseline="0" dirty="0" smtClean="0"/>
          </a:p>
          <a:p>
            <a:pPr marL="0" indent="0">
              <a:buNone/>
            </a:pPr>
            <a:r>
              <a:rPr lang="ko-KR" altLang="en-US" baseline="0" dirty="0" smtClean="0"/>
              <a:t>다음은</a:t>
            </a:r>
            <a:r>
              <a:rPr lang="en-US" altLang="ko-KR" baseline="0" dirty="0" smtClean="0"/>
              <a:t>, </a:t>
            </a:r>
          </a:p>
          <a:p>
            <a:pPr marL="0" indent="0">
              <a:buNone/>
            </a:pPr>
            <a:r>
              <a:rPr lang="en-US" altLang="ko-KR" dirty="0" smtClean="0"/>
              <a:t>4</a:t>
            </a:r>
            <a:r>
              <a:rPr lang="ko-KR" altLang="en-US" smtClean="0"/>
              <a:t>계층 </a:t>
            </a:r>
            <a:r>
              <a:rPr lang="en-US" altLang="ko-KR" dirty="0" smtClean="0"/>
              <a:t>PDU</a:t>
            </a:r>
            <a:r>
              <a:rPr lang="ko-KR" altLang="en-US" smtClean="0"/>
              <a:t>인 세그먼트가 </a:t>
            </a:r>
            <a:r>
              <a:rPr lang="en-US" altLang="ko-KR" dirty="0" smtClean="0"/>
              <a:t>3</a:t>
            </a:r>
            <a:r>
              <a:rPr lang="ko-KR" altLang="en-US" smtClean="0"/>
              <a:t>계층으로 페이로드되면서 </a:t>
            </a:r>
            <a:r>
              <a:rPr lang="en-US" altLang="ko-KR" dirty="0" smtClean="0"/>
              <a:t>3</a:t>
            </a:r>
            <a:r>
              <a:rPr lang="ko-KR" altLang="en-US" smtClean="0"/>
              <a:t>계층 제어정보가</a:t>
            </a:r>
            <a:r>
              <a:rPr lang="ko-KR" altLang="en-US" baseline="0" smtClean="0"/>
              <a:t> 추가되는데</a:t>
            </a:r>
            <a:endParaRPr lang="en-US" altLang="ko-KR" baseline="0" dirty="0" smtClean="0"/>
          </a:p>
          <a:p>
            <a:pPr marL="0" indent="0">
              <a:buNone/>
            </a:pPr>
            <a:r>
              <a:rPr lang="ko-KR" altLang="en-US" baseline="0" dirty="0" smtClean="0"/>
              <a:t>이와 같이 </a:t>
            </a:r>
            <a:r>
              <a:rPr lang="en-US" altLang="ko-KR" baseline="0" dirty="0" smtClean="0"/>
              <a:t>3</a:t>
            </a:r>
            <a:r>
              <a:rPr lang="ko-KR" altLang="en-US" baseline="0" smtClean="0"/>
              <a:t>계층 제어정보가 부착된 </a:t>
            </a:r>
            <a:r>
              <a:rPr lang="en-US" altLang="ko-KR" baseline="0" dirty="0" smtClean="0"/>
              <a:t>PDU</a:t>
            </a:r>
            <a:r>
              <a:rPr lang="ko-KR" altLang="en-US" baseline="0" smtClean="0"/>
              <a:t>를 패킷이라 하며</a:t>
            </a:r>
            <a:r>
              <a:rPr lang="en-US" altLang="ko-KR" baseline="0" dirty="0" smtClean="0"/>
              <a:t>, </a:t>
            </a:r>
          </a:p>
          <a:p>
            <a:pPr marL="0" indent="0">
              <a:buNone/>
            </a:pPr>
            <a:r>
              <a:rPr lang="ko-KR" altLang="en-US" baseline="0" dirty="0" err="1" smtClean="0"/>
              <a:t>패킷</a:t>
            </a:r>
            <a:r>
              <a:rPr lang="ko-KR" altLang="en-US" baseline="0" dirty="0" smtClean="0"/>
              <a:t> 역시 다양한 제어정보가 부착이 되지만 주요 제어정보로 송수신 </a:t>
            </a:r>
            <a:r>
              <a:rPr lang="en-US" altLang="ko-KR" baseline="0" dirty="0" smtClean="0"/>
              <a:t>IP</a:t>
            </a:r>
            <a:r>
              <a:rPr lang="ko-KR" altLang="en-US" baseline="0" smtClean="0"/>
              <a:t>입니다</a:t>
            </a:r>
            <a:r>
              <a:rPr lang="en-US" altLang="ko-KR" baseline="0" dirty="0" smtClean="0"/>
              <a:t>. </a:t>
            </a:r>
          </a:p>
          <a:p>
            <a:pPr marL="0" indent="0">
              <a:buNone/>
            </a:pPr>
            <a:endParaRPr lang="en-US" altLang="ko-KR" baseline="0" dirty="0" smtClean="0"/>
          </a:p>
          <a:p>
            <a:pPr marL="0" indent="0">
              <a:buNone/>
            </a:pPr>
            <a:r>
              <a:rPr lang="en-US" altLang="ko-KR" baseline="0" dirty="0" smtClean="0"/>
              <a:t>2</a:t>
            </a:r>
            <a:r>
              <a:rPr lang="ko-KR" altLang="en-US" baseline="0" smtClean="0"/>
              <a:t>계층의 </a:t>
            </a:r>
            <a:r>
              <a:rPr lang="en-US" altLang="ko-KR" baseline="0" dirty="0" smtClean="0"/>
              <a:t>PDU</a:t>
            </a:r>
            <a:r>
              <a:rPr lang="ko-KR" altLang="en-US" baseline="0" smtClean="0"/>
              <a:t>는 프레임으로 </a:t>
            </a:r>
            <a:endParaRPr lang="en-US" altLang="ko-KR" baseline="0" dirty="0" smtClean="0"/>
          </a:p>
          <a:p>
            <a:pPr marL="0" indent="0">
              <a:buNone/>
            </a:pPr>
            <a:r>
              <a:rPr lang="ko-KR" altLang="en-US" baseline="0" dirty="0" smtClean="0"/>
              <a:t>프레임은 데이터 앞에 제어정보가 부착되기도 하지만 데이터 뒷부분에 트레일러라는 제어정보가 부착된다는 특징이 있으며</a:t>
            </a:r>
            <a:r>
              <a:rPr lang="en-US" altLang="ko-KR" baseline="0" dirty="0" smtClean="0"/>
              <a:t>, </a:t>
            </a:r>
          </a:p>
          <a:p>
            <a:pPr marL="0" indent="0">
              <a:buNone/>
            </a:pPr>
            <a:r>
              <a:rPr lang="ko-KR" altLang="en-US" baseline="0" dirty="0" smtClean="0"/>
              <a:t>프레임의 주요 정보는 송수신지 </a:t>
            </a:r>
            <a:r>
              <a:rPr lang="en-US" altLang="ko-KR" baseline="0" dirty="0" smtClean="0"/>
              <a:t>MAC </a:t>
            </a:r>
            <a:r>
              <a:rPr lang="ko-KR" altLang="en-US" baseline="0" smtClean="0"/>
              <a:t>주소 입니다</a:t>
            </a:r>
            <a:r>
              <a:rPr lang="en-US" altLang="ko-KR" baseline="0" dirty="0" smtClean="0"/>
              <a:t>. </a:t>
            </a:r>
            <a:r>
              <a:rPr lang="ko-KR" altLang="en-US" baseline="0" smtClean="0"/>
              <a:t> </a:t>
            </a:r>
            <a:endParaRPr lang="en-US" altLang="ko-KR" baseline="0" dirty="0" smtClean="0"/>
          </a:p>
          <a:p>
            <a:pPr marL="0" indent="0">
              <a:buNone/>
            </a:pPr>
            <a:r>
              <a:rPr lang="en-US" altLang="ko-KR" baseline="0" dirty="0" smtClean="0"/>
              <a:t> </a:t>
            </a:r>
          </a:p>
          <a:p>
            <a:pPr marL="0" indent="0">
              <a:buNone/>
            </a:pPr>
            <a:r>
              <a:rPr lang="ko-KR" altLang="en-US" baseline="0" dirty="0" smtClean="0"/>
              <a:t>우리는 </a:t>
            </a:r>
            <a:r>
              <a:rPr lang="ko-KR" altLang="en-US" baseline="0" dirty="0" err="1" smtClean="0"/>
              <a:t>트래픽</a:t>
            </a:r>
            <a:r>
              <a:rPr lang="ko-KR" altLang="en-US" baseline="0" dirty="0" smtClean="0"/>
              <a:t> 흐름을 공부하면서 </a:t>
            </a:r>
            <a:endParaRPr lang="en-US" altLang="ko-KR" baseline="0" dirty="0" smtClean="0"/>
          </a:p>
          <a:p>
            <a:pPr marL="0" indent="0">
              <a:buNone/>
            </a:pPr>
            <a:r>
              <a:rPr lang="en-US" altLang="ko-KR" baseline="0" dirty="0" smtClean="0"/>
              <a:t>MAC </a:t>
            </a:r>
            <a:r>
              <a:rPr lang="ko-KR" altLang="en-US" baseline="0" smtClean="0"/>
              <a:t>주소를 </a:t>
            </a:r>
            <a:r>
              <a:rPr lang="en-US" altLang="ko-KR" baseline="0" dirty="0" smtClean="0"/>
              <a:t>2</a:t>
            </a:r>
            <a:r>
              <a:rPr lang="ko-KR" altLang="en-US" baseline="0" smtClean="0"/>
              <a:t>계층주소</a:t>
            </a:r>
            <a:r>
              <a:rPr lang="en-US" altLang="ko-KR" baseline="0" dirty="0" smtClean="0"/>
              <a:t>, IP</a:t>
            </a:r>
            <a:r>
              <a:rPr lang="ko-KR" altLang="en-US" baseline="0" smtClean="0"/>
              <a:t>주소를 </a:t>
            </a:r>
            <a:r>
              <a:rPr lang="en-US" altLang="ko-KR" baseline="0" dirty="0" smtClean="0"/>
              <a:t>3</a:t>
            </a:r>
            <a:r>
              <a:rPr lang="ko-KR" altLang="en-US" baseline="0" smtClean="0"/>
              <a:t>계층 주소</a:t>
            </a:r>
            <a:r>
              <a:rPr lang="en-US" altLang="ko-KR" baseline="0" dirty="0" smtClean="0"/>
              <a:t>, Port</a:t>
            </a:r>
            <a:r>
              <a:rPr lang="ko-KR" altLang="en-US" baseline="0" smtClean="0"/>
              <a:t>번호는 </a:t>
            </a:r>
            <a:r>
              <a:rPr lang="en-US" altLang="ko-KR" baseline="0" dirty="0" smtClean="0"/>
              <a:t>4</a:t>
            </a:r>
            <a:r>
              <a:rPr lang="ko-KR" altLang="en-US" baseline="0" smtClean="0"/>
              <a:t>계층이라 정리했었는데요</a:t>
            </a:r>
            <a:r>
              <a:rPr lang="en-US" altLang="ko-KR" baseline="0" dirty="0" smtClean="0"/>
              <a:t>, </a:t>
            </a:r>
          </a:p>
          <a:p>
            <a:pPr marL="0" indent="0">
              <a:buNone/>
            </a:pPr>
            <a:r>
              <a:rPr lang="ko-KR" altLang="en-US" baseline="0" dirty="0" smtClean="0"/>
              <a:t>각각의 주소를 계층주소로 정의했던 것은 </a:t>
            </a:r>
            <a:r>
              <a:rPr lang="en-US" altLang="ko-KR" baseline="0" dirty="0" smtClean="0"/>
              <a:t>PDU</a:t>
            </a:r>
            <a:r>
              <a:rPr lang="ko-KR" altLang="en-US" baseline="0" smtClean="0"/>
              <a:t>를 기반한 것입니다</a:t>
            </a:r>
            <a:r>
              <a:rPr lang="en-US" altLang="ko-KR" baseline="0" dirty="0" smtClean="0"/>
              <a:t>. </a:t>
            </a:r>
          </a:p>
          <a:p>
            <a:pPr marL="0" indent="0">
              <a:buNone/>
            </a:pPr>
            <a:endParaRPr lang="en-US" altLang="ko-KR" baseline="0" dirty="0" smtClean="0"/>
          </a:p>
          <a:p>
            <a:pPr marL="0" indent="0">
              <a:buNone/>
            </a:pPr>
            <a:endParaRPr lang="en-US" altLang="ko-KR" baseline="0" dirty="0" smtClean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464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1196975"/>
            <a:ext cx="4829175" cy="3621088"/>
          </a:xfrm>
          <a:ln/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44487" y="5138251"/>
            <a:ext cx="6159500" cy="460533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TCP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헤더는 기본이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20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바이트이며 옵션을 포함한 경우 최대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60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바이트로 구성될 수 있음</a:t>
            </a:r>
          </a:p>
          <a:p>
            <a:pPr marL="0" indent="0">
              <a:buNone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∙Source port address (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발신지 포트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– 16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 응용 프로세스가 사용하는 번호</a:t>
            </a:r>
          </a:p>
          <a:p>
            <a:pPr marL="0" indent="0">
              <a:buNone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Destination port address (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목적지 포트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– 16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 응용 프로세스가 사용하는 번호</a:t>
            </a:r>
          </a:p>
          <a:p>
            <a:pPr marL="0" indent="0">
              <a:buNone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Sequence number (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순차번호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– 32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</a:t>
            </a:r>
          </a:p>
          <a:p>
            <a:pPr marL="0" lvl="1" indent="0">
              <a:buNone/>
              <a:defRPr/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신뢰성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있는 데이터 전송을 위해 모든 바이트마다 일련 번호 설정</a:t>
            </a:r>
          </a:p>
          <a:p>
            <a:pPr marL="0" lvl="1" indent="0">
              <a:buNone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교환하고자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하는 초기순차번호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(Initial Sequence Number)</a:t>
            </a:r>
          </a:p>
          <a:p>
            <a:pPr marL="0" indent="0">
              <a:buNone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Acknowledgement Number (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응답확인번호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– 32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</a:t>
            </a:r>
          </a:p>
          <a:p>
            <a:pPr marL="0" lvl="1" indent="0">
              <a:buNone/>
              <a:defRPr/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세그먼트의 확인 응답을 위한 필드</a:t>
            </a:r>
          </a:p>
          <a:p>
            <a:pPr marL="0" lvl="1" indent="0">
              <a:buNone/>
              <a:defRPr/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세그먼트에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실린 데이터의 마지막 바이트의 순차 번호에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더한 값</a:t>
            </a:r>
          </a:p>
          <a:p>
            <a:pPr marL="0" indent="0">
              <a:buNone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Header Length (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 길이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– 4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TCP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 길이를 나타내는 값</a:t>
            </a:r>
          </a:p>
          <a:p>
            <a:pPr marL="0" lvl="1" indent="0">
              <a:buNone/>
              <a:defRPr/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헤더의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길이가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20 ~ 60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바이트이므로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5 ~ 12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사이의 값을 가짐</a:t>
            </a:r>
          </a:p>
          <a:p>
            <a:pPr marL="0" indent="0">
              <a:buNone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Reserved (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예약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– 6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차후를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대비해 남겨둔 필드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Control (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제어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– 6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각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필드 흐름제어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종료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데이터 전송 모드용으로 사용</a:t>
            </a:r>
          </a:p>
          <a:p>
            <a:pPr marL="0" indent="0">
              <a:buNone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Window size (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윈도우 크기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– 16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</a:t>
            </a:r>
          </a:p>
          <a:p>
            <a:pPr marL="0" lvl="1" indent="0">
              <a:buNone/>
              <a:defRPr/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응답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확인을 받기 전에 보낼 수 있는 데이터의 양을 설정하는 필드</a:t>
            </a:r>
          </a:p>
          <a:p>
            <a:pPr marL="0" lvl="1" indent="0">
              <a:buNone/>
              <a:defRPr/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윈도우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크기가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16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비트이므로 최대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65535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바이트의 값을 가질 수 있음</a:t>
            </a:r>
          </a:p>
          <a:p>
            <a:pPr marL="0" indent="0">
              <a:buNone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Checksum (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검사합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– 16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각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TCP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세그먼트의 변형 여부 확인</a:t>
            </a:r>
          </a:p>
          <a:p>
            <a:pPr marL="0" indent="0">
              <a:buNone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Urgent Pointer (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긴급 포인터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– 16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</a:t>
            </a:r>
          </a:p>
          <a:p>
            <a:pPr marL="0" lvl="1" indent="0">
              <a:buNone/>
              <a:tabLst>
                <a:tab pos="187488" algn="l"/>
              </a:tabLst>
              <a:defRPr/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세그먼트가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긴급 데이터를 포함하고 있을 경우 사용되는 필드</a:t>
            </a:r>
          </a:p>
          <a:p>
            <a:pPr marL="0" lvl="1" indent="0">
              <a:buNone/>
              <a:tabLst>
                <a:tab pos="187488" algn="l"/>
              </a:tabLst>
              <a:defRPr/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제어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플래그가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설정 시 이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16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 필드 값과 순차 번호를 더하면 긴급 데이터 바이트 번호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위치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알 수 있음</a:t>
            </a:r>
          </a:p>
          <a:p>
            <a:pPr marL="375234" lvl="1" indent="0">
              <a:buNone/>
              <a:defRPr/>
            </a:pP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75234" lvl="1" indent="0">
              <a:buNone/>
              <a:defRPr/>
            </a:pP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75234" lvl="1" indent="0">
              <a:buNone/>
              <a:defRPr/>
            </a:pP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  <a:defRPr/>
            </a:pP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B80C2B-2AC0-4F51-95F2-1B39C0D83A65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9132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B80C2B-2AC0-4F51-95F2-1B39C0D83A65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0241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09625" y="492125"/>
            <a:ext cx="5464175" cy="4097338"/>
          </a:xfrm>
          <a:ln/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774786" y="5057565"/>
            <a:ext cx="5534654" cy="4813689"/>
          </a:xfrm>
        </p:spPr>
        <p:txBody>
          <a:bodyPr/>
          <a:lstStyle/>
          <a:p>
            <a:pPr marL="0" marR="0" lvl="2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Tx/>
              <a:buFont typeface="Wingdings"/>
              <a:buNone/>
              <a:tabLst/>
              <a:defRPr/>
            </a:pPr>
            <a:r>
              <a:rPr lang="en-US" altLang="ko-KR" dirty="0">
                <a:ea typeface="굴림" pitchFamily="50" charset="-127"/>
              </a:rPr>
              <a:t>[</a:t>
            </a:r>
            <a:r>
              <a:rPr lang="en-US" altLang="ko-KR" sz="1000" b="1" dirty="0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3-way handshake</a:t>
            </a:r>
            <a:r>
              <a:rPr lang="en-US" altLang="ko-KR" dirty="0">
                <a:ea typeface="굴림" pitchFamily="50" charset="-127"/>
              </a:rPr>
              <a:t>]</a:t>
            </a:r>
          </a:p>
          <a:p>
            <a:pPr marL="0" marR="0" lvl="2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Tx/>
              <a:buFont typeface="Wingdings"/>
              <a:buNone/>
              <a:tabLst/>
              <a:defRPr/>
            </a:pPr>
            <a:r>
              <a:rPr lang="en-US" altLang="ko-KR" dirty="0"/>
              <a:t>TCP </a:t>
            </a:r>
            <a:r>
              <a:rPr lang="ko-KR" altLang="en-US"/>
              <a:t>클라이언트와 서버간에 신뢰성 있는 데이터를 전송하기 위해 실 데이터를 전송하기 전 통신을 개시할 것을 상호 확인하는 과정</a:t>
            </a:r>
          </a:p>
          <a:p>
            <a:pPr marL="0" lvl="2" indent="0">
              <a:lnSpc>
                <a:spcPct val="150000"/>
              </a:lnSpc>
              <a:buClr>
                <a:schemeClr val="accent3">
                  <a:lumMod val="50000"/>
                </a:schemeClr>
              </a:buClr>
              <a:buFont typeface="Wingdings"/>
              <a:buNone/>
              <a:defRPr/>
            </a:pPr>
            <a:endParaRPr lang="en-US" altLang="ko-KR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buFont typeface="Wingdings"/>
              <a:buChar char=""/>
              <a:defRPr/>
            </a:pP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단계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두 시스템이 통신을 하기 전에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클라이언트는 포트가 닫힌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Closed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상태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서버는 해당 포트로 항상 </a:t>
            </a:r>
            <a:endParaRPr lang="en-US" altLang="ko-KR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defRPr/>
            </a:pP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  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서비스를 제공할 수 있는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Listen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상태</a:t>
            </a:r>
            <a:endParaRPr lang="en-US" altLang="ko-KR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buFont typeface="Wingdings" pitchFamily="2" charset="2"/>
              <a:buChar char=""/>
              <a:defRPr/>
            </a:pP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단계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처음 클라이언트가 통신을 하고자 하면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임의의 포트 번호가 클라이언트 프로그램에 할당되고 </a:t>
            </a:r>
            <a:endParaRPr lang="en-US" altLang="ko-KR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defRPr/>
            </a:pP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 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클라이언트는 서버에 연결하고 싶다는 의사 표시로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SYN Sent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상태가 됨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buFont typeface="Wingdings" pitchFamily="2" charset="2"/>
              <a:buChar char=""/>
              <a:defRPr/>
            </a:pP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단계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클라이언트의 연결 요청을 받은 서버는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SYN Received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상태가 되고 클라이언트에게 연결을 해도</a:t>
            </a:r>
            <a:endParaRPr lang="en-US" altLang="ko-KR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defRPr/>
            </a:pP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 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좋다는 </a:t>
            </a:r>
            <a:r>
              <a:rPr lang="ko-KR" altLang="en-US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의미로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SYN+ACK </a:t>
            </a:r>
            <a:r>
              <a:rPr lang="ko-KR" altLang="en-US" dirty="0" err="1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패킷을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보냄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.</a:t>
            </a: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buFont typeface="Wingdings" pitchFamily="2" charset="2"/>
              <a:buChar char=""/>
              <a:defRPr/>
            </a:pP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단계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마지막으로 클라이언트는 연결을 요청한 것에 대한 서버의 응답을 확인했다는 표시로 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ACK </a:t>
            </a:r>
            <a:r>
              <a:rPr lang="ko-KR" altLang="en-US" dirty="0" err="1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패킷을</a:t>
            </a:r>
            <a:endParaRPr lang="en-US" altLang="ko-KR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  <a:p>
            <a:pPr marL="0" lvl="2">
              <a:lnSpc>
                <a:spcPct val="150000"/>
              </a:lnSpc>
              <a:buClr>
                <a:schemeClr val="accent3">
                  <a:lumMod val="50000"/>
                </a:schemeClr>
              </a:buClr>
              <a:defRPr/>
            </a:pP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 </a:t>
            </a:r>
            <a:r>
              <a:rPr lang="ko-KR" altLang="en-US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 서버에 보냄</a:t>
            </a:r>
            <a:r>
              <a:rPr lang="en-US" altLang="ko-KR" dirty="0"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rPr>
              <a:t>.</a:t>
            </a:r>
          </a:p>
          <a:p>
            <a:pPr>
              <a:defRPr/>
            </a:pP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B80C2B-2AC0-4F51-95F2-1B39C0D83A65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0012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endParaRPr lang="en-US" altLang="ko-KR" sz="900" b="0" dirty="0" smtClean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Client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서버에게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보내고 자신은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FIN_WAIT_1 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endParaRPr lang="en-US" altLang="ko-KR" sz="900" b="0" dirty="0" smtClean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ko-KR" altLang="en-US" sz="900" b="0" dirty="0" smtClean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받은 서버는 해당 포트를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CLOSE_WAIT</a:t>
            </a:r>
            <a:r>
              <a:rPr lang="ko-KR" altLang="en-US" sz="900" b="0" baseline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상태로 전환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900" b="0" dirty="0" smtClean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 smtClean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서버는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 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전하고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상태를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 변환</a:t>
            </a:r>
            <a:endParaRPr lang="en-US" altLang="ko-KR" sz="900" b="0" dirty="0" smtClean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 smtClean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해당 포트에 연결되어 있는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요청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/>
            </a:r>
            <a:br>
              <a:rPr lang="ko-KR" altLang="en-US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r>
              <a:rPr lang="en-US" altLang="ko-KR" sz="9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 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요청을 받은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종료 프로세스를 진행</a:t>
            </a:r>
            <a:endParaRPr lang="en-US" altLang="ko-KR" sz="900" b="0" dirty="0" smtClean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 smtClean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 )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되면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전송 후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LAST_ACK 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상태로 전환</a:t>
            </a:r>
            <a:endParaRPr lang="en-US" altLang="ko-KR" sz="900" b="0" dirty="0" smtClean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 smtClean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❼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 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받으면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전송하고 클라이언트는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TIME_WAIT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 TIME_WAIT 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일정 시간이 지나면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 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됨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900" b="0" dirty="0" smtClean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❽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서버는 자신의 포트도 </a:t>
            </a:r>
            <a:r>
              <a:rPr lang="en-US" altLang="ko-KR" sz="900" b="0" dirty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</a:t>
            </a:r>
            <a:r>
              <a:rPr lang="ko-KR" altLang="en-US" sz="900" b="0" smtClean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닫음</a:t>
            </a:r>
          </a:p>
          <a:p>
            <a:pPr>
              <a:lnSpc>
                <a:spcPct val="100000"/>
              </a:lnSpc>
            </a:pPr>
            <a:endParaRPr lang="en-US" altLang="ko-KR" dirty="0" smtClean="0"/>
          </a:p>
          <a:p>
            <a:pPr>
              <a:lnSpc>
                <a:spcPct val="10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33544-EC4B-4667-AC68-93421DE3D942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260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서버에게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보내고 자신은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FIN_WAIT_1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받은 서버는 해당 포트를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CLOSE_WAIT</a:t>
            </a:r>
            <a:r>
              <a:rPr lang="ko-KR" altLang="en-US" sz="900" b="0" baseline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상태로 전환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전하고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상태를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 변환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해당 포트에 연결되어 있는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요청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/>
            </a:r>
            <a:br>
              <a:rPr lang="ko-KR" altLang="en-US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요청을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종료 프로세스를 진행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 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전송 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LAST_ACK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받으면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전송하고 클라이언트는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TIME_WAIT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 TIME_WAIT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일정 시간이 지나면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됨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❽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서버는 자신의 포트도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닫음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33544-EC4B-4667-AC68-93421DE3D942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909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862232" y="5057565"/>
            <a:ext cx="5588263" cy="455753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서버에게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보내고 자신은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FIN_WAIT_1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받은 서버는 해당 포트를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CLOSE_WAIT</a:t>
            </a:r>
            <a:r>
              <a:rPr lang="ko-KR" altLang="en-US" sz="900" b="0" baseline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상태로 전환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전하고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상태를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 변환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해당 포트에 연결되어 있는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요청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/>
            </a:r>
            <a:br>
              <a:rPr lang="ko-KR" altLang="en-US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요청을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종료 프로세스를 진행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 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전송 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LAST_ACK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받으면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전송하고 클라이언트는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TIME_WAIT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 TIME_WAIT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일정 시간이 지나면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됨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❽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서버는 자신의 포트도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닫음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AB241-1457-4EF4-B2AC-23106A1D9A59}" type="slidenum">
              <a:rPr lang="ko-KR" altLang="en-US" smtClean="0"/>
              <a:pPr/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7576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5538" y="1160463"/>
            <a:ext cx="4683125" cy="3513137"/>
          </a:xfrm>
          <a:ln/>
        </p:spPr>
      </p:sp>
      <p:sp>
        <p:nvSpPr>
          <p:cNvPr id="351235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ko-KR" dirty="0">
                <a:latin typeface="굴림" charset="-127"/>
                <a:ea typeface="굴림" charset="-127"/>
              </a:rPr>
              <a:t>UDP</a:t>
            </a:r>
            <a:r>
              <a:rPr lang="ko-KR" altLang="en-US">
                <a:latin typeface="굴림" charset="-127"/>
                <a:ea typeface="굴림" charset="-127"/>
              </a:rPr>
              <a:t>는 </a:t>
            </a:r>
            <a:r>
              <a:rPr lang="en-US" altLang="ko-KR" dirty="0">
                <a:latin typeface="굴림" charset="-127"/>
                <a:ea typeface="굴림" charset="-127"/>
              </a:rPr>
              <a:t>Connectionless(</a:t>
            </a:r>
            <a:r>
              <a:rPr lang="ko-KR" altLang="en-US">
                <a:latin typeface="굴림" charset="-127"/>
                <a:ea typeface="굴림" charset="-127"/>
              </a:rPr>
              <a:t>비연결성</a:t>
            </a:r>
            <a:r>
              <a:rPr lang="en-US" altLang="ko-KR" dirty="0">
                <a:latin typeface="굴림" charset="-127"/>
                <a:ea typeface="굴림" charset="-127"/>
              </a:rPr>
              <a:t>) </a:t>
            </a:r>
            <a:r>
              <a:rPr lang="ko-KR" altLang="en-US">
                <a:latin typeface="굴림" charset="-127"/>
                <a:ea typeface="굴림" charset="-127"/>
              </a:rPr>
              <a:t>서비스로 데이터 전달의 보장이 안 되는 </a:t>
            </a:r>
            <a:r>
              <a:rPr lang="en-US" altLang="ko-KR" dirty="0">
                <a:latin typeface="굴림" charset="-127"/>
                <a:ea typeface="굴림" charset="-127"/>
              </a:rPr>
              <a:t>Unreliable (</a:t>
            </a:r>
            <a:r>
              <a:rPr lang="ko-KR" altLang="en-US">
                <a:latin typeface="굴림" charset="-127"/>
                <a:ea typeface="굴림" charset="-127"/>
              </a:rPr>
              <a:t>비신뢰성</a:t>
            </a:r>
            <a:r>
              <a:rPr lang="en-US" altLang="ko-KR" dirty="0">
                <a:latin typeface="굴림" charset="-127"/>
                <a:ea typeface="굴림" charset="-127"/>
              </a:rPr>
              <a:t>) </a:t>
            </a:r>
            <a:r>
              <a:rPr lang="ko-KR" altLang="en-US">
                <a:latin typeface="굴림" charset="-127"/>
                <a:ea typeface="굴림" charset="-127"/>
              </a:rPr>
              <a:t>프로토콜이지만</a:t>
            </a:r>
            <a:r>
              <a:rPr lang="en-US" altLang="ko-KR" dirty="0">
                <a:latin typeface="굴림" charset="-127"/>
                <a:ea typeface="굴림" charset="-127"/>
              </a:rPr>
              <a:t>, </a:t>
            </a:r>
          </a:p>
          <a:p>
            <a:pPr marL="0" indent="0" eaLnBrk="1" hangingPunct="1">
              <a:buFontTx/>
              <a:buNone/>
            </a:pPr>
            <a:r>
              <a:rPr lang="ko-KR" altLang="en-US" dirty="0">
                <a:latin typeface="굴림" charset="-127"/>
                <a:ea typeface="굴림" charset="-127"/>
              </a:rPr>
              <a:t>어플리케이션 프로토콜에 오버헤드가 적고 간단하게 구현되는 전송 서비스를 제공합니다</a:t>
            </a:r>
            <a:r>
              <a:rPr lang="en-US" altLang="ko-KR" dirty="0">
                <a:latin typeface="굴림" charset="-127"/>
                <a:ea typeface="굴림" charset="-127"/>
              </a:rPr>
              <a:t>. </a:t>
            </a:r>
          </a:p>
          <a:p>
            <a:pPr marL="0" indent="0" eaLnBrk="1" hangingPunct="1">
              <a:buFontTx/>
              <a:buNone/>
            </a:pPr>
            <a:r>
              <a:rPr lang="en-US" altLang="ko-KR" dirty="0">
                <a:latin typeface="굴림" charset="-127"/>
                <a:ea typeface="굴림" charset="-127"/>
              </a:rPr>
              <a:t> UDP</a:t>
            </a:r>
            <a:r>
              <a:rPr lang="ko-KR" altLang="en-US">
                <a:latin typeface="굴림" charset="-127"/>
                <a:ea typeface="굴림" charset="-127"/>
              </a:rPr>
              <a:t>는 일반적으로 브로드캐스트</a:t>
            </a:r>
            <a:r>
              <a:rPr lang="en-US" altLang="ko-KR" dirty="0">
                <a:latin typeface="굴림" charset="-127"/>
                <a:ea typeface="굴림" charset="-127"/>
              </a:rPr>
              <a:t>, </a:t>
            </a:r>
            <a:r>
              <a:rPr lang="ko-KR" altLang="en-US">
                <a:latin typeface="굴림" charset="-127"/>
                <a:ea typeface="굴림" charset="-127"/>
              </a:rPr>
              <a:t>멀티캐스트를 집중적으로 이용하는 </a:t>
            </a:r>
            <a:endParaRPr lang="en-US" altLang="ko-KR" dirty="0">
              <a:latin typeface="굴림" charset="-127"/>
              <a:ea typeface="굴림" charset="-127"/>
            </a:endParaRPr>
          </a:p>
          <a:p>
            <a:pPr marL="0" indent="0" eaLnBrk="1" hangingPunct="1">
              <a:buFontTx/>
              <a:buNone/>
            </a:pPr>
            <a:r>
              <a:rPr lang="ko-KR" altLang="en-US" dirty="0">
                <a:latin typeface="굴림" charset="-127"/>
                <a:ea typeface="굴림" charset="-127"/>
              </a:rPr>
              <a:t>어플리케이션 또는 탐색과 질의에 빠른 응답을 요구하는 어플리케이션에 사용되며</a:t>
            </a:r>
            <a:r>
              <a:rPr lang="en-US" altLang="ko-KR" dirty="0">
                <a:latin typeface="굴림" charset="-127"/>
                <a:ea typeface="굴림" charset="-127"/>
              </a:rPr>
              <a:t>, </a:t>
            </a:r>
          </a:p>
          <a:p>
            <a:pPr marL="0" indent="0" eaLnBrk="1" hangingPunct="1">
              <a:buFontTx/>
              <a:buNone/>
            </a:pPr>
            <a:r>
              <a:rPr lang="en-US" altLang="ko-KR" dirty="0">
                <a:latin typeface="굴림" charset="-127"/>
                <a:ea typeface="굴림" charset="-127"/>
              </a:rPr>
              <a:t>UDP</a:t>
            </a:r>
            <a:r>
              <a:rPr lang="ko-KR" altLang="en-US">
                <a:latin typeface="굴림" charset="-127"/>
                <a:ea typeface="굴림" charset="-127"/>
              </a:rPr>
              <a:t>의 전송 단위를 </a:t>
            </a:r>
            <a:r>
              <a:rPr lang="en-US" altLang="ko-KR" dirty="0">
                <a:latin typeface="굴림" charset="-127"/>
                <a:ea typeface="굴림" charset="-127"/>
              </a:rPr>
              <a:t>Datagram</a:t>
            </a:r>
            <a:r>
              <a:rPr lang="ko-KR" altLang="en-US">
                <a:latin typeface="굴림" charset="-127"/>
                <a:ea typeface="굴림" charset="-127"/>
              </a:rPr>
              <a:t>이라 하며</a:t>
            </a:r>
            <a:r>
              <a:rPr lang="en-US" altLang="ko-KR" dirty="0">
                <a:latin typeface="굴림" charset="-127"/>
                <a:ea typeface="굴림" charset="-127"/>
              </a:rPr>
              <a:t>, </a:t>
            </a:r>
            <a:r>
              <a:rPr lang="ko-KR" altLang="en-US">
                <a:latin typeface="굴림" charset="-127"/>
                <a:ea typeface="굴림" charset="-127"/>
              </a:rPr>
              <a:t>데이터 크기가 간단하여 전송단위 </a:t>
            </a:r>
            <a:r>
              <a:rPr lang="en-US" altLang="ko-KR" dirty="0">
                <a:latin typeface="굴림" charset="-127"/>
                <a:ea typeface="굴림" charset="-127"/>
              </a:rPr>
              <a:t>(datagram) </a:t>
            </a:r>
            <a:r>
              <a:rPr lang="ko-KR" altLang="en-US">
                <a:latin typeface="굴림" charset="-127"/>
                <a:ea typeface="굴림" charset="-127"/>
              </a:rPr>
              <a:t>별로 전송한다는 의미입니다</a:t>
            </a:r>
            <a:r>
              <a:rPr lang="en-US" altLang="ko-KR" dirty="0">
                <a:latin typeface="굴림" charset="-127"/>
                <a:ea typeface="굴림" charset="-127"/>
              </a:rPr>
              <a:t>. </a:t>
            </a:r>
          </a:p>
        </p:txBody>
      </p:sp>
      <p:pic>
        <p:nvPicPr>
          <p:cNvPr id="351236" name="Picture 6" descr="책제목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75" y="668338"/>
            <a:ext cx="53070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1237" name="Text Box 7"/>
          <p:cNvSpPr txBox="1">
            <a:spLocks noChangeArrowheads="1"/>
          </p:cNvSpPr>
          <p:nvPr/>
        </p:nvSpPr>
        <p:spPr bwMode="auto">
          <a:xfrm>
            <a:off x="1412875" y="828675"/>
            <a:ext cx="4068763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>
            <a:spAutoFit/>
          </a:bodyPr>
          <a:lstStyle>
            <a:lvl1pPr defTabSz="9271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271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271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271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271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defTabSz="9271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defTabSz="9271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defTabSz="9271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defTabSz="9271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ko-KR" altLang="en-US" sz="900" b="0">
                <a:latin typeface="HY울릉도L" pitchFamily="18" charset="-127"/>
                <a:ea typeface="HY울릉도L" pitchFamily="18" charset="-127"/>
              </a:rPr>
              <a:t>업무에 바로 쓰는 네트워크 기술</a:t>
            </a:r>
          </a:p>
        </p:txBody>
      </p:sp>
    </p:spTree>
    <p:extLst>
      <p:ext uri="{BB962C8B-B14F-4D97-AF65-F5344CB8AC3E}">
        <p14:creationId xmlns:p14="http://schemas.microsoft.com/office/powerpoint/2010/main" val="579850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Sender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바이트를 전송하면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100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바이트를 하나의 메시지로 인식하고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Receiver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한 번의 읽기 동작으로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바이트를 수신할 수 있도록 해줌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UDP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헤더의 메시지 길이 필드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사용자가 전송 요청한 메시지 길이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: 2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이로 인해 한 번에 전송할 수 있는 메시지 크기가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바이트로 표현할 수 있는 크기로 제한이 생김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UDP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신뢰성있는 채널이 아니라 손실되거나 변형될 가능성은 있음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실무에서는 응용계층에서 메시지 유효성 검사를 수행하거나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(CRC,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CheckSum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 순서 번호를 직접 메겨서 순서를 확인하는 경우가 있음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81944-C09D-40AD-A756-3B56302354E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832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23888" y="652463"/>
            <a:ext cx="5915025" cy="44354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462410" y="5087938"/>
            <a:ext cx="6237060" cy="438308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∙Version</a:t>
            </a:r>
          </a:p>
          <a:p>
            <a:pPr marL="88900" lvl="1" indent="0">
              <a:buNone/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첫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4bit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현재 사용하는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버전 정보로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값을 가짐</a:t>
            </a:r>
          </a:p>
          <a:p>
            <a:pPr marL="0" indent="0">
              <a:buNone/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Header Length(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 길이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88900" lvl="1" indent="0">
              <a:buNone/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- 4bit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필드이며 헤더의 전체길이를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바이트 단위로 표현</a:t>
            </a:r>
          </a:p>
          <a:p>
            <a:pPr marL="88900" lvl="1" indent="0">
              <a:buNone/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IP Datagram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경우 헤더의 길이가 옵션 필드에 따라 달라질 수 있으므로 길이를 명시하는  항목이 존재</a:t>
            </a:r>
          </a:p>
          <a:p>
            <a:pPr marL="88900" lvl="1" indent="0">
              <a:buNone/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옵션이 없으면 헤더의 길이는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20byte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이므로 이 필드의 값은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5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됨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(5 * 4 = 20Byte)</a:t>
            </a:r>
          </a:p>
          <a:p>
            <a:pPr marL="88900" lvl="1" indent="0">
              <a:buNone/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옵션 필드가 최대 길이라면 이 필드의 값은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15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됨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(15 * 4 = 60Byte)</a:t>
            </a:r>
          </a:p>
          <a:p>
            <a:pPr marL="0" indent="0">
              <a:buNone/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전체 길이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(Total Length)</a:t>
            </a:r>
          </a:p>
          <a:p>
            <a:pPr marL="3095" lvl="1" indent="0">
              <a:buNone/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데이터그램의 전체 길이</a:t>
            </a:r>
          </a:p>
          <a:p>
            <a:pPr marL="88820" lvl="1" indent="0">
              <a:buNone/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8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비트이므로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2^16(65535)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크기로 제한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이더넷의 경우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MTU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값이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1500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바이트이므로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1500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으로 제한됨</a:t>
            </a:r>
            <a:endParaRPr lang="ko-KR" altLang="en-US" sz="1000" b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095" lvl="1" indent="0">
              <a:buNone/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IP Header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길이는 가변적이므로 유효한 데이터 영역 부분에 대한 추출을 위해 필요</a:t>
            </a:r>
          </a:p>
          <a:p>
            <a:pPr marL="88820" lvl="1" indent="0">
              <a:buNone/>
              <a:defRPr/>
            </a:pPr>
            <a:r>
              <a:rPr lang="ko-KR" altLang="en-US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ko-KR" altLang="en-US" sz="1000" b="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이더넷의</a:t>
            </a:r>
            <a:r>
              <a:rPr lang="ko-KR" altLang="en-US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경우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헤더를 포함한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패킷의 총 길이가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46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바이트보다 짧은 경우 이더넷은 패딩 </a:t>
            </a:r>
            <a:endParaRPr lang="en-US" altLang="ko-KR" sz="10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88820" lvl="1" indent="0">
              <a:buNone/>
              <a:defRPr/>
            </a:pPr>
            <a:r>
              <a:rPr lang="en-US" altLang="ko-KR" sz="1000" dirty="0"/>
              <a:t> 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영역을 강제로 삽입</a:t>
            </a:r>
            <a:endParaRPr lang="en-US" altLang="ko-KR" sz="10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indent="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Source Address   - </a:t>
            </a:r>
            <a:r>
              <a:rPr lang="ko-KR" altLang="en-US"/>
              <a:t>송신 시스템의 </a:t>
            </a:r>
            <a:r>
              <a:rPr lang="en-US" altLang="ko-KR" dirty="0"/>
              <a:t>IP  </a:t>
            </a:r>
            <a:r>
              <a:rPr lang="ko-KR" altLang="en-US"/>
              <a:t>주소</a:t>
            </a:r>
          </a:p>
          <a:p>
            <a:pPr indent="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Destination Address - </a:t>
            </a:r>
            <a:r>
              <a:rPr lang="ko-KR" altLang="en-US"/>
              <a:t>수신 시스템의 </a:t>
            </a:r>
            <a:r>
              <a:rPr lang="en-US" altLang="ko-KR" dirty="0"/>
              <a:t>IP </a:t>
            </a:r>
            <a:r>
              <a:rPr lang="ko-KR" altLang="en-US"/>
              <a:t>주소</a:t>
            </a:r>
          </a:p>
          <a:p>
            <a:pPr indent="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Option</a:t>
            </a:r>
          </a:p>
          <a:p>
            <a:pPr marL="176213" lvl="1">
              <a:lnSpc>
                <a:spcPct val="150000"/>
              </a:lnSpc>
            </a:pPr>
            <a:r>
              <a:rPr lang="en-US" altLang="ko-KR" dirty="0"/>
              <a:t>IP </a:t>
            </a:r>
            <a:r>
              <a:rPr lang="ko-KR" altLang="en-US"/>
              <a:t>옵션 항목은 </a:t>
            </a:r>
            <a:r>
              <a:rPr lang="en-US" altLang="ko-KR" dirty="0"/>
              <a:t>20byte</a:t>
            </a:r>
            <a:r>
              <a:rPr lang="ko-KR" altLang="en-US"/>
              <a:t>의 표준 헤더에 데이터그램의 보안을 위한 기능이라던가</a:t>
            </a:r>
            <a:r>
              <a:rPr lang="en-US" altLang="ko-KR" dirty="0"/>
              <a:t>, Record Route, Timestamp </a:t>
            </a:r>
            <a:r>
              <a:rPr lang="ko-KR" altLang="en-US"/>
              <a:t>등의 정보를 담기 위해 추가되는 항목</a:t>
            </a:r>
          </a:p>
          <a:p>
            <a:pPr marL="176213" lvl="1">
              <a:lnSpc>
                <a:spcPct val="150000"/>
              </a:lnSpc>
            </a:pPr>
            <a:r>
              <a:rPr lang="ko-KR" altLang="en-US" dirty="0"/>
              <a:t>네트워크 상태 </a:t>
            </a:r>
            <a:r>
              <a:rPr lang="en-US" altLang="ko-KR" dirty="0"/>
              <a:t>Test, </a:t>
            </a:r>
            <a:r>
              <a:rPr lang="ko-KR" altLang="en-US"/>
              <a:t>디버깅 용도로도 사용</a:t>
            </a:r>
            <a:r>
              <a:rPr lang="en-US" altLang="ko-KR" dirty="0"/>
              <a:t>, </a:t>
            </a:r>
            <a:r>
              <a:rPr lang="ko-KR" altLang="en-US"/>
              <a:t>일반적으로 많이 사용하지 않음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33544-EC4B-4667-AC68-93421DE3D942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775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23888" y="652463"/>
            <a:ext cx="5915025" cy="44354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33544-EC4B-4667-AC68-93421DE3D942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6431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23888" y="652463"/>
            <a:ext cx="5915025" cy="44354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33544-EC4B-4667-AC68-93421DE3D942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766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서버에게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보내고 자신은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FIN_WAIT_1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받은 서버는 해당 포트를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CLOSE_WAIT</a:t>
            </a:r>
            <a:r>
              <a:rPr lang="ko-KR" altLang="en-US" sz="900" b="0" baseline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상태로 전환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전하고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상태를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 변환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해당 포트에 연결되어 있는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요청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/>
            </a:r>
            <a:br>
              <a:rPr lang="ko-KR" altLang="en-US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요청을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종료 프로세스를 진행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 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전송 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LAST_ACK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받으면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전송하고 클라이언트는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TIME_WAIT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 TIME_WAIT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일정 시간이 지나면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됨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❽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서버는 자신의 포트도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닫음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33544-EC4B-4667-AC68-93421DE3D942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3749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87C0B-98AC-48F0-AC15-515DB05D1DC9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1660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87C0B-98AC-48F0-AC15-515DB05D1DC9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8067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24E67F-85FB-4121-9501-D8978017219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8039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∙Preamble</a:t>
            </a:r>
          </a:p>
          <a:p>
            <a:pPr marL="88820" lvl="1"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- 7byte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길이를 갖고 있으며 송수신 시스템 간의 동기화에 사용</a:t>
            </a:r>
          </a:p>
          <a:p>
            <a:pPr marL="88820" lvl="1"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프레임의 </a:t>
            </a:r>
            <a:r>
              <a:rPr lang="ko-KR" altLang="en-US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시작을 나타내는 용도로 사용</a:t>
            </a:r>
          </a:p>
          <a:p>
            <a:pPr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SFD (Start Frame Delimiter)</a:t>
            </a:r>
          </a:p>
          <a:p>
            <a:pPr marL="88820" lvl="1"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- 10101011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값을 가지며 바로 뒤에 실제 프레임 필드 값이 위치</a:t>
            </a:r>
            <a:endParaRPr lang="en-US" altLang="ko-KR" sz="10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Destination Address</a:t>
            </a:r>
          </a:p>
          <a:p>
            <a:pPr marL="88820" lvl="1"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- 6byte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길이로 목적지 시스템의 하드웨어 주소를 나타냄</a:t>
            </a:r>
          </a:p>
          <a:p>
            <a:pPr marL="88820" lvl="1"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앞의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부분은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NIC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제조회사를 의미</a:t>
            </a:r>
          </a:p>
          <a:p>
            <a:pPr marL="88820" lvl="1"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뒤의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부분은 해당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NIC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고유 번호를 의미</a:t>
            </a:r>
          </a:p>
          <a:p>
            <a:pPr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Source Address</a:t>
            </a:r>
          </a:p>
          <a:p>
            <a:pPr marL="88820" lvl="1"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 </a:t>
            </a:r>
            <a:r>
              <a:rPr lang="ko-KR" altLang="en-US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시스템의 하드웨어 주소를 나타냄</a:t>
            </a:r>
          </a:p>
          <a:p>
            <a:pPr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Length or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Type Field</a:t>
            </a:r>
          </a:p>
          <a:p>
            <a:pPr marL="88820" lvl="1"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길이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유형 필드는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가지 의미 중 하나를 의미</a:t>
            </a:r>
          </a:p>
          <a:p>
            <a:pPr marL="88820" lvl="1"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필드 </a:t>
            </a:r>
            <a:r>
              <a:rPr lang="ko-KR" altLang="en-US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값이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1518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보다 작으면 데이터 부분의 길이를 표현</a:t>
            </a:r>
          </a:p>
          <a:p>
            <a:pPr marL="88820" lvl="1"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- 1536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보다 크면 상위 계층의 프로토콜을 의미</a:t>
            </a:r>
            <a:endParaRPr lang="en-US" altLang="ko-KR" sz="10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Data</a:t>
            </a:r>
          </a:p>
          <a:p>
            <a:pPr marL="88820" lvl="1"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상위 </a:t>
            </a:r>
            <a:r>
              <a:rPr lang="ko-KR" altLang="en-US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계층 프로토콜에서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Encapsulation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된 데이터 부분</a:t>
            </a:r>
          </a:p>
          <a:p>
            <a:pPr marL="88820" lvl="1"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최소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46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바이트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최대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1500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바이트</a:t>
            </a:r>
          </a:p>
          <a:p>
            <a:pPr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∙ CRC</a:t>
            </a:r>
          </a:p>
          <a:p>
            <a:pPr marL="88820" lvl="1">
              <a:defRPr/>
            </a:pP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Preamble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과  </a:t>
            </a:r>
            <a:r>
              <a:rPr lang="en-US" altLang="ko-KR" sz="1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SFD</a:t>
            </a:r>
            <a:r>
              <a:rPr lang="ko-KR" altLang="en-US" sz="1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부분을 제외한 유효한 프레임의 오류 검사를 위해 사용</a:t>
            </a:r>
            <a:endParaRPr lang="en-US" altLang="ko-KR" sz="10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defRPr/>
            </a:pPr>
            <a:endParaRPr lang="ko-KR" altLang="en-US" sz="10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defRPr/>
            </a:pPr>
            <a:endParaRPr lang="ko-KR" altLang="en-US" sz="10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24640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</p:spTree>
    <p:extLst>
      <p:ext uri="{BB962C8B-B14F-4D97-AF65-F5344CB8AC3E}">
        <p14:creationId xmlns:p14="http://schemas.microsoft.com/office/powerpoint/2010/main" val="4230613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ko-KR" dirty="0" smtClean="0"/>
              <a:t>ARP Request</a:t>
            </a:r>
            <a:r>
              <a:rPr lang="ko-KR" altLang="en-US" smtClean="0"/>
              <a:t>는 </a:t>
            </a:r>
            <a:r>
              <a:rPr lang="en-US" altLang="ko-KR" dirty="0" smtClean="0"/>
              <a:t>Broadcast</a:t>
            </a:r>
            <a:r>
              <a:rPr lang="ko-KR" altLang="en-US" smtClean="0"/>
              <a:t>로 전송된다</a:t>
            </a:r>
            <a:r>
              <a:rPr lang="en-US" altLang="ko-KR" dirty="0" smtClean="0"/>
              <a:t>. Broadcast</a:t>
            </a:r>
            <a:r>
              <a:rPr lang="ko-KR" altLang="en-US" smtClean="0"/>
              <a:t>는 같은 </a:t>
            </a:r>
            <a:r>
              <a:rPr lang="en-US" altLang="ko-KR" dirty="0" smtClean="0"/>
              <a:t>Network</a:t>
            </a:r>
            <a:r>
              <a:rPr lang="ko-KR" altLang="en-US" smtClean="0"/>
              <a:t>에 있는 모든 장비와 모든 사용자에게 전달되는 특징이 있다</a:t>
            </a:r>
            <a:r>
              <a:rPr lang="en-US" altLang="ko-KR" dirty="0" smtClean="0"/>
              <a:t>. 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ko-KR" dirty="0" smtClean="0"/>
              <a:t>    * </a:t>
            </a:r>
            <a:r>
              <a:rPr lang="ko-KR" altLang="en-US" smtClean="0"/>
              <a:t> </a:t>
            </a:r>
            <a:r>
              <a:rPr lang="en-US" altLang="ko-KR" dirty="0" smtClean="0"/>
              <a:t>Broadcast</a:t>
            </a:r>
            <a:r>
              <a:rPr lang="ko-KR" altLang="en-US" smtClean="0"/>
              <a:t>가 많으면 </a:t>
            </a:r>
            <a:r>
              <a:rPr lang="en-US" altLang="ko-KR" dirty="0" smtClean="0"/>
              <a:t>CPU </a:t>
            </a:r>
            <a:r>
              <a:rPr lang="ko-KR" altLang="en-US" smtClean="0"/>
              <a:t>사용량이 증가되어 전체 장비의 성능 저하가 발생된다</a:t>
            </a:r>
            <a:r>
              <a:rPr lang="en-US" altLang="ko-KR" dirty="0" smtClean="0"/>
              <a:t>.</a:t>
            </a:r>
          </a:p>
          <a:p>
            <a:pPr eaLnBrk="1" hangingPunct="1">
              <a:defRPr/>
            </a:pPr>
            <a:r>
              <a:rPr lang="en-US" altLang="ko-KR" dirty="0" smtClean="0"/>
              <a:t>Broadcast IP </a:t>
            </a:r>
            <a:r>
              <a:rPr lang="ko-KR" altLang="en-US" smtClean="0"/>
              <a:t>주소 </a:t>
            </a:r>
            <a:r>
              <a:rPr lang="en-US" altLang="ko-KR" dirty="0" smtClean="0"/>
              <a:t>: 255.255.255.255</a:t>
            </a:r>
          </a:p>
          <a:p>
            <a:pPr eaLnBrk="1" hangingPunct="1">
              <a:defRPr/>
            </a:pPr>
            <a:r>
              <a:rPr lang="en-US" altLang="ko-KR" dirty="0" smtClean="0"/>
              <a:t>Broadcast MAC </a:t>
            </a:r>
            <a:r>
              <a:rPr lang="ko-KR" altLang="en-US" smtClean="0"/>
              <a:t>주소 </a:t>
            </a:r>
            <a:r>
              <a:rPr lang="en-US" altLang="ko-KR" dirty="0" smtClean="0"/>
              <a:t>:</a:t>
            </a:r>
            <a:r>
              <a:rPr lang="ko-KR" altLang="en-US" smtClean="0"/>
              <a:t> </a:t>
            </a:r>
            <a:r>
              <a:rPr lang="en-US" altLang="ko-KR" dirty="0" err="1" smtClean="0"/>
              <a:t>ffff.ffff.ffff.ffff</a:t>
            </a:r>
            <a:endParaRPr lang="en-US" altLang="ko-KR" dirty="0" smtClean="0"/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ko-KR" dirty="0" smtClean="0"/>
          </a:p>
          <a:p>
            <a:pPr>
              <a:defRPr/>
            </a:pPr>
            <a:endParaRPr lang="ko-KR" altLang="en-US" dirty="0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fld id="{0DCF3584-7247-45F7-BEAC-9F4710CF68A6}" type="slidenum">
              <a:rPr lang="en-US" altLang="ko-KR" sz="90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pPr/>
              <a:t>45</a:t>
            </a:fld>
            <a:endParaRPr lang="en-US" altLang="ko-KR" sz="90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61557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mtClean="0"/>
          </a:p>
        </p:txBody>
      </p:sp>
      <p:sp>
        <p:nvSpPr>
          <p:cNvPr id="9830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fld id="{B2CA0E52-C088-4A19-8267-D8D0D7769B5B}" type="slidenum">
              <a:rPr lang="en-US" altLang="ko-KR" sz="90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pPr/>
              <a:t>46</a:t>
            </a:fld>
            <a:endParaRPr lang="en-US" altLang="ko-KR" sz="90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29190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ko-KR" dirty="0" smtClean="0"/>
              <a:t>ARP Request</a:t>
            </a:r>
            <a:r>
              <a:rPr lang="ko-KR" altLang="en-US" smtClean="0"/>
              <a:t>는 </a:t>
            </a:r>
            <a:r>
              <a:rPr lang="en-US" altLang="ko-KR" dirty="0" smtClean="0"/>
              <a:t>Broadcast</a:t>
            </a:r>
            <a:r>
              <a:rPr lang="ko-KR" altLang="en-US" smtClean="0"/>
              <a:t>로 전송된다</a:t>
            </a:r>
            <a:r>
              <a:rPr lang="en-US" altLang="ko-KR" dirty="0" smtClean="0"/>
              <a:t>. Broadcast</a:t>
            </a:r>
            <a:r>
              <a:rPr lang="ko-KR" altLang="en-US" smtClean="0"/>
              <a:t>는 같은 </a:t>
            </a:r>
            <a:r>
              <a:rPr lang="en-US" altLang="ko-KR" dirty="0" smtClean="0"/>
              <a:t>Network</a:t>
            </a:r>
            <a:r>
              <a:rPr lang="ko-KR" altLang="en-US" smtClean="0"/>
              <a:t>에 있는 모든 장비와 모든 사용자에게 전달되는 특징이 있다</a:t>
            </a:r>
            <a:r>
              <a:rPr lang="en-US" altLang="ko-KR" dirty="0" smtClean="0"/>
              <a:t>. 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ko-KR" dirty="0" smtClean="0"/>
              <a:t>    * </a:t>
            </a:r>
            <a:r>
              <a:rPr lang="ko-KR" altLang="en-US" smtClean="0"/>
              <a:t> </a:t>
            </a:r>
            <a:r>
              <a:rPr lang="en-US" altLang="ko-KR" dirty="0" smtClean="0"/>
              <a:t>Broadcast</a:t>
            </a:r>
            <a:r>
              <a:rPr lang="ko-KR" altLang="en-US" smtClean="0"/>
              <a:t>가 많으면 </a:t>
            </a:r>
            <a:r>
              <a:rPr lang="en-US" altLang="ko-KR" dirty="0" smtClean="0"/>
              <a:t>CPU </a:t>
            </a:r>
            <a:r>
              <a:rPr lang="ko-KR" altLang="en-US" smtClean="0"/>
              <a:t>사용량이 증가되어 전체 장비의 성능 저하가 발생된다</a:t>
            </a:r>
            <a:r>
              <a:rPr lang="en-US" altLang="ko-KR" dirty="0" smtClean="0"/>
              <a:t>.</a:t>
            </a:r>
          </a:p>
          <a:p>
            <a:pPr eaLnBrk="1" hangingPunct="1">
              <a:defRPr/>
            </a:pPr>
            <a:r>
              <a:rPr lang="en-US" altLang="ko-KR" dirty="0" smtClean="0"/>
              <a:t>Broadcast IP </a:t>
            </a:r>
            <a:r>
              <a:rPr lang="ko-KR" altLang="en-US" smtClean="0"/>
              <a:t>주소 </a:t>
            </a:r>
            <a:r>
              <a:rPr lang="en-US" altLang="ko-KR" dirty="0" smtClean="0"/>
              <a:t>: 255.255.255.255</a:t>
            </a:r>
          </a:p>
          <a:p>
            <a:pPr eaLnBrk="1" hangingPunct="1">
              <a:defRPr/>
            </a:pPr>
            <a:r>
              <a:rPr lang="en-US" altLang="ko-KR" dirty="0" smtClean="0"/>
              <a:t>Broadcast MAC </a:t>
            </a:r>
            <a:r>
              <a:rPr lang="ko-KR" altLang="en-US" smtClean="0"/>
              <a:t>주소 </a:t>
            </a:r>
            <a:r>
              <a:rPr lang="en-US" altLang="ko-KR" dirty="0" smtClean="0"/>
              <a:t>:</a:t>
            </a:r>
            <a:r>
              <a:rPr lang="ko-KR" altLang="en-US" smtClean="0"/>
              <a:t> </a:t>
            </a:r>
            <a:r>
              <a:rPr lang="en-US" altLang="ko-KR" dirty="0" err="1" smtClean="0"/>
              <a:t>ffff.ffff.ffff.ffff</a:t>
            </a:r>
            <a:endParaRPr lang="en-US" altLang="ko-KR" dirty="0" smtClean="0"/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ko-KR" dirty="0" smtClean="0"/>
          </a:p>
          <a:p>
            <a:pPr>
              <a:defRPr/>
            </a:pPr>
            <a:endParaRPr lang="ko-KR" altLang="en-US" dirty="0"/>
          </a:p>
        </p:txBody>
      </p:sp>
      <p:sp>
        <p:nvSpPr>
          <p:cNvPr id="96260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fld id="{0DCF3584-7247-45F7-BEAC-9F4710CF68A6}" type="slidenum">
              <a:rPr lang="en-US" altLang="ko-KR" sz="90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pPr/>
              <a:t>47</a:t>
            </a:fld>
            <a:endParaRPr lang="en-US" altLang="ko-KR" sz="90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6065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52463" y="736600"/>
            <a:ext cx="5684837" cy="4264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1514" y="5420182"/>
            <a:ext cx="5452110" cy="39161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조회하는 과정은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ARP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캐시를 조회 후 캐시에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검색하지 못할 경우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ARP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이용하여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부분에 해당 주소를 채워 넣는다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 </a:t>
            </a:r>
            <a:endParaRPr lang="ko-KR" altLang="en-US" sz="10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0600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52463" y="736600"/>
            <a:ext cx="5684837" cy="4264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1514" y="5420182"/>
            <a:ext cx="5452110" cy="39161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조회하는 과정은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ARP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캐시를 조회 후 캐시에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검색하지 못할 경우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ARP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이용하여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부분에 해당 주소를 채워 넣는다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 </a:t>
            </a:r>
            <a:endParaRPr lang="ko-KR" altLang="en-US" sz="10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23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A357-EC05-453C-BB93-D2CD92805FB3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7819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4A6AC-2825-4550-B24C-BE85D5A5CCD7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238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07D1-F386-4842-A375-88F78000DE4E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818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F0D8-0AFE-4389-9C4F-B247F77E85F4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07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3212-090F-4B69-906A-B3CA2BC375ED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26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9AD-719E-4E93-A824-218E0CF9AC3C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28467" y="6356350"/>
            <a:ext cx="2057400" cy="365125"/>
          </a:xfrm>
        </p:spPr>
        <p:txBody>
          <a:bodyPr/>
          <a:lstStyle>
            <a:lvl1pPr>
              <a:defRPr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</a:lstStyle>
          <a:p>
            <a:fld id="{F100E85C-9068-46D2-A14A-A9DCCDE0C9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6641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DB05-76DA-4D3A-B078-A583FFDA815D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4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137E-2B0C-4B41-8C2A-0B2B77A08D38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64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AB2C-6FD1-4AD7-B691-D0A8C430C56C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16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8929C-B6B2-4F43-A100-EC86E6AEFEE7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58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1C48-D382-4608-8EFC-759E9CA4DA3F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615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7525" y="92075"/>
            <a:ext cx="6448425" cy="3730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28625" y="971550"/>
            <a:ext cx="4067175" cy="55324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971550"/>
            <a:ext cx="4067175" cy="55324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938588" y="6538913"/>
            <a:ext cx="1295400" cy="24606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4870C-26EA-48E6-B006-78871CD704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39666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>
            <a:spLocks noChangeArrowheads="1"/>
          </p:cNvSpPr>
          <p:nvPr userDrawn="1"/>
        </p:nvSpPr>
        <p:spPr bwMode="auto">
          <a:xfrm>
            <a:off x="684213" y="620713"/>
            <a:ext cx="24479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endParaRPr lang="ko-KR" altLang="en-US" sz="1976" b="1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104244"/>
            <a:ext cx="7560840" cy="407725"/>
          </a:xfrm>
        </p:spPr>
        <p:txBody>
          <a:bodyPr/>
          <a:lstStyle>
            <a:lvl1pPr algn="l">
              <a:defRPr sz="1934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250827" y="1268762"/>
            <a:ext cx="8641655" cy="5235378"/>
          </a:xfrm>
        </p:spPr>
        <p:txBody>
          <a:bodyPr/>
          <a:lstStyle>
            <a:lvl1pPr marL="257896" indent="-257896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n"/>
              <a:defRPr sz="1934" b="1">
                <a:latin typeface="+mn-ea"/>
                <a:ea typeface="+mn-ea"/>
              </a:defRPr>
            </a:lvl1pPr>
            <a:lvl2pPr marL="432897" indent="-175000">
              <a:lnSpc>
                <a:spcPct val="100000"/>
              </a:lnSpc>
              <a:spcAft>
                <a:spcPts val="387"/>
              </a:spcAft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740"/>
            </a:lvl2pPr>
            <a:lvl3pPr marL="607899" indent="-175000">
              <a:lnSpc>
                <a:spcPct val="100000"/>
              </a:lnSpc>
              <a:spcAft>
                <a:spcPts val="290"/>
              </a:spcAft>
              <a:buClr>
                <a:schemeClr val="tx1"/>
              </a:buClr>
              <a:defRPr sz="1547"/>
            </a:lvl3pPr>
            <a:lvl4pPr marL="782899" indent="-175000">
              <a:lnSpc>
                <a:spcPct val="100000"/>
              </a:lnSpc>
              <a:spcAft>
                <a:spcPts val="290"/>
              </a:spcAft>
              <a:buSzPct val="96000"/>
              <a:defRPr sz="1064"/>
            </a:lvl4pPr>
            <a:lvl5pPr marL="957899" indent="-175000">
              <a:lnSpc>
                <a:spcPct val="100000"/>
              </a:lnSpc>
              <a:defRPr sz="1064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슬라이드 번호 개체 틀 9"/>
          <p:cNvSpPr>
            <a:spLocks noGrp="1"/>
          </p:cNvSpPr>
          <p:nvPr>
            <p:ph type="sldNum" sz="quarter" idx="10"/>
          </p:nvPr>
        </p:nvSpPr>
        <p:spPr>
          <a:xfrm>
            <a:off x="8101014" y="6503988"/>
            <a:ext cx="836612" cy="354012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/>
              <a:t>Page </a:t>
            </a:r>
            <a:fld id="{F81A0569-FA41-4949-A391-615DA29620B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16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>
          <a:xfrm>
            <a:off x="6821934" y="6408475"/>
            <a:ext cx="2057400" cy="365125"/>
          </a:xfrm>
        </p:spPr>
        <p:txBody>
          <a:bodyPr/>
          <a:lstStyle>
            <a:lvl1pPr>
              <a:defRPr sz="11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B2209E9-2AE8-42A0-AB53-D13299BB30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6099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58F3C-ACF1-481F-A305-7EE0320343A1}" type="datetime1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7445" y="632192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F100E85C-9068-46D2-A14A-A9DCCDE0C9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144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5" r:id="rId12"/>
    <p:sldLayoutId id="2147483676" r:id="rId13"/>
    <p:sldLayoutId id="2147483677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30525" y="1510552"/>
            <a:ext cx="7772400" cy="1094626"/>
          </a:xfrm>
        </p:spPr>
        <p:txBody>
          <a:bodyPr>
            <a:normAutofit/>
          </a:bodyPr>
          <a:lstStyle/>
          <a:p>
            <a:r>
              <a:rPr lang="en-US" altLang="ko-K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TCP/IP </a:t>
            </a:r>
            <a:r>
              <a:rPr lang="ko-KR" altLang="en-US" sz="400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프로토콜 분석</a:t>
            </a:r>
            <a:endParaRPr lang="ko-KR" altLang="en-US" sz="400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270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7486650" y="6263295"/>
            <a:ext cx="1295400" cy="246062"/>
          </a:xfrm>
        </p:spPr>
        <p:txBody>
          <a:bodyPr/>
          <a:lstStyle/>
          <a:p>
            <a:pPr>
              <a:defRPr/>
            </a:pPr>
            <a:fld id="{F144870C-26EA-48E6-B006-78871CD70451}" type="slidenum">
              <a:rPr lang="en-US" altLang="ko-KR" smtClean="0"/>
              <a:pPr>
                <a:defRPr/>
              </a:pPr>
              <a:t>2</a:t>
            </a:fld>
            <a:endParaRPr lang="en-US" altLang="ko-KR" dirty="0"/>
          </a:p>
        </p:txBody>
      </p:sp>
      <p:grpSp>
        <p:nvGrpSpPr>
          <p:cNvPr id="12" name="그룹 11"/>
          <p:cNvGrpSpPr/>
          <p:nvPr/>
        </p:nvGrpSpPr>
        <p:grpSpPr>
          <a:xfrm>
            <a:off x="1130060" y="1457864"/>
            <a:ext cx="7005458" cy="4630591"/>
            <a:chOff x="1355875" y="1600200"/>
            <a:chExt cx="6667500" cy="4376112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5875" y="1600200"/>
              <a:ext cx="6667500" cy="3686175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2475782" y="5191482"/>
              <a:ext cx="4658265" cy="70035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68151" y="5341606"/>
              <a:ext cx="182453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Ethernet LAN </a:t>
              </a:r>
              <a:endParaRPr lang="ko-KR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1440611" y="5191482"/>
              <a:ext cx="1035171" cy="0"/>
            </a:xfrm>
            <a:prstGeom prst="line">
              <a:avLst/>
            </a:prstGeom>
            <a:ln w="22225">
              <a:solidFill>
                <a:schemeClr val="tx1">
                  <a:lumMod val="95000"/>
                  <a:lumOff val="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512401" y="5191482"/>
              <a:ext cx="891591" cy="784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b="1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Network</a:t>
              </a:r>
            </a:p>
            <a:p>
              <a:r>
                <a:rPr lang="en-US" altLang="ko-KR" sz="1500" b="1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Access</a:t>
              </a:r>
            </a:p>
            <a:p>
              <a:r>
                <a:rPr lang="en-US" altLang="ko-KR" sz="1500" b="1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Layer</a:t>
              </a:r>
              <a:endParaRPr lang="ko-KR" altLang="en-US" sz="1500" b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</p:grp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584361" y="403221"/>
            <a:ext cx="5952392" cy="344366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Protocol 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endParaRPr lang="en-US" altLang="ko-K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58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4" y="1106702"/>
            <a:ext cx="8843008" cy="5432425"/>
          </a:xfrm>
          <a:prstGeom prst="rect">
            <a:avLst/>
          </a:prstGeom>
        </p:spPr>
      </p:pic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23824" y="350814"/>
            <a:ext cx="8286750" cy="5532438"/>
          </a:xfrm>
          <a:prstGeom prst="rect">
            <a:avLst/>
          </a:prstGeom>
        </p:spPr>
        <p:txBody>
          <a:bodyPr/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25000"/>
              </a:spcAft>
              <a:buSzPct val="120000"/>
              <a:buBlip>
                <a:blip r:embed="rId4"/>
              </a:buBlip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3888" indent="-176213" algn="l" rtl="0" eaLnBrk="0" fontAlgn="base" hangingPunct="0">
              <a:spcBef>
                <a:spcPct val="0"/>
              </a:spcBef>
              <a:spcAft>
                <a:spcPct val="2500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1413" indent="-228600" algn="l" rtl="0" eaLnBrk="0" fontAlgn="base" hangingPunct="0">
              <a:spcBef>
                <a:spcPct val="0"/>
              </a:spcBef>
              <a:spcAft>
                <a:spcPct val="2500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549400" indent="-228600" algn="l" rtl="0" eaLnBrk="0" fontAlgn="base" hangingPunct="0">
              <a:spcBef>
                <a:spcPct val="0"/>
              </a:spcBef>
              <a:spcAft>
                <a:spcPct val="25000"/>
              </a:spcAft>
              <a:buFont typeface="돋움" pitchFamily="50" charset="-127"/>
              <a:buChar char="▫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957388" indent="-228600" algn="l" rtl="0" eaLnBrk="0" fontAlgn="base" hangingPunct="0">
              <a:spcBef>
                <a:spcPct val="0"/>
              </a:spcBef>
              <a:spcAft>
                <a:spcPct val="2500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414588" indent="-228600" algn="l" rtl="0" fontAlgn="base">
              <a:spcBef>
                <a:spcPct val="0"/>
              </a:spcBef>
              <a:spcAft>
                <a:spcPct val="25000"/>
              </a:spcAft>
              <a:buChar char="»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871788" indent="-228600" algn="l" rtl="0" fontAlgn="base">
              <a:spcBef>
                <a:spcPct val="0"/>
              </a:spcBef>
              <a:spcAft>
                <a:spcPct val="25000"/>
              </a:spcAft>
              <a:buChar char="»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328988" indent="-228600" algn="l" rtl="0" fontAlgn="base">
              <a:spcBef>
                <a:spcPct val="0"/>
              </a:spcBef>
              <a:spcAft>
                <a:spcPct val="25000"/>
              </a:spcAft>
              <a:buChar char="»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786188" indent="-228600" algn="l" rtl="0" fontAlgn="base">
              <a:spcBef>
                <a:spcPct val="0"/>
              </a:spcBef>
              <a:spcAft>
                <a:spcPct val="25000"/>
              </a:spcAft>
              <a:buChar char="»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47675" lvl="1" indent="0" eaLnBrk="1" hangingPunct="1">
              <a:lnSpc>
                <a:spcPct val="100000"/>
              </a:lnSpc>
              <a:buFontTx/>
              <a:buNone/>
            </a:pPr>
            <a:r>
              <a:rPr lang="en-US" altLang="ko-KR" sz="3200" b="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lang="ko-KR" altLang="en-US" sz="3200" b="0" ker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200" b="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Encapsulation</a:t>
            </a:r>
          </a:p>
        </p:txBody>
      </p:sp>
      <p:cxnSp>
        <p:nvCxnSpPr>
          <p:cNvPr id="5" name="직선 화살표 연결선 4"/>
          <p:cNvCxnSpPr/>
          <p:nvPr/>
        </p:nvCxnSpPr>
        <p:spPr bwMode="auto">
          <a:xfrm flipV="1">
            <a:off x="7255600" y="5384590"/>
            <a:ext cx="627530" cy="8965"/>
          </a:xfrm>
          <a:prstGeom prst="straightConnector1">
            <a:avLst/>
          </a:prstGeom>
          <a:solidFill>
            <a:schemeClr val="bg2"/>
          </a:solidFill>
          <a:ln w="9525" cap="flat" cmpd="sng" algn="ctr">
            <a:solidFill>
              <a:srgbClr val="5F5F5F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7266871" y="5529309"/>
            <a:ext cx="94788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Trailer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909432" y="6456577"/>
            <a:ext cx="20574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477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22EA7-80FE-42C8-BCF2-09639A4FECEC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73117" y="522478"/>
            <a:ext cx="7886700" cy="520700"/>
          </a:xfrm>
        </p:spPr>
        <p:txBody>
          <a:bodyPr>
            <a:noAutofit/>
          </a:bodyPr>
          <a:lstStyle/>
          <a:p>
            <a:r>
              <a:rPr lang="en-US" altLang="ko-KR" sz="2800" dirty="0" smtClean="0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1) </a:t>
            </a:r>
            <a:r>
              <a:rPr lang="en-US" altLang="ko-KR" sz="2800" dirty="0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TCP Header</a:t>
            </a:r>
            <a:endParaRPr lang="ko-KR" altLang="en-US" sz="2800" dirty="0">
              <a:latin typeface="Times New Roman" panose="02020603050405020304" pitchFamily="18" charset="0"/>
              <a:ea typeface="굴림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1748" name="Picture 4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40" y="2008838"/>
            <a:ext cx="7090120" cy="4347512"/>
          </a:xfrm>
          <a:noFill/>
        </p:spPr>
      </p:pic>
      <p:sp>
        <p:nvSpPr>
          <p:cNvPr id="2" name="직사각형 1"/>
          <p:cNvSpPr/>
          <p:nvPr/>
        </p:nvSpPr>
        <p:spPr>
          <a:xfrm>
            <a:off x="373117" y="1302808"/>
            <a:ext cx="87708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01613">
              <a:buFont typeface="Arial" panose="020B0604020202020204" pitchFamily="34" charset="0"/>
              <a:buChar char="•"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TCP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헤더는 기본이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20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바이트이며 옵션을 포함한 경우 최대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60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바이트로 구성</a:t>
            </a:r>
          </a:p>
        </p:txBody>
      </p:sp>
    </p:spTree>
    <p:extLst>
      <p:ext uri="{BB962C8B-B14F-4D97-AF65-F5344CB8AC3E}">
        <p14:creationId xmlns:p14="http://schemas.microsoft.com/office/powerpoint/2010/main" val="41597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18227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13229" y="1607017"/>
            <a:ext cx="7886700" cy="4351337"/>
          </a:xfrm>
        </p:spPr>
        <p:txBody>
          <a:bodyPr>
            <a:normAutofit/>
          </a:bodyPr>
          <a:lstStyle/>
          <a:p>
            <a:pPr marL="363424" lvl="1" indent="0">
              <a:lnSpc>
                <a:spcPct val="200000"/>
              </a:lnSpc>
              <a:buNone/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1846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Three Way Handshaking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과정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 초기화 과정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742969" lvl="2" indent="0">
              <a:lnSpc>
                <a:spcPct val="200000"/>
              </a:lnSpc>
              <a:buNone/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 </a:t>
            </a: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연결 요구</a:t>
            </a:r>
          </a:p>
          <a:p>
            <a:pPr marL="742969" lvl="2" indent="0">
              <a:lnSpc>
                <a:spcPct val="200000"/>
              </a:lnSpc>
              <a:buNone/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 </a:t>
            </a: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측 응답 및 연결 요구</a:t>
            </a:r>
          </a:p>
          <a:p>
            <a:pPr marL="742969" lvl="2" indent="0">
              <a:lnSpc>
                <a:spcPct val="200000"/>
              </a:lnSpc>
              <a:buNone/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 </a:t>
            </a: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연결 요구에 대한 클라이언트 측 최종 응답</a:t>
            </a:r>
          </a:p>
          <a:p>
            <a:pPr marL="363424" lvl="1" indent="0">
              <a:lnSpc>
                <a:spcPct val="200000"/>
              </a:lnSpc>
              <a:buNone/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1846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TCP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데이터 전송 과정</a:t>
            </a:r>
          </a:p>
          <a:p>
            <a:pPr marL="363424" lvl="1" indent="0">
              <a:lnSpc>
                <a:spcPct val="200000"/>
              </a:lnSpc>
              <a:buNone/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</a:t>
            </a:r>
            <a:r>
              <a:rPr lang="en-US" altLang="ko-KR" sz="1846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TCP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연결 종료 과정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8227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08211" y="870950"/>
            <a:ext cx="4827588" cy="515938"/>
          </a:xfrm>
        </p:spPr>
        <p:txBody>
          <a:bodyPr>
            <a:noAutofit/>
          </a:bodyPr>
          <a:lstStyle/>
          <a:p>
            <a:pPr marL="273050"/>
            <a:r>
              <a:rPr lang="en-US" altLang="ko-KR" sz="2800" b="1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TCP</a:t>
            </a:r>
            <a:r>
              <a:rPr lang="en-US" altLang="ko-KR" sz="2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8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연결 관리</a:t>
            </a:r>
          </a:p>
        </p:txBody>
      </p:sp>
    </p:spTree>
    <p:extLst>
      <p:ext uri="{BB962C8B-B14F-4D97-AF65-F5344CB8AC3E}">
        <p14:creationId xmlns:p14="http://schemas.microsoft.com/office/powerpoint/2010/main" val="243296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675861" y="510209"/>
            <a:ext cx="7431088" cy="480536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sz="2585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r>
              <a:rPr lang="ko-KR" altLang="en-US" sz="2585" b="0" dirty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</a:rPr>
              <a:t>연결 설정 </a:t>
            </a:r>
            <a:r>
              <a:rPr lang="en-US" altLang="ko-KR" sz="2585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(3-Way Handshaking) </a:t>
            </a:r>
          </a:p>
          <a:p>
            <a:pPr marL="237271" lvl="1" indent="0">
              <a:buNone/>
              <a:defRPr/>
            </a:pPr>
            <a:endParaRPr lang="en-US" altLang="ko-KR" sz="25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49" y="1880358"/>
            <a:ext cx="5751664" cy="4176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433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슬라이드 번호 개체 틀 52"/>
          <p:cNvSpPr>
            <a:spLocks noGrp="1"/>
          </p:cNvSpPr>
          <p:nvPr>
            <p:ph type="sldNum" sz="quarter" idx="12"/>
          </p:nvPr>
        </p:nvSpPr>
        <p:spPr>
          <a:xfrm>
            <a:off x="7397208" y="6427034"/>
            <a:ext cx="1543050" cy="273844"/>
          </a:xfrm>
        </p:spPr>
        <p:txBody>
          <a:bodyPr/>
          <a:lstStyle/>
          <a:p>
            <a:fld id="{7B2209E9-2AE8-42A0-AB53-D13299BB30AF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cxnSp>
        <p:nvCxnSpPr>
          <p:cNvPr id="16" name="직선 연결선 15"/>
          <p:cNvCxnSpPr/>
          <p:nvPr/>
        </p:nvCxnSpPr>
        <p:spPr>
          <a:xfrm flipH="1">
            <a:off x="1348593" y="2168557"/>
            <a:ext cx="26576" cy="407980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 flipH="1">
            <a:off x="4013716" y="2180584"/>
            <a:ext cx="14223" cy="406777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35434" y="1606615"/>
            <a:ext cx="1011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1400468" y="2373979"/>
            <a:ext cx="2613248" cy="6730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 rot="803421">
            <a:off x="1262237" y="2335868"/>
            <a:ext cx="24721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SYN=(</a:t>
            </a:r>
            <a:r>
              <a:rPr lang="en-US" altLang="ko-KR" sz="1600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   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 SN=767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 flipH="1">
            <a:off x="1379374" y="3681005"/>
            <a:ext cx="2661956" cy="7562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1382921" y="5043826"/>
            <a:ext cx="2658170" cy="7045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 rot="839121">
            <a:off x="1417971" y="5399752"/>
            <a:ext cx="2774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ACK=(</a:t>
            </a:r>
            <a:r>
              <a:rPr lang="en-US" altLang="ko-KR" sz="1600" b="1" dirty="0">
                <a:solidFill>
                  <a:srgbClr val="0070C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❾  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AN=(</a:t>
            </a:r>
            <a:r>
              <a:rPr lang="en-US" altLang="ko-KR" sz="1600" b="1" dirty="0">
                <a:solidFill>
                  <a:srgbClr val="0070C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❿ 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endParaRPr lang="ko-KR" altLang="en-US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 rot="20648991">
            <a:off x="1152007" y="4071126"/>
            <a:ext cx="2919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SYN=( </a:t>
            </a:r>
            <a:r>
              <a:rPr lang="en-US" altLang="ko-KR" sz="1600" b="1" dirty="0">
                <a:solidFill>
                  <a:srgbClr val="0070C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   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) SN=373</a:t>
            </a:r>
            <a:endParaRPr lang="ko-KR" altLang="en-US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86237" y="1597073"/>
            <a:ext cx="106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 rot="863904">
            <a:off x="1153840" y="5090943"/>
            <a:ext cx="31534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SYN=(</a:t>
            </a:r>
            <a:r>
              <a:rPr lang="en-US" altLang="ko-KR" sz="1600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❼ 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)  SN=(</a:t>
            </a:r>
            <a:r>
              <a:rPr lang="en-US" altLang="ko-KR" sz="1600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❽  </a:t>
            </a:r>
            <a:r>
              <a:rPr lang="en-US" altLang="ko-K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ko-KR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ko-KR" alt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 rot="865450">
            <a:off x="983632" y="2660087"/>
            <a:ext cx="3217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ACK=(</a:t>
            </a:r>
            <a:r>
              <a:rPr lang="en-US" altLang="ko-KR" sz="1600" b="1" dirty="0">
                <a:solidFill>
                  <a:srgbClr val="0070C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   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 AN=(</a:t>
            </a:r>
            <a:r>
              <a:rPr lang="en-US" altLang="ko-KR" sz="1600" b="1" dirty="0">
                <a:solidFill>
                  <a:srgbClr val="0070C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  </a:t>
            </a:r>
            <a:r>
              <a:rPr lang="en-US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) </a:t>
            </a:r>
            <a:endParaRPr lang="ko-KR" altLang="en-US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 rot="20589839">
            <a:off x="1454614" y="3689270"/>
            <a:ext cx="269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ACK=(</a:t>
            </a:r>
            <a:r>
              <a:rPr lang="en-US" altLang="ko-KR" sz="1600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ko-K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AN=(</a:t>
            </a:r>
            <a:r>
              <a:rPr lang="en-US" altLang="ko-KR" sz="1600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  </a:t>
            </a:r>
            <a:r>
              <a:rPr lang="en-US" altLang="ko-K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13254" y="2677675"/>
            <a:ext cx="3706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❼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❽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❾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+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❿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907607" y="720552"/>
            <a:ext cx="5957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* 3WHS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일부분이다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괄호부분을 모두 합한 값은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?</a:t>
            </a:r>
            <a:endParaRPr lang="ko-KR" altLang="en-US" sz="20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674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98306" name="제목 1"/>
          <p:cNvSpPr>
            <a:spLocks noGrp="1"/>
          </p:cNvSpPr>
          <p:nvPr>
            <p:ph type="title" idx="4294967295"/>
          </p:nvPr>
        </p:nvSpPr>
        <p:spPr bwMode="auto">
          <a:xfrm>
            <a:off x="320547" y="565102"/>
            <a:ext cx="7280275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</a:t>
            </a:r>
            <a:r>
              <a:rPr lang="en-US" altLang="ko-KR" sz="2400" dirty="0">
                <a:ea typeface="함초롬바탕" panose="02030504000101010101"/>
              </a:rPr>
              <a:t> </a:t>
            </a:r>
            <a:r>
              <a:rPr lang="ko-KR" altLang="en-US" sz="2400" dirty="0">
                <a:ea typeface="함초롬바탕" panose="02030504000101010101"/>
              </a:rPr>
              <a:t>정상적인 트래픽 전송 과정 </a:t>
            </a:r>
          </a:p>
        </p:txBody>
      </p:sp>
      <p:grpSp>
        <p:nvGrpSpPr>
          <p:cNvPr id="98307" name="그룹 3"/>
          <p:cNvGrpSpPr>
            <a:grpSpLocks/>
          </p:cNvGrpSpPr>
          <p:nvPr/>
        </p:nvGrpSpPr>
        <p:grpSpPr bwMode="auto">
          <a:xfrm flipH="1">
            <a:off x="7226315" y="3244366"/>
            <a:ext cx="868973" cy="942569"/>
            <a:chOff x="1533695" y="4087365"/>
            <a:chExt cx="838200" cy="1008271"/>
          </a:xfrm>
        </p:grpSpPr>
        <p:sp>
          <p:nvSpPr>
            <p:cNvPr id="6" name="Freeform 174"/>
            <p:cNvSpPr>
              <a:spLocks/>
            </p:cNvSpPr>
            <p:nvPr/>
          </p:nvSpPr>
          <p:spPr bwMode="auto">
            <a:xfrm rot="355818">
              <a:off x="2175420" y="4753566"/>
              <a:ext cx="74915" cy="53296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Freeform 175"/>
            <p:cNvSpPr>
              <a:spLocks/>
            </p:cNvSpPr>
            <p:nvPr/>
          </p:nvSpPr>
          <p:spPr bwMode="auto">
            <a:xfrm rot="355818" flipH="1">
              <a:off x="2234787" y="4802159"/>
              <a:ext cx="137108" cy="81512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6"/>
            <p:cNvSpPr>
              <a:spLocks/>
            </p:cNvSpPr>
            <p:nvPr/>
          </p:nvSpPr>
          <p:spPr bwMode="auto">
            <a:xfrm rot="355818">
              <a:off x="2229133" y="4830375"/>
              <a:ext cx="134281" cy="5799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7"/>
            <p:cNvSpPr>
              <a:spLocks/>
            </p:cNvSpPr>
            <p:nvPr/>
          </p:nvSpPr>
          <p:spPr bwMode="auto">
            <a:xfrm rot="355818" flipH="1">
              <a:off x="2263057" y="4797457"/>
              <a:ext cx="31097" cy="391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8"/>
            <p:cNvSpPr>
              <a:spLocks/>
            </p:cNvSpPr>
            <p:nvPr/>
          </p:nvSpPr>
          <p:spPr bwMode="auto">
            <a:xfrm rot="355818">
              <a:off x="2247508" y="4795889"/>
              <a:ext cx="43819" cy="7838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val 179"/>
            <p:cNvSpPr>
              <a:spLocks noChangeArrowheads="1"/>
            </p:cNvSpPr>
            <p:nvPr/>
          </p:nvSpPr>
          <p:spPr bwMode="auto">
            <a:xfrm rot="21219751">
              <a:off x="2267297" y="4792754"/>
              <a:ext cx="18376" cy="940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Freeform 180"/>
            <p:cNvSpPr>
              <a:spLocks/>
            </p:cNvSpPr>
            <p:nvPr/>
          </p:nvSpPr>
          <p:spPr bwMode="auto">
            <a:xfrm rot="355818">
              <a:off x="2239027" y="4799024"/>
              <a:ext cx="35338" cy="32919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2"/>
            <p:cNvSpPr>
              <a:spLocks/>
            </p:cNvSpPr>
            <p:nvPr/>
          </p:nvSpPr>
          <p:spPr bwMode="auto">
            <a:xfrm flipH="1">
              <a:off x="1772486" y="4767328"/>
              <a:ext cx="178189" cy="328308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3"/>
            <p:cNvSpPr>
              <a:spLocks/>
            </p:cNvSpPr>
            <p:nvPr/>
          </p:nvSpPr>
          <p:spPr bwMode="auto">
            <a:xfrm flipH="1">
              <a:off x="1786619" y="4752436"/>
              <a:ext cx="178189" cy="328308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4"/>
            <p:cNvSpPr>
              <a:spLocks/>
            </p:cNvSpPr>
            <p:nvPr/>
          </p:nvSpPr>
          <p:spPr bwMode="auto">
            <a:xfrm flipH="1">
              <a:off x="1799431" y="4828808"/>
              <a:ext cx="343478" cy="84647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5"/>
            <p:cNvSpPr>
              <a:spLocks/>
            </p:cNvSpPr>
            <p:nvPr/>
          </p:nvSpPr>
          <p:spPr bwMode="auto">
            <a:xfrm flipH="1">
              <a:off x="1885654" y="4850753"/>
              <a:ext cx="356200" cy="112862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6"/>
            <p:cNvSpPr>
              <a:spLocks/>
            </p:cNvSpPr>
            <p:nvPr/>
          </p:nvSpPr>
          <p:spPr bwMode="auto">
            <a:xfrm flipH="1">
              <a:off x="1819220" y="4915021"/>
              <a:ext cx="90463" cy="48594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7"/>
            <p:cNvSpPr>
              <a:spLocks/>
            </p:cNvSpPr>
            <p:nvPr/>
          </p:nvSpPr>
          <p:spPr bwMode="auto">
            <a:xfrm flipH="1">
              <a:off x="1754200" y="4925995"/>
              <a:ext cx="107425" cy="70538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9"/>
            <p:cNvSpPr>
              <a:spLocks noChangeAspect="1"/>
            </p:cNvSpPr>
            <p:nvPr/>
          </p:nvSpPr>
          <p:spPr bwMode="auto">
            <a:xfrm>
              <a:off x="1533695" y="4524707"/>
              <a:ext cx="144176" cy="352694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90"/>
            <p:cNvSpPr>
              <a:spLocks noChangeAspect="1"/>
            </p:cNvSpPr>
            <p:nvPr/>
          </p:nvSpPr>
          <p:spPr bwMode="auto">
            <a:xfrm>
              <a:off x="1536522" y="4465140"/>
              <a:ext cx="619109" cy="288426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1"/>
            <p:cNvSpPr>
              <a:spLocks/>
            </p:cNvSpPr>
            <p:nvPr/>
          </p:nvSpPr>
          <p:spPr bwMode="auto">
            <a:xfrm>
              <a:off x="1672217" y="4661081"/>
              <a:ext cx="477760" cy="213184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2"/>
            <p:cNvSpPr>
              <a:spLocks/>
            </p:cNvSpPr>
            <p:nvPr/>
          </p:nvSpPr>
          <p:spPr bwMode="auto">
            <a:xfrm>
              <a:off x="1690592" y="4789619"/>
              <a:ext cx="144176" cy="5956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val 193"/>
            <p:cNvSpPr>
              <a:spLocks noChangeArrowheads="1"/>
            </p:cNvSpPr>
            <p:nvPr/>
          </p:nvSpPr>
          <p:spPr bwMode="auto">
            <a:xfrm>
              <a:off x="1809325" y="4797457"/>
              <a:ext cx="16962" cy="20377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Line 194"/>
            <p:cNvSpPr>
              <a:spLocks noChangeShapeType="1"/>
            </p:cNvSpPr>
            <p:nvPr/>
          </p:nvSpPr>
          <p:spPr bwMode="auto">
            <a:xfrm flipH="1">
              <a:off x="2032657" y="4706540"/>
              <a:ext cx="2827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5"/>
            <p:cNvSpPr>
              <a:spLocks noChangeShapeType="1"/>
            </p:cNvSpPr>
            <p:nvPr/>
          </p:nvSpPr>
          <p:spPr bwMode="auto">
            <a:xfrm flipH="1">
              <a:off x="2021349" y="4708107"/>
              <a:ext cx="1414" cy="815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6"/>
            <p:cNvSpPr>
              <a:spLocks noChangeShapeType="1"/>
            </p:cNvSpPr>
            <p:nvPr/>
          </p:nvSpPr>
          <p:spPr bwMode="auto">
            <a:xfrm flipH="1">
              <a:off x="2045379" y="4704972"/>
              <a:ext cx="4240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7"/>
            <p:cNvSpPr>
              <a:spLocks noChangeShapeType="1"/>
            </p:cNvSpPr>
            <p:nvPr/>
          </p:nvSpPr>
          <p:spPr bwMode="auto">
            <a:xfrm flipH="1">
              <a:off x="2056687" y="4703405"/>
              <a:ext cx="2827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8"/>
            <p:cNvSpPr>
              <a:spLocks noChangeShapeType="1"/>
            </p:cNvSpPr>
            <p:nvPr/>
          </p:nvSpPr>
          <p:spPr bwMode="auto">
            <a:xfrm flipH="1">
              <a:off x="2065168" y="4701837"/>
              <a:ext cx="706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9"/>
            <p:cNvSpPr>
              <a:spLocks noChangeShapeType="1"/>
            </p:cNvSpPr>
            <p:nvPr/>
          </p:nvSpPr>
          <p:spPr bwMode="auto">
            <a:xfrm flipH="1">
              <a:off x="2076476" y="4698702"/>
              <a:ext cx="7067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200"/>
            <p:cNvSpPr>
              <a:spLocks noChangeShapeType="1"/>
            </p:cNvSpPr>
            <p:nvPr/>
          </p:nvSpPr>
          <p:spPr bwMode="auto">
            <a:xfrm flipH="1">
              <a:off x="2087784" y="4698702"/>
              <a:ext cx="1413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1"/>
            <p:cNvSpPr>
              <a:spLocks noChangeShapeType="1"/>
            </p:cNvSpPr>
            <p:nvPr/>
          </p:nvSpPr>
          <p:spPr bwMode="auto">
            <a:xfrm flipH="1">
              <a:off x="2097678" y="4692432"/>
              <a:ext cx="1414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2"/>
            <p:cNvSpPr>
              <a:spLocks noChangeShapeType="1"/>
            </p:cNvSpPr>
            <p:nvPr/>
          </p:nvSpPr>
          <p:spPr bwMode="auto">
            <a:xfrm flipH="1">
              <a:off x="2106159" y="4692432"/>
              <a:ext cx="2827" cy="7524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3"/>
            <p:cNvSpPr>
              <a:spLocks noChangeShapeType="1"/>
            </p:cNvSpPr>
            <p:nvPr/>
          </p:nvSpPr>
          <p:spPr bwMode="auto">
            <a:xfrm flipH="1">
              <a:off x="2117467" y="4690865"/>
              <a:ext cx="1414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4"/>
            <p:cNvSpPr>
              <a:spLocks noChangeShapeType="1"/>
            </p:cNvSpPr>
            <p:nvPr/>
          </p:nvSpPr>
          <p:spPr bwMode="auto">
            <a:xfrm flipH="1">
              <a:off x="2070822" y="4731621"/>
              <a:ext cx="1413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Freeform 205"/>
            <p:cNvSpPr>
              <a:spLocks/>
            </p:cNvSpPr>
            <p:nvPr/>
          </p:nvSpPr>
          <p:spPr bwMode="auto">
            <a:xfrm>
              <a:off x="1878587" y="4737891"/>
              <a:ext cx="79156" cy="62701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206"/>
            <p:cNvSpPr>
              <a:spLocks noChangeShapeType="1"/>
            </p:cNvSpPr>
            <p:nvPr/>
          </p:nvSpPr>
          <p:spPr bwMode="auto">
            <a:xfrm flipH="1">
              <a:off x="1889895" y="4773944"/>
              <a:ext cx="0" cy="1881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7"/>
            <p:cNvSpPr>
              <a:spLocks noChangeShapeType="1"/>
            </p:cNvSpPr>
            <p:nvPr/>
          </p:nvSpPr>
          <p:spPr bwMode="auto">
            <a:xfrm flipH="1">
              <a:off x="1950675" y="4758268"/>
              <a:ext cx="0" cy="2037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8"/>
            <p:cNvSpPr>
              <a:spLocks noChangeShapeType="1"/>
            </p:cNvSpPr>
            <p:nvPr/>
          </p:nvSpPr>
          <p:spPr bwMode="auto">
            <a:xfrm flipH="1">
              <a:off x="1943608" y="4767674"/>
              <a:ext cx="0" cy="15675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9"/>
            <p:cNvSpPr>
              <a:spLocks noChangeShapeType="1"/>
            </p:cNvSpPr>
            <p:nvPr/>
          </p:nvSpPr>
          <p:spPr bwMode="auto">
            <a:xfrm flipH="1">
              <a:off x="1898376" y="4781782"/>
              <a:ext cx="0" cy="1254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10"/>
            <p:cNvSpPr>
              <a:spLocks noChangeShapeType="1"/>
            </p:cNvSpPr>
            <p:nvPr/>
          </p:nvSpPr>
          <p:spPr bwMode="auto">
            <a:xfrm flipV="1">
              <a:off x="1908270" y="4783349"/>
              <a:ext cx="25443" cy="627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Freeform 211"/>
            <p:cNvSpPr>
              <a:spLocks/>
            </p:cNvSpPr>
            <p:nvPr/>
          </p:nvSpPr>
          <p:spPr bwMode="auto">
            <a:xfrm>
              <a:off x="1714622" y="4751998"/>
              <a:ext cx="100357" cy="37621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Line 212"/>
            <p:cNvSpPr>
              <a:spLocks noChangeShapeType="1"/>
            </p:cNvSpPr>
            <p:nvPr/>
          </p:nvSpPr>
          <p:spPr bwMode="auto">
            <a:xfrm flipV="1">
              <a:off x="1706141" y="4758268"/>
              <a:ext cx="113079" cy="23513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98361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7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7" name="Freeform 216"/>
              <p:cNvSpPr>
                <a:spLocks/>
              </p:cNvSpPr>
              <p:nvPr/>
            </p:nvSpPr>
            <p:spPr bwMode="auto">
              <a:xfrm flipH="1">
                <a:off x="685" y="3139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4" name="Oval 217"/>
            <p:cNvSpPr>
              <a:spLocks noChangeArrowheads="1"/>
            </p:cNvSpPr>
            <p:nvPr/>
          </p:nvSpPr>
          <p:spPr bwMode="auto">
            <a:xfrm>
              <a:off x="1683525" y="4543517"/>
              <a:ext cx="298246" cy="9248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Oval 218"/>
            <p:cNvSpPr>
              <a:spLocks noChangeArrowheads="1"/>
            </p:cNvSpPr>
            <p:nvPr/>
          </p:nvSpPr>
          <p:spPr bwMode="auto">
            <a:xfrm>
              <a:off x="1683525" y="4537247"/>
              <a:ext cx="298246" cy="90917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Freeform 219"/>
            <p:cNvSpPr>
              <a:spLocks/>
            </p:cNvSpPr>
            <p:nvPr/>
          </p:nvSpPr>
          <p:spPr bwMode="auto">
            <a:xfrm flipH="1">
              <a:off x="1663736" y="4088933"/>
              <a:ext cx="436768" cy="51101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20"/>
            <p:cNvSpPr>
              <a:spLocks/>
            </p:cNvSpPr>
            <p:nvPr/>
          </p:nvSpPr>
          <p:spPr bwMode="auto">
            <a:xfrm flipH="1">
              <a:off x="1723103" y="4502761"/>
              <a:ext cx="357613" cy="9718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1"/>
            <p:cNvSpPr>
              <a:spLocks/>
            </p:cNvSpPr>
            <p:nvPr/>
          </p:nvSpPr>
          <p:spPr bwMode="auto">
            <a:xfrm flipH="1">
              <a:off x="1651014" y="4146931"/>
              <a:ext cx="15549" cy="45301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val 222"/>
            <p:cNvSpPr>
              <a:spLocks noChangeArrowheads="1"/>
            </p:cNvSpPr>
            <p:nvPr/>
          </p:nvSpPr>
          <p:spPr bwMode="auto">
            <a:xfrm>
              <a:off x="2049619" y="4510598"/>
              <a:ext cx="12722" cy="28216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3"/>
            <p:cNvSpPr>
              <a:spLocks noChangeArrowheads="1"/>
            </p:cNvSpPr>
            <p:nvPr/>
          </p:nvSpPr>
          <p:spPr bwMode="auto">
            <a:xfrm>
              <a:off x="2025590" y="4516869"/>
              <a:ext cx="11308" cy="2351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4"/>
            <p:cNvSpPr>
              <a:spLocks noChangeArrowheads="1"/>
            </p:cNvSpPr>
            <p:nvPr/>
          </p:nvSpPr>
          <p:spPr bwMode="auto">
            <a:xfrm>
              <a:off x="1943608" y="4538814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5"/>
            <p:cNvSpPr>
              <a:spLocks noChangeArrowheads="1"/>
            </p:cNvSpPr>
            <p:nvPr/>
          </p:nvSpPr>
          <p:spPr bwMode="auto">
            <a:xfrm>
              <a:off x="1918165" y="4543517"/>
              <a:ext cx="12721" cy="1724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6"/>
            <p:cNvSpPr>
              <a:spLocks noChangeArrowheads="1"/>
            </p:cNvSpPr>
            <p:nvPr/>
          </p:nvSpPr>
          <p:spPr bwMode="auto">
            <a:xfrm>
              <a:off x="1889895" y="4548219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Freeform 227"/>
            <p:cNvSpPr>
              <a:spLocks/>
            </p:cNvSpPr>
            <p:nvPr/>
          </p:nvSpPr>
          <p:spPr bwMode="auto">
            <a:xfrm flipH="1">
              <a:off x="1704727" y="4139094"/>
              <a:ext cx="361854" cy="402855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8"/>
            <p:cNvSpPr>
              <a:spLocks/>
            </p:cNvSpPr>
            <p:nvPr/>
          </p:nvSpPr>
          <p:spPr bwMode="auto">
            <a:xfrm flipH="1">
              <a:off x="1651014" y="4087365"/>
              <a:ext cx="448077" cy="64269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98308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95" y="2800350"/>
            <a:ext cx="1462453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9" name="TextBox 58"/>
          <p:cNvSpPr txBox="1">
            <a:spLocks noChangeArrowheads="1"/>
          </p:cNvSpPr>
          <p:nvPr/>
        </p:nvSpPr>
        <p:spPr bwMode="auto">
          <a:xfrm>
            <a:off x="1206514" y="4337540"/>
            <a:ext cx="11624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0" name="오른쪽 화살표 59"/>
          <p:cNvSpPr/>
          <p:nvPr/>
        </p:nvSpPr>
        <p:spPr>
          <a:xfrm>
            <a:off x="3092465" y="1821474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8311" name="TextBox 60"/>
          <p:cNvSpPr txBox="1">
            <a:spLocks noChangeArrowheads="1"/>
          </p:cNvSpPr>
          <p:nvPr/>
        </p:nvSpPr>
        <p:spPr bwMode="auto">
          <a:xfrm>
            <a:off x="3527684" y="1968013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2" name="오른쪽 화살표 61"/>
          <p:cNvSpPr/>
          <p:nvPr/>
        </p:nvSpPr>
        <p:spPr>
          <a:xfrm rot="10800000">
            <a:off x="3092465" y="2536581"/>
            <a:ext cx="3632689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4" name="오른쪽 화살표 63"/>
          <p:cNvSpPr/>
          <p:nvPr/>
        </p:nvSpPr>
        <p:spPr>
          <a:xfrm>
            <a:off x="3083672" y="3253154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6" name="오른쪽 화살표 65"/>
          <p:cNvSpPr/>
          <p:nvPr/>
        </p:nvSpPr>
        <p:spPr>
          <a:xfrm rot="10800000">
            <a:off x="3079276" y="3996105"/>
            <a:ext cx="3632688" cy="578827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8" name="오른쪽 화살표 67"/>
          <p:cNvSpPr/>
          <p:nvPr/>
        </p:nvSpPr>
        <p:spPr>
          <a:xfrm>
            <a:off x="3070484" y="4709747"/>
            <a:ext cx="3632688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70" name="오른쪽 화살표 69"/>
          <p:cNvSpPr/>
          <p:nvPr/>
        </p:nvSpPr>
        <p:spPr>
          <a:xfrm rot="10800000">
            <a:off x="3070484" y="5423389"/>
            <a:ext cx="3632688" cy="578827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8317" name="TextBox 73"/>
          <p:cNvSpPr txBox="1">
            <a:spLocks noChangeArrowheads="1"/>
          </p:cNvSpPr>
          <p:nvPr/>
        </p:nvSpPr>
        <p:spPr bwMode="auto">
          <a:xfrm>
            <a:off x="7248294" y="4312628"/>
            <a:ext cx="11624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98318" name="TextBox 74"/>
          <p:cNvSpPr txBox="1">
            <a:spLocks noChangeArrowheads="1"/>
          </p:cNvSpPr>
          <p:nvPr/>
        </p:nvSpPr>
        <p:spPr bwMode="auto">
          <a:xfrm>
            <a:off x="4229603" y="2684586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AN=5500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19" name="TextBox 75"/>
          <p:cNvSpPr txBox="1">
            <a:spLocks noChangeArrowheads="1"/>
          </p:cNvSpPr>
          <p:nvPr/>
        </p:nvSpPr>
        <p:spPr bwMode="auto">
          <a:xfrm>
            <a:off x="4226672" y="4152902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AN=6100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20" name="TextBox 76"/>
          <p:cNvSpPr txBox="1">
            <a:spLocks noChangeArrowheads="1"/>
          </p:cNvSpPr>
          <p:nvPr/>
        </p:nvSpPr>
        <p:spPr bwMode="auto">
          <a:xfrm>
            <a:off x="4295545" y="5556740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AN=6400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21" name="TextBox 77"/>
          <p:cNvSpPr txBox="1">
            <a:spLocks noChangeArrowheads="1"/>
          </p:cNvSpPr>
          <p:nvPr/>
        </p:nvSpPr>
        <p:spPr bwMode="auto">
          <a:xfrm>
            <a:off x="3419246" y="3399693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600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22" name="TextBox 78"/>
          <p:cNvSpPr txBox="1">
            <a:spLocks noChangeArrowheads="1"/>
          </p:cNvSpPr>
          <p:nvPr/>
        </p:nvSpPr>
        <p:spPr bwMode="auto">
          <a:xfrm>
            <a:off x="3419246" y="4857751"/>
            <a:ext cx="234391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6100 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300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23" name="TextBox 1"/>
          <p:cNvSpPr txBox="1">
            <a:spLocks noChangeArrowheads="1"/>
          </p:cNvSpPr>
          <p:nvPr/>
        </p:nvSpPr>
        <p:spPr bwMode="auto">
          <a:xfrm>
            <a:off x="6993319" y="2807678"/>
            <a:ext cx="1643399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AN=SN+ </a:t>
            </a:r>
            <a:r>
              <a:rPr lang="en-US" altLang="ko-KR" sz="147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DataSize</a:t>
            </a:r>
            <a:endParaRPr lang="ko-KR" altLang="en-US" sz="147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026344" y="1821474"/>
            <a:ext cx="803409" cy="39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132730" y="1821474"/>
            <a:ext cx="803409" cy="397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39116" y="1821474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62949" y="1546359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SN=5000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186163" y="1545715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SN=5500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89693" y="1546891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SN=6100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4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99330" name="제목 1"/>
          <p:cNvSpPr>
            <a:spLocks noGrp="1"/>
          </p:cNvSpPr>
          <p:nvPr>
            <p:ph type="title" idx="4294967295"/>
          </p:nvPr>
        </p:nvSpPr>
        <p:spPr bwMode="auto">
          <a:xfrm>
            <a:off x="308132" y="378225"/>
            <a:ext cx="7280275" cy="4810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ko-KR" altLang="en-US" sz="2400" dirty="0">
                <a:ea typeface="함초롬바탕" panose="02030504000101010101"/>
              </a:rPr>
              <a:t>비정상적인 트래픽 전송 과정 </a:t>
            </a:r>
          </a:p>
        </p:txBody>
      </p:sp>
      <p:grpSp>
        <p:nvGrpSpPr>
          <p:cNvPr id="99331" name="그룹 3"/>
          <p:cNvGrpSpPr>
            <a:grpSpLocks/>
          </p:cNvGrpSpPr>
          <p:nvPr/>
        </p:nvGrpSpPr>
        <p:grpSpPr bwMode="auto">
          <a:xfrm flipH="1">
            <a:off x="7646900" y="2566443"/>
            <a:ext cx="868973" cy="942566"/>
            <a:chOff x="1533695" y="4087365"/>
            <a:chExt cx="838200" cy="1008269"/>
          </a:xfrm>
        </p:grpSpPr>
        <p:sp>
          <p:nvSpPr>
            <p:cNvPr id="6" name="Freeform 174"/>
            <p:cNvSpPr>
              <a:spLocks/>
            </p:cNvSpPr>
            <p:nvPr/>
          </p:nvSpPr>
          <p:spPr bwMode="auto">
            <a:xfrm rot="355818">
              <a:off x="2175420" y="4753566"/>
              <a:ext cx="74915" cy="53296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Freeform 175"/>
            <p:cNvSpPr>
              <a:spLocks/>
            </p:cNvSpPr>
            <p:nvPr/>
          </p:nvSpPr>
          <p:spPr bwMode="auto">
            <a:xfrm rot="355818" flipH="1">
              <a:off x="2234787" y="4802160"/>
              <a:ext cx="137108" cy="81512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6"/>
            <p:cNvSpPr>
              <a:spLocks/>
            </p:cNvSpPr>
            <p:nvPr/>
          </p:nvSpPr>
          <p:spPr bwMode="auto">
            <a:xfrm rot="355818">
              <a:off x="2229133" y="4830375"/>
              <a:ext cx="134281" cy="57998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7"/>
            <p:cNvSpPr>
              <a:spLocks/>
            </p:cNvSpPr>
            <p:nvPr/>
          </p:nvSpPr>
          <p:spPr bwMode="auto">
            <a:xfrm rot="355818" flipH="1">
              <a:off x="2263057" y="4797457"/>
              <a:ext cx="31097" cy="39189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8"/>
            <p:cNvSpPr>
              <a:spLocks/>
            </p:cNvSpPr>
            <p:nvPr/>
          </p:nvSpPr>
          <p:spPr bwMode="auto">
            <a:xfrm rot="355818">
              <a:off x="2247508" y="4795890"/>
              <a:ext cx="43819" cy="78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val 179"/>
            <p:cNvSpPr>
              <a:spLocks noChangeArrowheads="1"/>
            </p:cNvSpPr>
            <p:nvPr/>
          </p:nvSpPr>
          <p:spPr bwMode="auto">
            <a:xfrm rot="21219751">
              <a:off x="2267297" y="4792755"/>
              <a:ext cx="18376" cy="940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Freeform 180"/>
            <p:cNvSpPr>
              <a:spLocks/>
            </p:cNvSpPr>
            <p:nvPr/>
          </p:nvSpPr>
          <p:spPr bwMode="auto">
            <a:xfrm rot="355818">
              <a:off x="2239027" y="4799025"/>
              <a:ext cx="35338" cy="32918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2"/>
            <p:cNvSpPr>
              <a:spLocks/>
            </p:cNvSpPr>
            <p:nvPr/>
          </p:nvSpPr>
          <p:spPr bwMode="auto">
            <a:xfrm flipH="1">
              <a:off x="1772486" y="4767326"/>
              <a:ext cx="178189" cy="328308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3"/>
            <p:cNvSpPr>
              <a:spLocks/>
            </p:cNvSpPr>
            <p:nvPr/>
          </p:nvSpPr>
          <p:spPr bwMode="auto">
            <a:xfrm flipH="1">
              <a:off x="1786619" y="4752436"/>
              <a:ext cx="178189" cy="328308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4"/>
            <p:cNvSpPr>
              <a:spLocks/>
            </p:cNvSpPr>
            <p:nvPr/>
          </p:nvSpPr>
          <p:spPr bwMode="auto">
            <a:xfrm flipH="1">
              <a:off x="1799431" y="4828807"/>
              <a:ext cx="343478" cy="84647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5"/>
            <p:cNvSpPr>
              <a:spLocks/>
            </p:cNvSpPr>
            <p:nvPr/>
          </p:nvSpPr>
          <p:spPr bwMode="auto">
            <a:xfrm flipH="1">
              <a:off x="1885654" y="4850753"/>
              <a:ext cx="356200" cy="112862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6"/>
            <p:cNvSpPr>
              <a:spLocks/>
            </p:cNvSpPr>
            <p:nvPr/>
          </p:nvSpPr>
          <p:spPr bwMode="auto">
            <a:xfrm flipH="1">
              <a:off x="1819220" y="4915022"/>
              <a:ext cx="90463" cy="4859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7"/>
            <p:cNvSpPr>
              <a:spLocks/>
            </p:cNvSpPr>
            <p:nvPr/>
          </p:nvSpPr>
          <p:spPr bwMode="auto">
            <a:xfrm flipH="1">
              <a:off x="1754200" y="4925994"/>
              <a:ext cx="107425" cy="705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9"/>
            <p:cNvSpPr>
              <a:spLocks noChangeAspect="1"/>
            </p:cNvSpPr>
            <p:nvPr/>
          </p:nvSpPr>
          <p:spPr bwMode="auto">
            <a:xfrm>
              <a:off x="1533695" y="4524706"/>
              <a:ext cx="144176" cy="352695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90"/>
            <p:cNvSpPr>
              <a:spLocks noChangeAspect="1"/>
            </p:cNvSpPr>
            <p:nvPr/>
          </p:nvSpPr>
          <p:spPr bwMode="auto">
            <a:xfrm>
              <a:off x="1536522" y="4465140"/>
              <a:ext cx="619109" cy="288426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1"/>
            <p:cNvSpPr>
              <a:spLocks/>
            </p:cNvSpPr>
            <p:nvPr/>
          </p:nvSpPr>
          <p:spPr bwMode="auto">
            <a:xfrm>
              <a:off x="1672217" y="4661082"/>
              <a:ext cx="477760" cy="213184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2"/>
            <p:cNvSpPr>
              <a:spLocks/>
            </p:cNvSpPr>
            <p:nvPr/>
          </p:nvSpPr>
          <p:spPr bwMode="auto">
            <a:xfrm>
              <a:off x="1690592" y="4789620"/>
              <a:ext cx="144176" cy="5956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val 193"/>
            <p:cNvSpPr>
              <a:spLocks noChangeArrowheads="1"/>
            </p:cNvSpPr>
            <p:nvPr/>
          </p:nvSpPr>
          <p:spPr bwMode="auto">
            <a:xfrm>
              <a:off x="1809325" y="4797457"/>
              <a:ext cx="16962" cy="2037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Line 194"/>
            <p:cNvSpPr>
              <a:spLocks noChangeShapeType="1"/>
            </p:cNvSpPr>
            <p:nvPr/>
          </p:nvSpPr>
          <p:spPr bwMode="auto">
            <a:xfrm flipH="1">
              <a:off x="2032657" y="4706540"/>
              <a:ext cx="282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5"/>
            <p:cNvSpPr>
              <a:spLocks noChangeShapeType="1"/>
            </p:cNvSpPr>
            <p:nvPr/>
          </p:nvSpPr>
          <p:spPr bwMode="auto">
            <a:xfrm flipH="1">
              <a:off x="2021349" y="4708108"/>
              <a:ext cx="1414" cy="815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6"/>
            <p:cNvSpPr>
              <a:spLocks noChangeShapeType="1"/>
            </p:cNvSpPr>
            <p:nvPr/>
          </p:nvSpPr>
          <p:spPr bwMode="auto">
            <a:xfrm flipH="1">
              <a:off x="2045379" y="4704973"/>
              <a:ext cx="4240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7"/>
            <p:cNvSpPr>
              <a:spLocks noChangeShapeType="1"/>
            </p:cNvSpPr>
            <p:nvPr/>
          </p:nvSpPr>
          <p:spPr bwMode="auto">
            <a:xfrm flipH="1">
              <a:off x="2056687" y="4703405"/>
              <a:ext cx="282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8"/>
            <p:cNvSpPr>
              <a:spLocks noChangeShapeType="1"/>
            </p:cNvSpPr>
            <p:nvPr/>
          </p:nvSpPr>
          <p:spPr bwMode="auto">
            <a:xfrm flipH="1">
              <a:off x="2065168" y="4701838"/>
              <a:ext cx="7067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9"/>
            <p:cNvSpPr>
              <a:spLocks noChangeShapeType="1"/>
            </p:cNvSpPr>
            <p:nvPr/>
          </p:nvSpPr>
          <p:spPr bwMode="auto">
            <a:xfrm flipH="1">
              <a:off x="2076476" y="4698703"/>
              <a:ext cx="7067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200"/>
            <p:cNvSpPr>
              <a:spLocks noChangeShapeType="1"/>
            </p:cNvSpPr>
            <p:nvPr/>
          </p:nvSpPr>
          <p:spPr bwMode="auto">
            <a:xfrm flipH="1">
              <a:off x="2087784" y="4698703"/>
              <a:ext cx="1413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1"/>
            <p:cNvSpPr>
              <a:spLocks noChangeShapeType="1"/>
            </p:cNvSpPr>
            <p:nvPr/>
          </p:nvSpPr>
          <p:spPr bwMode="auto">
            <a:xfrm flipH="1">
              <a:off x="2097678" y="4692433"/>
              <a:ext cx="1414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2"/>
            <p:cNvSpPr>
              <a:spLocks noChangeShapeType="1"/>
            </p:cNvSpPr>
            <p:nvPr/>
          </p:nvSpPr>
          <p:spPr bwMode="auto">
            <a:xfrm flipH="1">
              <a:off x="2106159" y="4692433"/>
              <a:ext cx="2827" cy="7524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3"/>
            <p:cNvSpPr>
              <a:spLocks noChangeShapeType="1"/>
            </p:cNvSpPr>
            <p:nvPr/>
          </p:nvSpPr>
          <p:spPr bwMode="auto">
            <a:xfrm flipH="1">
              <a:off x="2117467" y="4690865"/>
              <a:ext cx="1414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4"/>
            <p:cNvSpPr>
              <a:spLocks noChangeShapeType="1"/>
            </p:cNvSpPr>
            <p:nvPr/>
          </p:nvSpPr>
          <p:spPr bwMode="auto">
            <a:xfrm flipH="1">
              <a:off x="2070822" y="4731620"/>
              <a:ext cx="1413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Freeform 205"/>
            <p:cNvSpPr>
              <a:spLocks/>
            </p:cNvSpPr>
            <p:nvPr/>
          </p:nvSpPr>
          <p:spPr bwMode="auto">
            <a:xfrm>
              <a:off x="1878587" y="4737891"/>
              <a:ext cx="79156" cy="62701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206"/>
            <p:cNvSpPr>
              <a:spLocks noChangeShapeType="1"/>
            </p:cNvSpPr>
            <p:nvPr/>
          </p:nvSpPr>
          <p:spPr bwMode="auto">
            <a:xfrm flipH="1">
              <a:off x="1889895" y="4773944"/>
              <a:ext cx="0" cy="1881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7"/>
            <p:cNvSpPr>
              <a:spLocks noChangeShapeType="1"/>
            </p:cNvSpPr>
            <p:nvPr/>
          </p:nvSpPr>
          <p:spPr bwMode="auto">
            <a:xfrm flipH="1">
              <a:off x="1950675" y="4758269"/>
              <a:ext cx="0" cy="20377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8"/>
            <p:cNvSpPr>
              <a:spLocks noChangeShapeType="1"/>
            </p:cNvSpPr>
            <p:nvPr/>
          </p:nvSpPr>
          <p:spPr bwMode="auto">
            <a:xfrm flipH="1">
              <a:off x="1943608" y="4767674"/>
              <a:ext cx="0" cy="15675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9"/>
            <p:cNvSpPr>
              <a:spLocks noChangeShapeType="1"/>
            </p:cNvSpPr>
            <p:nvPr/>
          </p:nvSpPr>
          <p:spPr bwMode="auto">
            <a:xfrm flipH="1">
              <a:off x="1898376" y="4781781"/>
              <a:ext cx="0" cy="1254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10"/>
            <p:cNvSpPr>
              <a:spLocks noChangeShapeType="1"/>
            </p:cNvSpPr>
            <p:nvPr/>
          </p:nvSpPr>
          <p:spPr bwMode="auto">
            <a:xfrm flipV="1">
              <a:off x="1908270" y="4783349"/>
              <a:ext cx="25443" cy="627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Freeform 211"/>
            <p:cNvSpPr>
              <a:spLocks/>
            </p:cNvSpPr>
            <p:nvPr/>
          </p:nvSpPr>
          <p:spPr bwMode="auto">
            <a:xfrm>
              <a:off x="1714622" y="4751999"/>
              <a:ext cx="100357" cy="37621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Line 212"/>
            <p:cNvSpPr>
              <a:spLocks noChangeShapeType="1"/>
            </p:cNvSpPr>
            <p:nvPr/>
          </p:nvSpPr>
          <p:spPr bwMode="auto">
            <a:xfrm flipV="1">
              <a:off x="1706141" y="4758269"/>
              <a:ext cx="113079" cy="23512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9938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7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7" name="Freeform 216"/>
              <p:cNvSpPr>
                <a:spLocks/>
              </p:cNvSpPr>
              <p:nvPr/>
            </p:nvSpPr>
            <p:spPr bwMode="auto">
              <a:xfrm flipH="1">
                <a:off x="685" y="3139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4" name="Oval 217"/>
            <p:cNvSpPr>
              <a:spLocks noChangeArrowheads="1"/>
            </p:cNvSpPr>
            <p:nvPr/>
          </p:nvSpPr>
          <p:spPr bwMode="auto">
            <a:xfrm>
              <a:off x="1683525" y="4543517"/>
              <a:ext cx="298246" cy="9248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Oval 218"/>
            <p:cNvSpPr>
              <a:spLocks noChangeArrowheads="1"/>
            </p:cNvSpPr>
            <p:nvPr/>
          </p:nvSpPr>
          <p:spPr bwMode="auto">
            <a:xfrm>
              <a:off x="1683525" y="4537246"/>
              <a:ext cx="298246" cy="90917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Freeform 219"/>
            <p:cNvSpPr>
              <a:spLocks/>
            </p:cNvSpPr>
            <p:nvPr/>
          </p:nvSpPr>
          <p:spPr bwMode="auto">
            <a:xfrm flipH="1">
              <a:off x="1663736" y="4088932"/>
              <a:ext cx="436768" cy="511016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20"/>
            <p:cNvSpPr>
              <a:spLocks/>
            </p:cNvSpPr>
            <p:nvPr/>
          </p:nvSpPr>
          <p:spPr bwMode="auto">
            <a:xfrm flipH="1">
              <a:off x="1723103" y="4502761"/>
              <a:ext cx="357613" cy="9718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1"/>
            <p:cNvSpPr>
              <a:spLocks/>
            </p:cNvSpPr>
            <p:nvPr/>
          </p:nvSpPr>
          <p:spPr bwMode="auto">
            <a:xfrm flipH="1">
              <a:off x="1651014" y="4146931"/>
              <a:ext cx="15549" cy="453016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val 222"/>
            <p:cNvSpPr>
              <a:spLocks noChangeArrowheads="1"/>
            </p:cNvSpPr>
            <p:nvPr/>
          </p:nvSpPr>
          <p:spPr bwMode="auto">
            <a:xfrm>
              <a:off x="2049619" y="4510599"/>
              <a:ext cx="12722" cy="28216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3"/>
            <p:cNvSpPr>
              <a:spLocks noChangeArrowheads="1"/>
            </p:cNvSpPr>
            <p:nvPr/>
          </p:nvSpPr>
          <p:spPr bwMode="auto">
            <a:xfrm>
              <a:off x="2025590" y="4516869"/>
              <a:ext cx="11308" cy="2351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4"/>
            <p:cNvSpPr>
              <a:spLocks noChangeArrowheads="1"/>
            </p:cNvSpPr>
            <p:nvPr/>
          </p:nvSpPr>
          <p:spPr bwMode="auto">
            <a:xfrm>
              <a:off x="1943608" y="4538814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5"/>
            <p:cNvSpPr>
              <a:spLocks noChangeArrowheads="1"/>
            </p:cNvSpPr>
            <p:nvPr/>
          </p:nvSpPr>
          <p:spPr bwMode="auto">
            <a:xfrm>
              <a:off x="1918165" y="4543517"/>
              <a:ext cx="12721" cy="1724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6"/>
            <p:cNvSpPr>
              <a:spLocks noChangeArrowheads="1"/>
            </p:cNvSpPr>
            <p:nvPr/>
          </p:nvSpPr>
          <p:spPr bwMode="auto">
            <a:xfrm>
              <a:off x="1889895" y="4548220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Freeform 227"/>
            <p:cNvSpPr>
              <a:spLocks/>
            </p:cNvSpPr>
            <p:nvPr/>
          </p:nvSpPr>
          <p:spPr bwMode="auto">
            <a:xfrm flipH="1">
              <a:off x="1704727" y="4139093"/>
              <a:ext cx="361854" cy="402856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8"/>
            <p:cNvSpPr>
              <a:spLocks/>
            </p:cNvSpPr>
            <p:nvPr/>
          </p:nvSpPr>
          <p:spPr bwMode="auto">
            <a:xfrm flipH="1">
              <a:off x="1651014" y="4087365"/>
              <a:ext cx="448077" cy="64268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99332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181" y="2122427"/>
            <a:ext cx="1462453" cy="139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3" name="TextBox 58"/>
          <p:cNvSpPr txBox="1">
            <a:spLocks noChangeArrowheads="1"/>
          </p:cNvSpPr>
          <p:nvPr/>
        </p:nvSpPr>
        <p:spPr bwMode="auto">
          <a:xfrm>
            <a:off x="1627100" y="3659618"/>
            <a:ext cx="11624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0" name="오른쪽 화살표 59"/>
          <p:cNvSpPr/>
          <p:nvPr/>
        </p:nvSpPr>
        <p:spPr>
          <a:xfrm>
            <a:off x="3513050" y="1143551"/>
            <a:ext cx="3632689" cy="58029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9335" name="TextBox 60"/>
          <p:cNvSpPr txBox="1">
            <a:spLocks noChangeArrowheads="1"/>
          </p:cNvSpPr>
          <p:nvPr/>
        </p:nvSpPr>
        <p:spPr bwMode="auto">
          <a:xfrm>
            <a:off x="3948270" y="1291556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2" name="오른쪽 화살표 61"/>
          <p:cNvSpPr/>
          <p:nvPr/>
        </p:nvSpPr>
        <p:spPr>
          <a:xfrm rot="10800000">
            <a:off x="3513050" y="1860125"/>
            <a:ext cx="3632689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4" name="오른쪽 화살표 63"/>
          <p:cNvSpPr/>
          <p:nvPr/>
        </p:nvSpPr>
        <p:spPr>
          <a:xfrm>
            <a:off x="3504258" y="2576697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6" name="오른쪽 화살표 65"/>
          <p:cNvSpPr/>
          <p:nvPr/>
        </p:nvSpPr>
        <p:spPr>
          <a:xfrm rot="10800000">
            <a:off x="3498396" y="3318182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8" name="오른쪽 화살표 67"/>
          <p:cNvSpPr/>
          <p:nvPr/>
        </p:nvSpPr>
        <p:spPr>
          <a:xfrm>
            <a:off x="3511585" y="5423829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70" name="오른쪽 화살표 69"/>
          <p:cNvSpPr/>
          <p:nvPr/>
        </p:nvSpPr>
        <p:spPr>
          <a:xfrm rot="10800000">
            <a:off x="3511585" y="6137471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9341" name="TextBox 73"/>
          <p:cNvSpPr txBox="1">
            <a:spLocks noChangeArrowheads="1"/>
          </p:cNvSpPr>
          <p:nvPr/>
        </p:nvSpPr>
        <p:spPr bwMode="auto">
          <a:xfrm>
            <a:off x="7668880" y="3634706"/>
            <a:ext cx="11624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99342" name="TextBox 74"/>
          <p:cNvSpPr txBox="1">
            <a:spLocks noChangeArrowheads="1"/>
          </p:cNvSpPr>
          <p:nvPr/>
        </p:nvSpPr>
        <p:spPr bwMode="auto">
          <a:xfrm>
            <a:off x="4632604" y="2006664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AN=5200 </a:t>
            </a:r>
            <a:r>
              <a:rPr lang="ko-KR" altLang="en-US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9343" name="TextBox 75"/>
          <p:cNvSpPr txBox="1">
            <a:spLocks noChangeArrowheads="1"/>
          </p:cNvSpPr>
          <p:nvPr/>
        </p:nvSpPr>
        <p:spPr bwMode="auto">
          <a:xfrm>
            <a:off x="4647257" y="3476444"/>
            <a:ext cx="108715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5400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9344" name="TextBox 76"/>
          <p:cNvSpPr txBox="1">
            <a:spLocks noChangeArrowheads="1"/>
          </p:cNvSpPr>
          <p:nvPr/>
        </p:nvSpPr>
        <p:spPr bwMode="auto">
          <a:xfrm>
            <a:off x="4720527" y="6272286"/>
            <a:ext cx="1350050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ACK # : 6000 </a:t>
            </a:r>
            <a:r>
              <a:rPr lang="ko-KR" altLang="en-US" sz="1477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9345" name="TextBox 77"/>
          <p:cNvSpPr txBox="1">
            <a:spLocks noChangeArrowheads="1"/>
          </p:cNvSpPr>
          <p:nvPr/>
        </p:nvSpPr>
        <p:spPr bwMode="auto">
          <a:xfrm>
            <a:off x="3839832" y="2721772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9346" name="TextBox 78"/>
          <p:cNvSpPr txBox="1">
            <a:spLocks noChangeArrowheads="1"/>
          </p:cNvSpPr>
          <p:nvPr/>
        </p:nvSpPr>
        <p:spPr bwMode="auto">
          <a:xfrm>
            <a:off x="3861813" y="5573298"/>
            <a:ext cx="234391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600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2142123" y="1461453"/>
            <a:ext cx="803409" cy="39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248509" y="1461453"/>
            <a:ext cx="803409" cy="397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54895" y="1461453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178728" y="1186338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SN=5000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301942" y="1185694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SN=5500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05471" y="1186870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SN=6100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오른쪽 화살표 77"/>
          <p:cNvSpPr/>
          <p:nvPr/>
        </p:nvSpPr>
        <p:spPr>
          <a:xfrm>
            <a:off x="3498499" y="4038948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79" name="오른쪽 화살표 78"/>
          <p:cNvSpPr/>
          <p:nvPr/>
        </p:nvSpPr>
        <p:spPr>
          <a:xfrm rot="10800000">
            <a:off x="3492637" y="4780433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80" name="TextBox 75"/>
          <p:cNvSpPr txBox="1">
            <a:spLocks noChangeArrowheads="1"/>
          </p:cNvSpPr>
          <p:nvPr/>
        </p:nvSpPr>
        <p:spPr bwMode="auto">
          <a:xfrm>
            <a:off x="4641498" y="4938695"/>
            <a:ext cx="108715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" name="TextBox 77"/>
          <p:cNvSpPr txBox="1">
            <a:spLocks noChangeArrowheads="1"/>
          </p:cNvSpPr>
          <p:nvPr/>
        </p:nvSpPr>
        <p:spPr bwMode="auto">
          <a:xfrm>
            <a:off x="3834073" y="4184023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7298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제목 1"/>
          <p:cNvSpPr>
            <a:spLocks noGrp="1"/>
          </p:cNvSpPr>
          <p:nvPr>
            <p:ph type="title" idx="4294967295"/>
          </p:nvPr>
        </p:nvSpPr>
        <p:spPr bwMode="auto">
          <a:xfrm>
            <a:off x="308132" y="378225"/>
            <a:ext cx="7280275" cy="4810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ko-KR" altLang="en-US" sz="2400" dirty="0">
                <a:ea typeface="함초롬바탕" panose="02030504000101010101"/>
              </a:rPr>
              <a:t>비정상적인 트래픽 </a:t>
            </a:r>
            <a:r>
              <a:rPr lang="ko-KR" altLang="en-US" sz="2400">
                <a:ea typeface="함초롬바탕" panose="02030504000101010101"/>
              </a:rPr>
              <a:t>전송 </a:t>
            </a:r>
            <a:r>
              <a:rPr lang="ko-KR" altLang="en-US" sz="2400" smtClean="0">
                <a:ea typeface="함초롬바탕" panose="02030504000101010101"/>
              </a:rPr>
              <a:t>과정 </a:t>
            </a:r>
            <a:endParaRPr lang="ko-KR" altLang="en-US" sz="2400" dirty="0">
              <a:ea typeface="함초롬바탕" panose="02030504000101010101"/>
            </a:endParaRPr>
          </a:p>
        </p:txBody>
      </p:sp>
      <p:grpSp>
        <p:nvGrpSpPr>
          <p:cNvPr id="99331" name="그룹 3"/>
          <p:cNvGrpSpPr>
            <a:grpSpLocks/>
          </p:cNvGrpSpPr>
          <p:nvPr/>
        </p:nvGrpSpPr>
        <p:grpSpPr bwMode="auto">
          <a:xfrm flipH="1">
            <a:off x="7759915" y="3745636"/>
            <a:ext cx="868973" cy="942566"/>
            <a:chOff x="1533695" y="4087365"/>
            <a:chExt cx="838200" cy="1008269"/>
          </a:xfrm>
        </p:grpSpPr>
        <p:sp>
          <p:nvSpPr>
            <p:cNvPr id="6" name="Freeform 174"/>
            <p:cNvSpPr>
              <a:spLocks/>
            </p:cNvSpPr>
            <p:nvPr/>
          </p:nvSpPr>
          <p:spPr bwMode="auto">
            <a:xfrm rot="355818">
              <a:off x="2175420" y="4753566"/>
              <a:ext cx="74915" cy="53296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Freeform 175"/>
            <p:cNvSpPr>
              <a:spLocks/>
            </p:cNvSpPr>
            <p:nvPr/>
          </p:nvSpPr>
          <p:spPr bwMode="auto">
            <a:xfrm rot="355818" flipH="1">
              <a:off x="2234787" y="4802160"/>
              <a:ext cx="137108" cy="81512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6"/>
            <p:cNvSpPr>
              <a:spLocks/>
            </p:cNvSpPr>
            <p:nvPr/>
          </p:nvSpPr>
          <p:spPr bwMode="auto">
            <a:xfrm rot="355818">
              <a:off x="2229133" y="4830375"/>
              <a:ext cx="134281" cy="57998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7"/>
            <p:cNvSpPr>
              <a:spLocks/>
            </p:cNvSpPr>
            <p:nvPr/>
          </p:nvSpPr>
          <p:spPr bwMode="auto">
            <a:xfrm rot="355818" flipH="1">
              <a:off x="2263057" y="4797457"/>
              <a:ext cx="31097" cy="39189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8"/>
            <p:cNvSpPr>
              <a:spLocks/>
            </p:cNvSpPr>
            <p:nvPr/>
          </p:nvSpPr>
          <p:spPr bwMode="auto">
            <a:xfrm rot="355818">
              <a:off x="2247508" y="4795890"/>
              <a:ext cx="43819" cy="78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val 179"/>
            <p:cNvSpPr>
              <a:spLocks noChangeArrowheads="1"/>
            </p:cNvSpPr>
            <p:nvPr/>
          </p:nvSpPr>
          <p:spPr bwMode="auto">
            <a:xfrm rot="21219751">
              <a:off x="2267297" y="4792755"/>
              <a:ext cx="18376" cy="940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Freeform 180"/>
            <p:cNvSpPr>
              <a:spLocks/>
            </p:cNvSpPr>
            <p:nvPr/>
          </p:nvSpPr>
          <p:spPr bwMode="auto">
            <a:xfrm rot="355818">
              <a:off x="2239027" y="4799025"/>
              <a:ext cx="35338" cy="32918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2"/>
            <p:cNvSpPr>
              <a:spLocks/>
            </p:cNvSpPr>
            <p:nvPr/>
          </p:nvSpPr>
          <p:spPr bwMode="auto">
            <a:xfrm flipH="1">
              <a:off x="1772486" y="4767326"/>
              <a:ext cx="178189" cy="328308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3"/>
            <p:cNvSpPr>
              <a:spLocks/>
            </p:cNvSpPr>
            <p:nvPr/>
          </p:nvSpPr>
          <p:spPr bwMode="auto">
            <a:xfrm flipH="1">
              <a:off x="1786619" y="4752436"/>
              <a:ext cx="178189" cy="328308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4"/>
            <p:cNvSpPr>
              <a:spLocks/>
            </p:cNvSpPr>
            <p:nvPr/>
          </p:nvSpPr>
          <p:spPr bwMode="auto">
            <a:xfrm flipH="1">
              <a:off x="1799431" y="4828807"/>
              <a:ext cx="343478" cy="84647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5"/>
            <p:cNvSpPr>
              <a:spLocks/>
            </p:cNvSpPr>
            <p:nvPr/>
          </p:nvSpPr>
          <p:spPr bwMode="auto">
            <a:xfrm flipH="1">
              <a:off x="1885654" y="4850753"/>
              <a:ext cx="356200" cy="112862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6"/>
            <p:cNvSpPr>
              <a:spLocks/>
            </p:cNvSpPr>
            <p:nvPr/>
          </p:nvSpPr>
          <p:spPr bwMode="auto">
            <a:xfrm flipH="1">
              <a:off x="1819220" y="4915022"/>
              <a:ext cx="90463" cy="4859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7"/>
            <p:cNvSpPr>
              <a:spLocks/>
            </p:cNvSpPr>
            <p:nvPr/>
          </p:nvSpPr>
          <p:spPr bwMode="auto">
            <a:xfrm flipH="1">
              <a:off x="1754200" y="4925994"/>
              <a:ext cx="107425" cy="705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9"/>
            <p:cNvSpPr>
              <a:spLocks noChangeAspect="1"/>
            </p:cNvSpPr>
            <p:nvPr/>
          </p:nvSpPr>
          <p:spPr bwMode="auto">
            <a:xfrm>
              <a:off x="1533695" y="4524706"/>
              <a:ext cx="144176" cy="352695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90"/>
            <p:cNvSpPr>
              <a:spLocks noChangeAspect="1"/>
            </p:cNvSpPr>
            <p:nvPr/>
          </p:nvSpPr>
          <p:spPr bwMode="auto">
            <a:xfrm>
              <a:off x="1536522" y="4465140"/>
              <a:ext cx="619109" cy="288426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1"/>
            <p:cNvSpPr>
              <a:spLocks/>
            </p:cNvSpPr>
            <p:nvPr/>
          </p:nvSpPr>
          <p:spPr bwMode="auto">
            <a:xfrm>
              <a:off x="1672217" y="4661082"/>
              <a:ext cx="477760" cy="213184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2"/>
            <p:cNvSpPr>
              <a:spLocks/>
            </p:cNvSpPr>
            <p:nvPr/>
          </p:nvSpPr>
          <p:spPr bwMode="auto">
            <a:xfrm>
              <a:off x="1690592" y="4789620"/>
              <a:ext cx="144176" cy="5956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val 193"/>
            <p:cNvSpPr>
              <a:spLocks noChangeArrowheads="1"/>
            </p:cNvSpPr>
            <p:nvPr/>
          </p:nvSpPr>
          <p:spPr bwMode="auto">
            <a:xfrm>
              <a:off x="1809325" y="4797457"/>
              <a:ext cx="16962" cy="2037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Line 194"/>
            <p:cNvSpPr>
              <a:spLocks noChangeShapeType="1"/>
            </p:cNvSpPr>
            <p:nvPr/>
          </p:nvSpPr>
          <p:spPr bwMode="auto">
            <a:xfrm flipH="1">
              <a:off x="2032657" y="4706540"/>
              <a:ext cx="282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5"/>
            <p:cNvSpPr>
              <a:spLocks noChangeShapeType="1"/>
            </p:cNvSpPr>
            <p:nvPr/>
          </p:nvSpPr>
          <p:spPr bwMode="auto">
            <a:xfrm flipH="1">
              <a:off x="2021349" y="4708108"/>
              <a:ext cx="1414" cy="815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6"/>
            <p:cNvSpPr>
              <a:spLocks noChangeShapeType="1"/>
            </p:cNvSpPr>
            <p:nvPr/>
          </p:nvSpPr>
          <p:spPr bwMode="auto">
            <a:xfrm flipH="1">
              <a:off x="2045379" y="4704973"/>
              <a:ext cx="4240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7"/>
            <p:cNvSpPr>
              <a:spLocks noChangeShapeType="1"/>
            </p:cNvSpPr>
            <p:nvPr/>
          </p:nvSpPr>
          <p:spPr bwMode="auto">
            <a:xfrm flipH="1">
              <a:off x="2056687" y="4703405"/>
              <a:ext cx="282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8"/>
            <p:cNvSpPr>
              <a:spLocks noChangeShapeType="1"/>
            </p:cNvSpPr>
            <p:nvPr/>
          </p:nvSpPr>
          <p:spPr bwMode="auto">
            <a:xfrm flipH="1">
              <a:off x="2065168" y="4701838"/>
              <a:ext cx="7067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9"/>
            <p:cNvSpPr>
              <a:spLocks noChangeShapeType="1"/>
            </p:cNvSpPr>
            <p:nvPr/>
          </p:nvSpPr>
          <p:spPr bwMode="auto">
            <a:xfrm flipH="1">
              <a:off x="2076476" y="4698703"/>
              <a:ext cx="7067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200"/>
            <p:cNvSpPr>
              <a:spLocks noChangeShapeType="1"/>
            </p:cNvSpPr>
            <p:nvPr/>
          </p:nvSpPr>
          <p:spPr bwMode="auto">
            <a:xfrm flipH="1">
              <a:off x="2087784" y="4698703"/>
              <a:ext cx="1413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1"/>
            <p:cNvSpPr>
              <a:spLocks noChangeShapeType="1"/>
            </p:cNvSpPr>
            <p:nvPr/>
          </p:nvSpPr>
          <p:spPr bwMode="auto">
            <a:xfrm flipH="1">
              <a:off x="2097678" y="4692433"/>
              <a:ext cx="1414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2"/>
            <p:cNvSpPr>
              <a:spLocks noChangeShapeType="1"/>
            </p:cNvSpPr>
            <p:nvPr/>
          </p:nvSpPr>
          <p:spPr bwMode="auto">
            <a:xfrm flipH="1">
              <a:off x="2106159" y="4692433"/>
              <a:ext cx="2827" cy="7524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3"/>
            <p:cNvSpPr>
              <a:spLocks noChangeShapeType="1"/>
            </p:cNvSpPr>
            <p:nvPr/>
          </p:nvSpPr>
          <p:spPr bwMode="auto">
            <a:xfrm flipH="1">
              <a:off x="2117467" y="4690865"/>
              <a:ext cx="1414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4"/>
            <p:cNvSpPr>
              <a:spLocks noChangeShapeType="1"/>
            </p:cNvSpPr>
            <p:nvPr/>
          </p:nvSpPr>
          <p:spPr bwMode="auto">
            <a:xfrm flipH="1">
              <a:off x="2070822" y="4731620"/>
              <a:ext cx="1413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Freeform 205"/>
            <p:cNvSpPr>
              <a:spLocks/>
            </p:cNvSpPr>
            <p:nvPr/>
          </p:nvSpPr>
          <p:spPr bwMode="auto">
            <a:xfrm>
              <a:off x="1878587" y="4737891"/>
              <a:ext cx="79156" cy="62701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206"/>
            <p:cNvSpPr>
              <a:spLocks noChangeShapeType="1"/>
            </p:cNvSpPr>
            <p:nvPr/>
          </p:nvSpPr>
          <p:spPr bwMode="auto">
            <a:xfrm flipH="1">
              <a:off x="1889895" y="4773944"/>
              <a:ext cx="0" cy="1881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7"/>
            <p:cNvSpPr>
              <a:spLocks noChangeShapeType="1"/>
            </p:cNvSpPr>
            <p:nvPr/>
          </p:nvSpPr>
          <p:spPr bwMode="auto">
            <a:xfrm flipH="1">
              <a:off x="1950675" y="4758269"/>
              <a:ext cx="0" cy="20377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8"/>
            <p:cNvSpPr>
              <a:spLocks noChangeShapeType="1"/>
            </p:cNvSpPr>
            <p:nvPr/>
          </p:nvSpPr>
          <p:spPr bwMode="auto">
            <a:xfrm flipH="1">
              <a:off x="1943608" y="4767674"/>
              <a:ext cx="0" cy="15675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9"/>
            <p:cNvSpPr>
              <a:spLocks noChangeShapeType="1"/>
            </p:cNvSpPr>
            <p:nvPr/>
          </p:nvSpPr>
          <p:spPr bwMode="auto">
            <a:xfrm flipH="1">
              <a:off x="1898376" y="4781781"/>
              <a:ext cx="0" cy="1254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10"/>
            <p:cNvSpPr>
              <a:spLocks noChangeShapeType="1"/>
            </p:cNvSpPr>
            <p:nvPr/>
          </p:nvSpPr>
          <p:spPr bwMode="auto">
            <a:xfrm flipV="1">
              <a:off x="1908270" y="4783349"/>
              <a:ext cx="25443" cy="627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Freeform 211"/>
            <p:cNvSpPr>
              <a:spLocks/>
            </p:cNvSpPr>
            <p:nvPr/>
          </p:nvSpPr>
          <p:spPr bwMode="auto">
            <a:xfrm>
              <a:off x="1714622" y="4751999"/>
              <a:ext cx="100357" cy="37621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Line 212"/>
            <p:cNvSpPr>
              <a:spLocks noChangeShapeType="1"/>
            </p:cNvSpPr>
            <p:nvPr/>
          </p:nvSpPr>
          <p:spPr bwMode="auto">
            <a:xfrm flipV="1">
              <a:off x="1706141" y="4758269"/>
              <a:ext cx="113079" cy="23512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9938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7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7" name="Freeform 216"/>
              <p:cNvSpPr>
                <a:spLocks/>
              </p:cNvSpPr>
              <p:nvPr/>
            </p:nvSpPr>
            <p:spPr bwMode="auto">
              <a:xfrm flipH="1">
                <a:off x="685" y="3139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4" name="Oval 217"/>
            <p:cNvSpPr>
              <a:spLocks noChangeArrowheads="1"/>
            </p:cNvSpPr>
            <p:nvPr/>
          </p:nvSpPr>
          <p:spPr bwMode="auto">
            <a:xfrm>
              <a:off x="1683525" y="4543517"/>
              <a:ext cx="298246" cy="9248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Oval 218"/>
            <p:cNvSpPr>
              <a:spLocks noChangeArrowheads="1"/>
            </p:cNvSpPr>
            <p:nvPr/>
          </p:nvSpPr>
          <p:spPr bwMode="auto">
            <a:xfrm>
              <a:off x="1683525" y="4537246"/>
              <a:ext cx="298246" cy="90917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Freeform 219"/>
            <p:cNvSpPr>
              <a:spLocks/>
            </p:cNvSpPr>
            <p:nvPr/>
          </p:nvSpPr>
          <p:spPr bwMode="auto">
            <a:xfrm flipH="1">
              <a:off x="1663736" y="4088932"/>
              <a:ext cx="436768" cy="511016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20"/>
            <p:cNvSpPr>
              <a:spLocks/>
            </p:cNvSpPr>
            <p:nvPr/>
          </p:nvSpPr>
          <p:spPr bwMode="auto">
            <a:xfrm flipH="1">
              <a:off x="1723103" y="4502761"/>
              <a:ext cx="357613" cy="9718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1"/>
            <p:cNvSpPr>
              <a:spLocks/>
            </p:cNvSpPr>
            <p:nvPr/>
          </p:nvSpPr>
          <p:spPr bwMode="auto">
            <a:xfrm flipH="1">
              <a:off x="1651014" y="4146931"/>
              <a:ext cx="15549" cy="453016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val 222"/>
            <p:cNvSpPr>
              <a:spLocks noChangeArrowheads="1"/>
            </p:cNvSpPr>
            <p:nvPr/>
          </p:nvSpPr>
          <p:spPr bwMode="auto">
            <a:xfrm>
              <a:off x="2049619" y="4510599"/>
              <a:ext cx="12722" cy="28216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3"/>
            <p:cNvSpPr>
              <a:spLocks noChangeArrowheads="1"/>
            </p:cNvSpPr>
            <p:nvPr/>
          </p:nvSpPr>
          <p:spPr bwMode="auto">
            <a:xfrm>
              <a:off x="2025590" y="4516869"/>
              <a:ext cx="11308" cy="2351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4"/>
            <p:cNvSpPr>
              <a:spLocks noChangeArrowheads="1"/>
            </p:cNvSpPr>
            <p:nvPr/>
          </p:nvSpPr>
          <p:spPr bwMode="auto">
            <a:xfrm>
              <a:off x="1943608" y="4538814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5"/>
            <p:cNvSpPr>
              <a:spLocks noChangeArrowheads="1"/>
            </p:cNvSpPr>
            <p:nvPr/>
          </p:nvSpPr>
          <p:spPr bwMode="auto">
            <a:xfrm>
              <a:off x="1918165" y="4543517"/>
              <a:ext cx="12721" cy="1724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6"/>
            <p:cNvSpPr>
              <a:spLocks noChangeArrowheads="1"/>
            </p:cNvSpPr>
            <p:nvPr/>
          </p:nvSpPr>
          <p:spPr bwMode="auto">
            <a:xfrm>
              <a:off x="1889895" y="4548220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Freeform 227"/>
            <p:cNvSpPr>
              <a:spLocks/>
            </p:cNvSpPr>
            <p:nvPr/>
          </p:nvSpPr>
          <p:spPr bwMode="auto">
            <a:xfrm flipH="1">
              <a:off x="1704727" y="4139093"/>
              <a:ext cx="361854" cy="402856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8"/>
            <p:cNvSpPr>
              <a:spLocks/>
            </p:cNvSpPr>
            <p:nvPr/>
          </p:nvSpPr>
          <p:spPr bwMode="auto">
            <a:xfrm flipH="1">
              <a:off x="1651014" y="4087365"/>
              <a:ext cx="448077" cy="64268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99332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196" y="3301620"/>
            <a:ext cx="1462453" cy="139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3" name="TextBox 58"/>
          <p:cNvSpPr txBox="1">
            <a:spLocks noChangeArrowheads="1"/>
          </p:cNvSpPr>
          <p:nvPr/>
        </p:nvSpPr>
        <p:spPr bwMode="auto">
          <a:xfrm>
            <a:off x="1740115" y="4838811"/>
            <a:ext cx="11624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0" name="오른쪽 화살표 59"/>
          <p:cNvSpPr/>
          <p:nvPr/>
        </p:nvSpPr>
        <p:spPr>
          <a:xfrm>
            <a:off x="3626065" y="2322744"/>
            <a:ext cx="3632689" cy="58029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9335" name="TextBox 60"/>
          <p:cNvSpPr txBox="1">
            <a:spLocks noChangeArrowheads="1"/>
          </p:cNvSpPr>
          <p:nvPr/>
        </p:nvSpPr>
        <p:spPr bwMode="auto">
          <a:xfrm>
            <a:off x="4061285" y="2470749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2" name="오른쪽 화살표 61"/>
          <p:cNvSpPr/>
          <p:nvPr/>
        </p:nvSpPr>
        <p:spPr>
          <a:xfrm rot="10800000">
            <a:off x="5013787" y="3039318"/>
            <a:ext cx="2244966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4" name="오른쪽 화살표 63"/>
          <p:cNvSpPr/>
          <p:nvPr/>
        </p:nvSpPr>
        <p:spPr>
          <a:xfrm>
            <a:off x="3617273" y="3755890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6" name="오른쪽 화살표 65"/>
          <p:cNvSpPr/>
          <p:nvPr/>
        </p:nvSpPr>
        <p:spPr>
          <a:xfrm rot="10800000">
            <a:off x="3611411" y="4497375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9341" name="TextBox 73"/>
          <p:cNvSpPr txBox="1">
            <a:spLocks noChangeArrowheads="1"/>
          </p:cNvSpPr>
          <p:nvPr/>
        </p:nvSpPr>
        <p:spPr bwMode="auto">
          <a:xfrm>
            <a:off x="7781895" y="4813899"/>
            <a:ext cx="11624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99342" name="TextBox 74"/>
          <p:cNvSpPr txBox="1">
            <a:spLocks noChangeArrowheads="1"/>
          </p:cNvSpPr>
          <p:nvPr/>
        </p:nvSpPr>
        <p:spPr bwMode="auto">
          <a:xfrm>
            <a:off x="5837572" y="3155092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AN=5500 </a:t>
            </a:r>
            <a:r>
              <a:rPr lang="ko-KR" altLang="en-US" sz="1477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77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9343" name="TextBox 75"/>
          <p:cNvSpPr txBox="1">
            <a:spLocks noChangeArrowheads="1"/>
          </p:cNvSpPr>
          <p:nvPr/>
        </p:nvSpPr>
        <p:spPr bwMode="auto">
          <a:xfrm>
            <a:off x="4760272" y="4655637"/>
            <a:ext cx="108715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77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</a:t>
            </a:r>
            <a:r>
              <a:rPr lang="ko-KR" altLang="en-US" sz="1477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77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9345" name="TextBox 77"/>
          <p:cNvSpPr txBox="1">
            <a:spLocks noChangeArrowheads="1"/>
          </p:cNvSpPr>
          <p:nvPr/>
        </p:nvSpPr>
        <p:spPr bwMode="auto">
          <a:xfrm>
            <a:off x="3952847" y="3900965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2255138" y="2640646"/>
            <a:ext cx="803409" cy="39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361524" y="2640646"/>
            <a:ext cx="803409" cy="397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67910" y="2640646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291743" y="2365531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SN=5000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414957" y="2364887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SN=5500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18486" y="2366063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SN=6100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오른쪽 화살표 77"/>
          <p:cNvSpPr/>
          <p:nvPr/>
        </p:nvSpPr>
        <p:spPr>
          <a:xfrm>
            <a:off x="3611514" y="5218141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81" name="TextBox 77"/>
          <p:cNvSpPr txBox="1">
            <a:spLocks noChangeArrowheads="1"/>
          </p:cNvSpPr>
          <p:nvPr/>
        </p:nvSpPr>
        <p:spPr bwMode="auto">
          <a:xfrm>
            <a:off x="3947088" y="5363216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</a:t>
            </a:r>
            <a:r>
              <a:rPr lang="en-US" altLang="ko-KR" sz="1477" dirty="0" smtClean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600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2" name="그림 8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64" y="3475080"/>
            <a:ext cx="845645" cy="845645"/>
          </a:xfrm>
          <a:prstGeom prst="rect">
            <a:avLst/>
          </a:prstGeom>
        </p:spPr>
      </p:pic>
      <p:sp>
        <p:nvSpPr>
          <p:cNvPr id="83" name="폭발 1 82"/>
          <p:cNvSpPr/>
          <p:nvPr/>
        </p:nvSpPr>
        <p:spPr>
          <a:xfrm>
            <a:off x="4473263" y="2987855"/>
            <a:ext cx="758330" cy="562621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4" name="TextBox 83"/>
          <p:cNvSpPr txBox="1"/>
          <p:nvPr/>
        </p:nvSpPr>
        <p:spPr>
          <a:xfrm>
            <a:off x="556255" y="1102416"/>
            <a:ext cx="2765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6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ko-KR" altLang="en-US" sz="16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송신측에서 재전송 시도 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405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 flipH="1">
            <a:off x="7440027" y="2120443"/>
            <a:ext cx="941018" cy="1023754"/>
            <a:chOff x="1533695" y="4087365"/>
            <a:chExt cx="838200" cy="1011237"/>
          </a:xfrm>
        </p:grpSpPr>
        <p:sp>
          <p:nvSpPr>
            <p:cNvPr id="7" name="Freeform 174"/>
            <p:cNvSpPr>
              <a:spLocks/>
            </p:cNvSpPr>
            <p:nvPr/>
          </p:nvSpPr>
          <p:spPr bwMode="auto">
            <a:xfrm rot="355818">
              <a:off x="2175045" y="4754115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 rot="355818" flipH="1">
              <a:off x="2235370" y="4801740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9" name="Freeform 176"/>
            <p:cNvSpPr>
              <a:spLocks/>
            </p:cNvSpPr>
            <p:nvPr/>
          </p:nvSpPr>
          <p:spPr bwMode="auto">
            <a:xfrm rot="355818">
              <a:off x="2229020" y="4830315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0" name="Freeform 177"/>
            <p:cNvSpPr>
              <a:spLocks/>
            </p:cNvSpPr>
            <p:nvPr/>
          </p:nvSpPr>
          <p:spPr bwMode="auto">
            <a:xfrm rot="355818" flipH="1">
              <a:off x="2262358" y="4796977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Freeform 178"/>
            <p:cNvSpPr>
              <a:spLocks/>
            </p:cNvSpPr>
            <p:nvPr/>
          </p:nvSpPr>
          <p:spPr bwMode="auto">
            <a:xfrm rot="355818">
              <a:off x="2248070" y="4795390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Oval 179"/>
            <p:cNvSpPr>
              <a:spLocks noChangeArrowheads="1"/>
            </p:cNvSpPr>
            <p:nvPr/>
          </p:nvSpPr>
          <p:spPr bwMode="auto">
            <a:xfrm rot="21219751">
              <a:off x="2267120" y="4792215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Freeform 180"/>
            <p:cNvSpPr>
              <a:spLocks/>
            </p:cNvSpPr>
            <p:nvPr/>
          </p:nvSpPr>
          <p:spPr bwMode="auto">
            <a:xfrm rot="355818">
              <a:off x="2238545" y="4798565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4" name="Freeform 182"/>
            <p:cNvSpPr>
              <a:spLocks/>
            </p:cNvSpPr>
            <p:nvPr/>
          </p:nvSpPr>
          <p:spPr bwMode="auto">
            <a:xfrm flipH="1">
              <a:off x="1760708" y="4763640"/>
              <a:ext cx="190500" cy="334962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Freeform 183"/>
            <p:cNvSpPr>
              <a:spLocks/>
            </p:cNvSpPr>
            <p:nvPr/>
          </p:nvSpPr>
          <p:spPr bwMode="auto">
            <a:xfrm flipH="1">
              <a:off x="1778170" y="4750940"/>
              <a:ext cx="187325" cy="331787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6" name="Freeform 184"/>
            <p:cNvSpPr>
              <a:spLocks/>
            </p:cNvSpPr>
            <p:nvPr/>
          </p:nvSpPr>
          <p:spPr bwMode="auto">
            <a:xfrm flipH="1">
              <a:off x="1798808" y="4828727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7" name="Freeform 185"/>
            <p:cNvSpPr>
              <a:spLocks/>
            </p:cNvSpPr>
            <p:nvPr/>
          </p:nvSpPr>
          <p:spPr bwMode="auto">
            <a:xfrm flipH="1">
              <a:off x="1886120" y="4850952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" name="Freeform 186"/>
            <p:cNvSpPr>
              <a:spLocks/>
            </p:cNvSpPr>
            <p:nvPr/>
          </p:nvSpPr>
          <p:spPr bwMode="auto">
            <a:xfrm flipH="1">
              <a:off x="1819445" y="4914452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Freeform 187"/>
            <p:cNvSpPr>
              <a:spLocks/>
            </p:cNvSpPr>
            <p:nvPr/>
          </p:nvSpPr>
          <p:spPr bwMode="auto">
            <a:xfrm flipH="1">
              <a:off x="1754358" y="4925565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Freeform 189"/>
            <p:cNvSpPr>
              <a:spLocks noChangeAspect="1"/>
            </p:cNvSpPr>
            <p:nvPr/>
          </p:nvSpPr>
          <p:spPr bwMode="auto">
            <a:xfrm>
              <a:off x="1533695" y="4523927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1" name="Freeform 190"/>
            <p:cNvSpPr>
              <a:spLocks noChangeAspect="1"/>
            </p:cNvSpPr>
            <p:nvPr/>
          </p:nvSpPr>
          <p:spPr bwMode="auto">
            <a:xfrm>
              <a:off x="1536870" y="4465190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Freeform 191"/>
            <p:cNvSpPr>
              <a:spLocks/>
            </p:cNvSpPr>
            <p:nvPr/>
          </p:nvSpPr>
          <p:spPr bwMode="auto">
            <a:xfrm>
              <a:off x="1671808" y="4660452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3" name="Freeform 192"/>
            <p:cNvSpPr>
              <a:spLocks/>
            </p:cNvSpPr>
            <p:nvPr/>
          </p:nvSpPr>
          <p:spPr bwMode="auto">
            <a:xfrm>
              <a:off x="1690858" y="4789040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4" name="Oval 193"/>
            <p:cNvSpPr>
              <a:spLocks noChangeArrowheads="1"/>
            </p:cNvSpPr>
            <p:nvPr/>
          </p:nvSpPr>
          <p:spPr bwMode="auto">
            <a:xfrm>
              <a:off x="1809920" y="4796977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Line 194"/>
            <p:cNvSpPr>
              <a:spLocks noChangeShapeType="1"/>
            </p:cNvSpPr>
            <p:nvPr/>
          </p:nvSpPr>
          <p:spPr bwMode="auto">
            <a:xfrm flipH="1">
              <a:off x="2032170" y="4706490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6" name="Line 195"/>
            <p:cNvSpPr>
              <a:spLocks noChangeShapeType="1"/>
            </p:cNvSpPr>
            <p:nvPr/>
          </p:nvSpPr>
          <p:spPr bwMode="auto">
            <a:xfrm flipH="1">
              <a:off x="2021058" y="4708077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7" name="Line 196"/>
            <p:cNvSpPr>
              <a:spLocks noChangeShapeType="1"/>
            </p:cNvSpPr>
            <p:nvPr/>
          </p:nvSpPr>
          <p:spPr bwMode="auto">
            <a:xfrm flipH="1">
              <a:off x="2044870" y="4704902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8" name="Line 197"/>
            <p:cNvSpPr>
              <a:spLocks noChangeShapeType="1"/>
            </p:cNvSpPr>
            <p:nvPr/>
          </p:nvSpPr>
          <p:spPr bwMode="auto">
            <a:xfrm flipH="1">
              <a:off x="2055983" y="4703315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9" name="Line 198"/>
            <p:cNvSpPr>
              <a:spLocks noChangeShapeType="1"/>
            </p:cNvSpPr>
            <p:nvPr/>
          </p:nvSpPr>
          <p:spPr bwMode="auto">
            <a:xfrm flipH="1">
              <a:off x="2065508" y="4701727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0" name="Line 199"/>
            <p:cNvSpPr>
              <a:spLocks noChangeShapeType="1"/>
            </p:cNvSpPr>
            <p:nvPr/>
          </p:nvSpPr>
          <p:spPr bwMode="auto">
            <a:xfrm flipH="1">
              <a:off x="2076620" y="4698552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1" name="Line 200"/>
            <p:cNvSpPr>
              <a:spLocks noChangeShapeType="1"/>
            </p:cNvSpPr>
            <p:nvPr/>
          </p:nvSpPr>
          <p:spPr bwMode="auto">
            <a:xfrm flipH="1">
              <a:off x="2087733" y="469855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2" name="Line 201"/>
            <p:cNvSpPr>
              <a:spLocks noChangeShapeType="1"/>
            </p:cNvSpPr>
            <p:nvPr/>
          </p:nvSpPr>
          <p:spPr bwMode="auto">
            <a:xfrm flipH="1">
              <a:off x="2097258" y="4692202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3" name="Line 202"/>
            <p:cNvSpPr>
              <a:spLocks noChangeShapeType="1"/>
            </p:cNvSpPr>
            <p:nvPr/>
          </p:nvSpPr>
          <p:spPr bwMode="auto">
            <a:xfrm flipH="1">
              <a:off x="2106783" y="469220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4" name="Line 203"/>
            <p:cNvSpPr>
              <a:spLocks noChangeShapeType="1"/>
            </p:cNvSpPr>
            <p:nvPr/>
          </p:nvSpPr>
          <p:spPr bwMode="auto">
            <a:xfrm flipH="1">
              <a:off x="2117895" y="4690615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5" name="Line 204"/>
            <p:cNvSpPr>
              <a:spLocks noChangeShapeType="1"/>
            </p:cNvSpPr>
            <p:nvPr/>
          </p:nvSpPr>
          <p:spPr bwMode="auto">
            <a:xfrm flipH="1">
              <a:off x="2071064" y="4731896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6" name="Freeform 205"/>
            <p:cNvSpPr>
              <a:spLocks/>
            </p:cNvSpPr>
            <p:nvPr/>
          </p:nvSpPr>
          <p:spPr bwMode="auto">
            <a:xfrm>
              <a:off x="1878183" y="4738240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7" name="Line 206"/>
            <p:cNvSpPr>
              <a:spLocks noChangeShapeType="1"/>
            </p:cNvSpPr>
            <p:nvPr/>
          </p:nvSpPr>
          <p:spPr bwMode="auto">
            <a:xfrm flipH="1">
              <a:off x="1889295" y="4773165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8" name="Line 207"/>
            <p:cNvSpPr>
              <a:spLocks noChangeShapeType="1"/>
            </p:cNvSpPr>
            <p:nvPr/>
          </p:nvSpPr>
          <p:spPr bwMode="auto">
            <a:xfrm flipH="1">
              <a:off x="1951208" y="4758877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9" name="Line 208"/>
            <p:cNvSpPr>
              <a:spLocks noChangeShapeType="1"/>
            </p:cNvSpPr>
            <p:nvPr/>
          </p:nvSpPr>
          <p:spPr bwMode="auto">
            <a:xfrm flipH="1">
              <a:off x="1943270" y="4768402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0" name="Line 209"/>
            <p:cNvSpPr>
              <a:spLocks noChangeShapeType="1"/>
            </p:cNvSpPr>
            <p:nvPr/>
          </p:nvSpPr>
          <p:spPr bwMode="auto">
            <a:xfrm flipH="1">
              <a:off x="1898820" y="4781102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1" name="Line 210"/>
            <p:cNvSpPr>
              <a:spLocks noChangeShapeType="1"/>
            </p:cNvSpPr>
            <p:nvPr/>
          </p:nvSpPr>
          <p:spPr bwMode="auto">
            <a:xfrm flipV="1">
              <a:off x="1908345" y="4782690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2" name="Freeform 211"/>
            <p:cNvSpPr>
              <a:spLocks/>
            </p:cNvSpPr>
            <p:nvPr/>
          </p:nvSpPr>
          <p:spPr bwMode="auto">
            <a:xfrm>
              <a:off x="1714670" y="4752527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3" name="Line 212"/>
            <p:cNvSpPr>
              <a:spLocks noChangeShapeType="1"/>
            </p:cNvSpPr>
            <p:nvPr/>
          </p:nvSpPr>
          <p:spPr bwMode="auto">
            <a:xfrm flipV="1">
              <a:off x="1706733" y="4758877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4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5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45" name="Oval 217"/>
            <p:cNvSpPr>
              <a:spLocks noChangeArrowheads="1"/>
            </p:cNvSpPr>
            <p:nvPr/>
          </p:nvSpPr>
          <p:spPr bwMode="auto">
            <a:xfrm>
              <a:off x="1682920" y="4542977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6" name="Oval 218"/>
            <p:cNvSpPr>
              <a:spLocks noChangeArrowheads="1"/>
            </p:cNvSpPr>
            <p:nvPr/>
          </p:nvSpPr>
          <p:spPr bwMode="auto">
            <a:xfrm>
              <a:off x="1682920" y="4536627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 flipH="1">
              <a:off x="1663870" y="4088952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 flipH="1">
              <a:off x="1722608" y="4503290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9" name="Freeform 221"/>
            <p:cNvSpPr>
              <a:spLocks/>
            </p:cNvSpPr>
            <p:nvPr/>
          </p:nvSpPr>
          <p:spPr bwMode="auto">
            <a:xfrm flipH="1">
              <a:off x="1651170" y="4147690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0" name="Oval 222"/>
            <p:cNvSpPr>
              <a:spLocks noChangeArrowheads="1"/>
            </p:cNvSpPr>
            <p:nvPr/>
          </p:nvSpPr>
          <p:spPr bwMode="auto">
            <a:xfrm>
              <a:off x="2049633" y="4511227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" name="Oval 223"/>
            <p:cNvSpPr>
              <a:spLocks noChangeArrowheads="1"/>
            </p:cNvSpPr>
            <p:nvPr/>
          </p:nvSpPr>
          <p:spPr bwMode="auto">
            <a:xfrm>
              <a:off x="2025820" y="4517577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2" name="Oval 224"/>
            <p:cNvSpPr>
              <a:spLocks noChangeArrowheads="1"/>
            </p:cNvSpPr>
            <p:nvPr/>
          </p:nvSpPr>
          <p:spPr bwMode="auto">
            <a:xfrm>
              <a:off x="1943270" y="4538215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3" name="Oval 225"/>
            <p:cNvSpPr>
              <a:spLocks noChangeArrowheads="1"/>
            </p:cNvSpPr>
            <p:nvPr/>
          </p:nvSpPr>
          <p:spPr bwMode="auto">
            <a:xfrm>
              <a:off x="1917870" y="4542977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4" name="Oval 226"/>
            <p:cNvSpPr>
              <a:spLocks noChangeArrowheads="1"/>
            </p:cNvSpPr>
            <p:nvPr/>
          </p:nvSpPr>
          <p:spPr bwMode="auto">
            <a:xfrm>
              <a:off x="1889295" y="4547740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5" name="Freeform 227"/>
            <p:cNvSpPr>
              <a:spLocks/>
            </p:cNvSpPr>
            <p:nvPr/>
          </p:nvSpPr>
          <p:spPr bwMode="auto">
            <a:xfrm flipH="1">
              <a:off x="1705145" y="4139752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 dirty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6" name="Freeform 228"/>
            <p:cNvSpPr>
              <a:spLocks/>
            </p:cNvSpPr>
            <p:nvPr/>
          </p:nvSpPr>
          <p:spPr bwMode="auto">
            <a:xfrm flipH="1">
              <a:off x="1651170" y="4087365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</p:grpSp>
      <p:pic>
        <p:nvPicPr>
          <p:cNvPr id="59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19326" y="2150204"/>
            <a:ext cx="1366509" cy="1300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/>
          <p:cNvSpPr txBox="1"/>
          <p:nvPr/>
        </p:nvSpPr>
        <p:spPr>
          <a:xfrm>
            <a:off x="2088304" y="3538641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1" name="오른쪽 화살표 60"/>
          <p:cNvSpPr/>
          <p:nvPr/>
        </p:nvSpPr>
        <p:spPr>
          <a:xfrm>
            <a:off x="4174243" y="2060266"/>
            <a:ext cx="2847885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4304872" y="2223604"/>
            <a:ext cx="3203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6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5" name="오른쪽 화살표 64"/>
          <p:cNvSpPr/>
          <p:nvPr/>
        </p:nvSpPr>
        <p:spPr>
          <a:xfrm rot="10800000">
            <a:off x="4174243" y="3486351"/>
            <a:ext cx="2807836" cy="593573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7362104" y="325969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33772" y="3613861"/>
            <a:ext cx="2460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 AN=7800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4" name="오른쪽 화살표 73"/>
          <p:cNvSpPr/>
          <p:nvPr/>
        </p:nvSpPr>
        <p:spPr>
          <a:xfrm>
            <a:off x="4181372" y="2779552"/>
            <a:ext cx="2852713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오른쪽 화살표 77"/>
          <p:cNvSpPr/>
          <p:nvPr/>
        </p:nvSpPr>
        <p:spPr>
          <a:xfrm rot="10800000">
            <a:off x="4207217" y="5818169"/>
            <a:ext cx="2800707" cy="593573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/>
          <p:cNvSpPr txBox="1"/>
          <p:nvPr/>
        </p:nvSpPr>
        <p:spPr>
          <a:xfrm>
            <a:off x="5147823" y="5960203"/>
            <a:ext cx="1310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ACK=8800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8" name="오른쪽 화살표 107"/>
          <p:cNvSpPr/>
          <p:nvPr/>
        </p:nvSpPr>
        <p:spPr>
          <a:xfrm rot="10800000">
            <a:off x="4102350" y="1410391"/>
            <a:ext cx="2891770" cy="593573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4691929" y="1547851"/>
            <a:ext cx="2134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Window Size = 3000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4EBFEF3-B7B5-A550-243C-3EB6A3530B51}"/>
              </a:ext>
            </a:extLst>
          </p:cNvPr>
          <p:cNvSpPr txBox="1">
            <a:spLocks/>
          </p:cNvSpPr>
          <p:nvPr/>
        </p:nvSpPr>
        <p:spPr bwMode="auto">
          <a:xfrm>
            <a:off x="315741" y="333551"/>
            <a:ext cx="7280275" cy="48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트래픽 흐름제어 </a:t>
            </a:r>
            <a:endParaRPr lang="ko-KR" altLang="en-US" sz="2800" b="1" dirty="0">
              <a:ea typeface="함초롬바탕" panose="02030504000101010101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2908484" y="1602434"/>
            <a:ext cx="803409" cy="39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2014870" y="1602434"/>
            <a:ext cx="803409" cy="397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121256" y="1602434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945089" y="1327319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SN=5000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068303" y="1326675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SN=6400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171832" y="1327851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SN=7800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191889" y="1603505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42465" y="1328922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SN=8800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209783" y="2973534"/>
            <a:ext cx="3203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6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1" name="오른쪽 화살표 90"/>
          <p:cNvSpPr/>
          <p:nvPr/>
        </p:nvSpPr>
        <p:spPr>
          <a:xfrm rot="10800000">
            <a:off x="4174242" y="4327778"/>
            <a:ext cx="2891770" cy="593573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/>
          <p:cNvSpPr txBox="1"/>
          <p:nvPr/>
        </p:nvSpPr>
        <p:spPr>
          <a:xfrm>
            <a:off x="4818600" y="4489286"/>
            <a:ext cx="2134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Window Size = 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1000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3" name="오른쪽 화살표 92"/>
          <p:cNvSpPr/>
          <p:nvPr/>
        </p:nvSpPr>
        <p:spPr>
          <a:xfrm>
            <a:off x="4304872" y="4978252"/>
            <a:ext cx="2847885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/>
          <p:cNvSpPr txBox="1"/>
          <p:nvPr/>
        </p:nvSpPr>
        <p:spPr>
          <a:xfrm>
            <a:off x="4435501" y="5141590"/>
            <a:ext cx="3203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7800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</a:t>
            </a:r>
            <a:r>
              <a:rPr lang="en-US" altLang="ko-KR" sz="16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</a:t>
            </a:r>
            <a:r>
              <a:rPr lang="en-US" altLang="ko-KR" sz="16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1000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21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 flipH="1">
            <a:off x="7596014" y="3182764"/>
            <a:ext cx="796383" cy="932546"/>
            <a:chOff x="1533695" y="4087365"/>
            <a:chExt cx="838200" cy="1007924"/>
          </a:xfrm>
        </p:grpSpPr>
        <p:sp>
          <p:nvSpPr>
            <p:cNvPr id="7" name="Freeform 174"/>
            <p:cNvSpPr>
              <a:spLocks/>
            </p:cNvSpPr>
            <p:nvPr/>
          </p:nvSpPr>
          <p:spPr bwMode="auto">
            <a:xfrm rot="355818">
              <a:off x="2175045" y="4754115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 rot="355818" flipH="1">
              <a:off x="2235370" y="4801740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6"/>
            <p:cNvSpPr>
              <a:spLocks/>
            </p:cNvSpPr>
            <p:nvPr/>
          </p:nvSpPr>
          <p:spPr bwMode="auto">
            <a:xfrm rot="355818">
              <a:off x="2229020" y="4830315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7"/>
            <p:cNvSpPr>
              <a:spLocks/>
            </p:cNvSpPr>
            <p:nvPr/>
          </p:nvSpPr>
          <p:spPr bwMode="auto">
            <a:xfrm rot="355818" flipH="1">
              <a:off x="2262358" y="4796977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Freeform 178"/>
            <p:cNvSpPr>
              <a:spLocks/>
            </p:cNvSpPr>
            <p:nvPr/>
          </p:nvSpPr>
          <p:spPr bwMode="auto">
            <a:xfrm rot="355818">
              <a:off x="2248070" y="4795390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val 179"/>
            <p:cNvSpPr>
              <a:spLocks noChangeArrowheads="1"/>
            </p:cNvSpPr>
            <p:nvPr/>
          </p:nvSpPr>
          <p:spPr bwMode="auto">
            <a:xfrm rot="21219751">
              <a:off x="2267120" y="4792215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0"/>
            <p:cNvSpPr>
              <a:spLocks/>
            </p:cNvSpPr>
            <p:nvPr/>
          </p:nvSpPr>
          <p:spPr bwMode="auto">
            <a:xfrm rot="355818">
              <a:off x="2238545" y="4798565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2"/>
            <p:cNvSpPr>
              <a:spLocks/>
            </p:cNvSpPr>
            <p:nvPr/>
          </p:nvSpPr>
          <p:spPr bwMode="auto">
            <a:xfrm flipH="1">
              <a:off x="1731813" y="4766954"/>
              <a:ext cx="219396" cy="328335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0574" bIns="20574" anchor="ctr">
              <a:spAutoFit/>
            </a:bodyPr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3"/>
            <p:cNvSpPr>
              <a:spLocks/>
            </p:cNvSpPr>
            <p:nvPr/>
          </p:nvSpPr>
          <p:spPr bwMode="auto">
            <a:xfrm flipH="1">
              <a:off x="1746099" y="4752667"/>
              <a:ext cx="219396" cy="328335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0574" bIns="20574" anchor="ctr">
              <a:spAutoFit/>
            </a:bodyPr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4"/>
            <p:cNvSpPr>
              <a:spLocks/>
            </p:cNvSpPr>
            <p:nvPr/>
          </p:nvSpPr>
          <p:spPr bwMode="auto">
            <a:xfrm flipH="1">
              <a:off x="1798808" y="4828727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5"/>
            <p:cNvSpPr>
              <a:spLocks/>
            </p:cNvSpPr>
            <p:nvPr/>
          </p:nvSpPr>
          <p:spPr bwMode="auto">
            <a:xfrm flipH="1">
              <a:off x="1886120" y="4850952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6"/>
            <p:cNvSpPr>
              <a:spLocks/>
            </p:cNvSpPr>
            <p:nvPr/>
          </p:nvSpPr>
          <p:spPr bwMode="auto">
            <a:xfrm flipH="1">
              <a:off x="1819445" y="4914452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7"/>
            <p:cNvSpPr>
              <a:spLocks/>
            </p:cNvSpPr>
            <p:nvPr/>
          </p:nvSpPr>
          <p:spPr bwMode="auto">
            <a:xfrm flipH="1">
              <a:off x="1754358" y="4925565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89"/>
            <p:cNvSpPr>
              <a:spLocks noChangeAspect="1"/>
            </p:cNvSpPr>
            <p:nvPr/>
          </p:nvSpPr>
          <p:spPr bwMode="auto">
            <a:xfrm>
              <a:off x="1533695" y="4523927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0"/>
            <p:cNvSpPr>
              <a:spLocks noChangeAspect="1"/>
            </p:cNvSpPr>
            <p:nvPr/>
          </p:nvSpPr>
          <p:spPr bwMode="auto">
            <a:xfrm>
              <a:off x="1536870" y="4465190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1"/>
            <p:cNvSpPr>
              <a:spLocks/>
            </p:cNvSpPr>
            <p:nvPr/>
          </p:nvSpPr>
          <p:spPr bwMode="auto">
            <a:xfrm>
              <a:off x="1671808" y="4660452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Freeform 192"/>
            <p:cNvSpPr>
              <a:spLocks/>
            </p:cNvSpPr>
            <p:nvPr/>
          </p:nvSpPr>
          <p:spPr bwMode="auto">
            <a:xfrm>
              <a:off x="1690858" y="4789040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val 193"/>
            <p:cNvSpPr>
              <a:spLocks noChangeArrowheads="1"/>
            </p:cNvSpPr>
            <p:nvPr/>
          </p:nvSpPr>
          <p:spPr bwMode="auto">
            <a:xfrm>
              <a:off x="1809920" y="4796977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4"/>
            <p:cNvSpPr>
              <a:spLocks noChangeShapeType="1"/>
            </p:cNvSpPr>
            <p:nvPr/>
          </p:nvSpPr>
          <p:spPr bwMode="auto">
            <a:xfrm flipH="1">
              <a:off x="2032170" y="4706490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5"/>
            <p:cNvSpPr>
              <a:spLocks noChangeShapeType="1"/>
            </p:cNvSpPr>
            <p:nvPr/>
          </p:nvSpPr>
          <p:spPr bwMode="auto">
            <a:xfrm flipH="1">
              <a:off x="2021058" y="4708077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6"/>
            <p:cNvSpPr>
              <a:spLocks noChangeShapeType="1"/>
            </p:cNvSpPr>
            <p:nvPr/>
          </p:nvSpPr>
          <p:spPr bwMode="auto">
            <a:xfrm flipH="1">
              <a:off x="2044870" y="4704902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7"/>
            <p:cNvSpPr>
              <a:spLocks noChangeShapeType="1"/>
            </p:cNvSpPr>
            <p:nvPr/>
          </p:nvSpPr>
          <p:spPr bwMode="auto">
            <a:xfrm flipH="1">
              <a:off x="2055983" y="4703315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8"/>
            <p:cNvSpPr>
              <a:spLocks noChangeShapeType="1"/>
            </p:cNvSpPr>
            <p:nvPr/>
          </p:nvSpPr>
          <p:spPr bwMode="auto">
            <a:xfrm flipH="1">
              <a:off x="2065508" y="4701727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199"/>
            <p:cNvSpPr>
              <a:spLocks noChangeShapeType="1"/>
            </p:cNvSpPr>
            <p:nvPr/>
          </p:nvSpPr>
          <p:spPr bwMode="auto">
            <a:xfrm flipH="1">
              <a:off x="2076620" y="4698552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0"/>
            <p:cNvSpPr>
              <a:spLocks noChangeShapeType="1"/>
            </p:cNvSpPr>
            <p:nvPr/>
          </p:nvSpPr>
          <p:spPr bwMode="auto">
            <a:xfrm flipH="1">
              <a:off x="2087733" y="469855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1"/>
            <p:cNvSpPr>
              <a:spLocks noChangeShapeType="1"/>
            </p:cNvSpPr>
            <p:nvPr/>
          </p:nvSpPr>
          <p:spPr bwMode="auto">
            <a:xfrm flipH="1">
              <a:off x="2097258" y="4692202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2"/>
            <p:cNvSpPr>
              <a:spLocks noChangeShapeType="1"/>
            </p:cNvSpPr>
            <p:nvPr/>
          </p:nvSpPr>
          <p:spPr bwMode="auto">
            <a:xfrm flipH="1">
              <a:off x="2106783" y="469220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3"/>
            <p:cNvSpPr>
              <a:spLocks noChangeShapeType="1"/>
            </p:cNvSpPr>
            <p:nvPr/>
          </p:nvSpPr>
          <p:spPr bwMode="auto">
            <a:xfrm flipH="1">
              <a:off x="2117895" y="4690615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Line 204"/>
            <p:cNvSpPr>
              <a:spLocks noChangeShapeType="1"/>
            </p:cNvSpPr>
            <p:nvPr/>
          </p:nvSpPr>
          <p:spPr bwMode="auto">
            <a:xfrm flipH="1">
              <a:off x="2071064" y="4731896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Freeform 205"/>
            <p:cNvSpPr>
              <a:spLocks/>
            </p:cNvSpPr>
            <p:nvPr/>
          </p:nvSpPr>
          <p:spPr bwMode="auto">
            <a:xfrm>
              <a:off x="1878183" y="4738240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6"/>
            <p:cNvSpPr>
              <a:spLocks noChangeShapeType="1"/>
            </p:cNvSpPr>
            <p:nvPr/>
          </p:nvSpPr>
          <p:spPr bwMode="auto">
            <a:xfrm flipH="1">
              <a:off x="1889295" y="4773165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7"/>
            <p:cNvSpPr>
              <a:spLocks noChangeShapeType="1"/>
            </p:cNvSpPr>
            <p:nvPr/>
          </p:nvSpPr>
          <p:spPr bwMode="auto">
            <a:xfrm flipH="1">
              <a:off x="1951208" y="4758877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8"/>
            <p:cNvSpPr>
              <a:spLocks noChangeShapeType="1"/>
            </p:cNvSpPr>
            <p:nvPr/>
          </p:nvSpPr>
          <p:spPr bwMode="auto">
            <a:xfrm flipH="1">
              <a:off x="1943270" y="4768402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09"/>
            <p:cNvSpPr>
              <a:spLocks noChangeShapeType="1"/>
            </p:cNvSpPr>
            <p:nvPr/>
          </p:nvSpPr>
          <p:spPr bwMode="auto">
            <a:xfrm flipH="1">
              <a:off x="1898820" y="4781102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Line 210"/>
            <p:cNvSpPr>
              <a:spLocks noChangeShapeType="1"/>
            </p:cNvSpPr>
            <p:nvPr/>
          </p:nvSpPr>
          <p:spPr bwMode="auto">
            <a:xfrm flipV="1">
              <a:off x="1908345" y="4782690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Freeform 211"/>
            <p:cNvSpPr>
              <a:spLocks/>
            </p:cNvSpPr>
            <p:nvPr/>
          </p:nvSpPr>
          <p:spPr bwMode="auto">
            <a:xfrm>
              <a:off x="1714670" y="4752527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Line 212"/>
            <p:cNvSpPr>
              <a:spLocks noChangeShapeType="1"/>
            </p:cNvSpPr>
            <p:nvPr/>
          </p:nvSpPr>
          <p:spPr bwMode="auto">
            <a:xfrm flipV="1">
              <a:off x="1706733" y="4758877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4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35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350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5" name="Oval 217"/>
            <p:cNvSpPr>
              <a:spLocks noChangeArrowheads="1"/>
            </p:cNvSpPr>
            <p:nvPr/>
          </p:nvSpPr>
          <p:spPr bwMode="auto">
            <a:xfrm>
              <a:off x="1682920" y="4542977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Oval 218"/>
            <p:cNvSpPr>
              <a:spLocks noChangeArrowheads="1"/>
            </p:cNvSpPr>
            <p:nvPr/>
          </p:nvSpPr>
          <p:spPr bwMode="auto">
            <a:xfrm>
              <a:off x="1682920" y="4536627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 flipH="1">
              <a:off x="1663870" y="4088952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 flipH="1">
              <a:off x="1722608" y="4503290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Freeform 221"/>
            <p:cNvSpPr>
              <a:spLocks/>
            </p:cNvSpPr>
            <p:nvPr/>
          </p:nvSpPr>
          <p:spPr bwMode="auto">
            <a:xfrm flipH="1">
              <a:off x="1651170" y="4147690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2"/>
            <p:cNvSpPr>
              <a:spLocks noChangeArrowheads="1"/>
            </p:cNvSpPr>
            <p:nvPr/>
          </p:nvSpPr>
          <p:spPr bwMode="auto">
            <a:xfrm>
              <a:off x="2049633" y="4511227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3"/>
            <p:cNvSpPr>
              <a:spLocks noChangeArrowheads="1"/>
            </p:cNvSpPr>
            <p:nvPr/>
          </p:nvSpPr>
          <p:spPr bwMode="auto">
            <a:xfrm>
              <a:off x="2025820" y="4517577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4"/>
            <p:cNvSpPr>
              <a:spLocks noChangeArrowheads="1"/>
            </p:cNvSpPr>
            <p:nvPr/>
          </p:nvSpPr>
          <p:spPr bwMode="auto">
            <a:xfrm>
              <a:off x="1943270" y="4538215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5"/>
            <p:cNvSpPr>
              <a:spLocks noChangeArrowheads="1"/>
            </p:cNvSpPr>
            <p:nvPr/>
          </p:nvSpPr>
          <p:spPr bwMode="auto">
            <a:xfrm>
              <a:off x="1917870" y="4542977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Oval 226"/>
            <p:cNvSpPr>
              <a:spLocks noChangeArrowheads="1"/>
            </p:cNvSpPr>
            <p:nvPr/>
          </p:nvSpPr>
          <p:spPr bwMode="auto">
            <a:xfrm>
              <a:off x="1889295" y="4547740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7"/>
            <p:cNvSpPr>
              <a:spLocks/>
            </p:cNvSpPr>
            <p:nvPr/>
          </p:nvSpPr>
          <p:spPr bwMode="auto">
            <a:xfrm flipH="1">
              <a:off x="1705145" y="4139752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Freeform 228"/>
            <p:cNvSpPr>
              <a:spLocks/>
            </p:cNvSpPr>
            <p:nvPr/>
          </p:nvSpPr>
          <p:spPr bwMode="auto">
            <a:xfrm flipH="1">
              <a:off x="1651170" y="4087365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35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59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7629" y="3111530"/>
            <a:ext cx="1248943" cy="1188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/>
          <p:cNvSpPr txBox="1"/>
          <p:nvPr/>
        </p:nvSpPr>
        <p:spPr>
          <a:xfrm>
            <a:off x="1320023" y="4346873"/>
            <a:ext cx="976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1" name="오른쪽 화살표 60"/>
          <p:cNvSpPr/>
          <p:nvPr/>
        </p:nvSpPr>
        <p:spPr>
          <a:xfrm>
            <a:off x="3880602" y="1113114"/>
            <a:ext cx="2634910" cy="48837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8" name="TextBox 67"/>
          <p:cNvSpPr txBox="1"/>
          <p:nvPr/>
        </p:nvSpPr>
        <p:spPr>
          <a:xfrm>
            <a:off x="7557886" y="4262656"/>
            <a:ext cx="976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108" name="오른쪽 화살표 107"/>
          <p:cNvSpPr/>
          <p:nvPr/>
        </p:nvSpPr>
        <p:spPr>
          <a:xfrm rot="10800000">
            <a:off x="3880602" y="607946"/>
            <a:ext cx="2623799" cy="445180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9" name="TextBox 108"/>
          <p:cNvSpPr txBox="1"/>
          <p:nvPr/>
        </p:nvSpPr>
        <p:spPr>
          <a:xfrm>
            <a:off x="4428942" y="699994"/>
            <a:ext cx="2260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Window Size = 1500 </a:t>
            </a:r>
            <a:endParaRPr lang="ko-KR" altLang="en-US" sz="1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2719456" y="2562180"/>
            <a:ext cx="602557" cy="2981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2071226" y="2559970"/>
            <a:ext cx="602557" cy="2981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401016" y="2559970"/>
            <a:ext cx="602557" cy="2981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746909" y="2355845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SN=3000</a:t>
            </a:r>
            <a:endParaRPr lang="ko-KR" altLang="en-US" sz="87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111301" y="2353151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SN=4400</a:t>
            </a:r>
            <a:endParaRPr lang="ko-KR" altLang="en-US" sz="87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38948" y="2354033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SN=5800</a:t>
            </a:r>
            <a:endParaRPr lang="ko-KR" altLang="en-US" sz="87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30328" y="2559970"/>
            <a:ext cx="602557" cy="29813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8260" y="2354033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SN=8600</a:t>
            </a:r>
            <a:endParaRPr lang="ko-KR" altLang="en-US" sz="87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60"/>
          <p:cNvSpPr txBox="1">
            <a:spLocks noChangeArrowheads="1"/>
          </p:cNvSpPr>
          <p:nvPr/>
        </p:nvSpPr>
        <p:spPr bwMode="auto">
          <a:xfrm>
            <a:off x="4118929" y="1162735"/>
            <a:ext cx="22749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3000 (</a:t>
            </a:r>
            <a:r>
              <a:rPr lang="en-US" altLang="ko-KR" sz="14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3" name="오른쪽 화살표 92"/>
          <p:cNvSpPr/>
          <p:nvPr/>
        </p:nvSpPr>
        <p:spPr>
          <a:xfrm rot="10800000">
            <a:off x="3829514" y="1757655"/>
            <a:ext cx="2634480" cy="435219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sp>
        <p:nvSpPr>
          <p:cNvPr id="94" name="TextBox 75"/>
          <p:cNvSpPr txBox="1">
            <a:spLocks noChangeArrowheads="1"/>
          </p:cNvSpPr>
          <p:nvPr/>
        </p:nvSpPr>
        <p:spPr bwMode="auto">
          <a:xfrm>
            <a:off x="4817498" y="1853570"/>
            <a:ext cx="10390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4400 </a:t>
            </a:r>
            <a:r>
              <a:rPr lang="ko-KR" altLang="en-US" sz="14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744898" y="2557437"/>
            <a:ext cx="602557" cy="2981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82830" y="2351501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SN=7200</a:t>
            </a:r>
            <a:endParaRPr lang="ko-KR" altLang="en-US" sz="87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오른쪽 화살표 98"/>
          <p:cNvSpPr/>
          <p:nvPr/>
        </p:nvSpPr>
        <p:spPr>
          <a:xfrm rot="10800000">
            <a:off x="3802347" y="2280751"/>
            <a:ext cx="2587174" cy="445180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0" name="TextBox 99"/>
          <p:cNvSpPr txBox="1"/>
          <p:nvPr/>
        </p:nvSpPr>
        <p:spPr>
          <a:xfrm>
            <a:off x="4381462" y="2374372"/>
            <a:ext cx="1927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Window Size = 5000 </a:t>
            </a:r>
            <a:endParaRPr lang="ko-KR" altLang="en-US" sz="1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1" name="오른쪽 화살표 100"/>
          <p:cNvSpPr/>
          <p:nvPr/>
        </p:nvSpPr>
        <p:spPr>
          <a:xfrm>
            <a:off x="3923759" y="2972823"/>
            <a:ext cx="2569120" cy="52881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60"/>
          <p:cNvSpPr txBox="1">
            <a:spLocks noChangeArrowheads="1"/>
          </p:cNvSpPr>
          <p:nvPr/>
        </p:nvSpPr>
        <p:spPr bwMode="auto">
          <a:xfrm>
            <a:off x="4103017" y="3071732"/>
            <a:ext cx="22749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4400 (</a:t>
            </a:r>
            <a:r>
              <a:rPr lang="en-US" altLang="ko-KR" sz="14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3" name="오른쪽 화살표 102"/>
          <p:cNvSpPr/>
          <p:nvPr/>
        </p:nvSpPr>
        <p:spPr>
          <a:xfrm>
            <a:off x="3923759" y="3515897"/>
            <a:ext cx="1787479" cy="51177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TextBox 60"/>
          <p:cNvSpPr txBox="1">
            <a:spLocks noChangeArrowheads="1"/>
          </p:cNvSpPr>
          <p:nvPr/>
        </p:nvSpPr>
        <p:spPr bwMode="auto">
          <a:xfrm>
            <a:off x="4116345" y="3605233"/>
            <a:ext cx="8739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5800</a:t>
            </a:r>
            <a:endParaRPr lang="ko-KR" altLang="en-US" sz="1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5" name="오른쪽 화살표 104"/>
          <p:cNvSpPr/>
          <p:nvPr/>
        </p:nvSpPr>
        <p:spPr>
          <a:xfrm>
            <a:off x="3923759" y="4154851"/>
            <a:ext cx="2540236" cy="438218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TextBox 60"/>
          <p:cNvSpPr txBox="1">
            <a:spLocks noChangeArrowheads="1"/>
          </p:cNvSpPr>
          <p:nvPr/>
        </p:nvSpPr>
        <p:spPr bwMode="auto">
          <a:xfrm>
            <a:off x="4122818" y="4192984"/>
            <a:ext cx="22749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7200 (</a:t>
            </a:r>
            <a:r>
              <a:rPr lang="en-US" altLang="ko-KR" sz="14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7" name="폭발 1 106"/>
          <p:cNvSpPr/>
          <p:nvPr/>
        </p:nvSpPr>
        <p:spPr>
          <a:xfrm>
            <a:off x="5495147" y="3501635"/>
            <a:ext cx="758330" cy="562621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0" name="직사각형 109"/>
          <p:cNvSpPr/>
          <p:nvPr/>
        </p:nvSpPr>
        <p:spPr>
          <a:xfrm>
            <a:off x="8303791" y="2614796"/>
            <a:ext cx="602557" cy="2981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343866" y="2407978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SN=4400</a:t>
            </a:r>
            <a:endParaRPr lang="ko-KR" altLang="en-US" sz="878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6902477" y="2634885"/>
            <a:ext cx="602557" cy="2981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6940409" y="2428948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SN=7200</a:t>
            </a:r>
            <a:endParaRPr lang="ko-KR" altLang="en-US" sz="878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7617318" y="2628725"/>
            <a:ext cx="602557" cy="2981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오른쪽 화살표 114"/>
          <p:cNvSpPr/>
          <p:nvPr/>
        </p:nvSpPr>
        <p:spPr>
          <a:xfrm rot="10800000">
            <a:off x="3880601" y="4778568"/>
            <a:ext cx="2583393" cy="491668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sp>
        <p:nvSpPr>
          <p:cNvPr id="116" name="TextBox 75"/>
          <p:cNvSpPr txBox="1">
            <a:spLocks noChangeArrowheads="1"/>
          </p:cNvSpPr>
          <p:nvPr/>
        </p:nvSpPr>
        <p:spPr bwMode="auto">
          <a:xfrm>
            <a:off x="4905081" y="4860558"/>
            <a:ext cx="118013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NAK= 5800 </a:t>
            </a:r>
            <a:r>
              <a:rPr lang="ko-KR" altLang="en-US" sz="1400" b="1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17" name="오른쪽 화살표 116"/>
          <p:cNvSpPr/>
          <p:nvPr/>
        </p:nvSpPr>
        <p:spPr>
          <a:xfrm>
            <a:off x="3880600" y="5416548"/>
            <a:ext cx="2617251" cy="496036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8" name="TextBox 60"/>
          <p:cNvSpPr txBox="1">
            <a:spLocks noChangeArrowheads="1"/>
          </p:cNvSpPr>
          <p:nvPr/>
        </p:nvSpPr>
        <p:spPr bwMode="auto">
          <a:xfrm>
            <a:off x="4168623" y="5493781"/>
            <a:ext cx="22749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5800 (</a:t>
            </a:r>
            <a:r>
              <a:rPr lang="en-US" altLang="ko-KR" sz="14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9" name="오른쪽 화살표 118"/>
          <p:cNvSpPr/>
          <p:nvPr/>
        </p:nvSpPr>
        <p:spPr>
          <a:xfrm rot="10800000">
            <a:off x="3843638" y="5921129"/>
            <a:ext cx="2620356" cy="53981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/>
          </a:p>
        </p:txBody>
      </p:sp>
      <p:sp>
        <p:nvSpPr>
          <p:cNvPr id="120" name="TextBox 75"/>
          <p:cNvSpPr txBox="1">
            <a:spLocks noChangeArrowheads="1"/>
          </p:cNvSpPr>
          <p:nvPr/>
        </p:nvSpPr>
        <p:spPr bwMode="auto">
          <a:xfrm>
            <a:off x="4992795" y="6067441"/>
            <a:ext cx="10390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7200 </a:t>
            </a:r>
            <a:r>
              <a:rPr lang="ko-KR" altLang="en-US" sz="14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7598045" y="2421373"/>
            <a:ext cx="617477" cy="227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78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SN=????</a:t>
            </a:r>
            <a:endParaRPr lang="ko-KR" altLang="en-US" sz="878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제목 1">
            <a:extLst>
              <a:ext uri="{FF2B5EF4-FFF2-40B4-BE49-F238E27FC236}">
                <a16:creationId xmlns:a16="http://schemas.microsoft.com/office/drawing/2014/main" xmlns="" id="{34EBFEF3-B7B5-A550-243C-3EB6A3530B51}"/>
              </a:ext>
            </a:extLst>
          </p:cNvPr>
          <p:cNvSpPr txBox="1">
            <a:spLocks/>
          </p:cNvSpPr>
          <p:nvPr/>
        </p:nvSpPr>
        <p:spPr bwMode="auto">
          <a:xfrm>
            <a:off x="315741" y="333551"/>
            <a:ext cx="7280275" cy="48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트래픽 흐름제어 </a:t>
            </a:r>
            <a:endParaRPr lang="ko-KR" altLang="en-US" sz="2800" b="1" dirty="0">
              <a:ea typeface="함초롬바탕" panose="02030504000101010101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23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 flipH="1">
            <a:off x="6970031" y="2751976"/>
            <a:ext cx="1033237" cy="1009378"/>
            <a:chOff x="1533695" y="4087365"/>
            <a:chExt cx="838200" cy="984028"/>
          </a:xfrm>
        </p:grpSpPr>
        <p:sp>
          <p:nvSpPr>
            <p:cNvPr id="7" name="Freeform 174"/>
            <p:cNvSpPr>
              <a:spLocks/>
            </p:cNvSpPr>
            <p:nvPr/>
          </p:nvSpPr>
          <p:spPr bwMode="auto">
            <a:xfrm rot="355818">
              <a:off x="2175045" y="4754115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 rot="355818" flipH="1">
              <a:off x="2235370" y="4801740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6"/>
            <p:cNvSpPr>
              <a:spLocks/>
            </p:cNvSpPr>
            <p:nvPr/>
          </p:nvSpPr>
          <p:spPr bwMode="auto">
            <a:xfrm rot="355818">
              <a:off x="2229020" y="4830315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7"/>
            <p:cNvSpPr>
              <a:spLocks/>
            </p:cNvSpPr>
            <p:nvPr/>
          </p:nvSpPr>
          <p:spPr bwMode="auto">
            <a:xfrm rot="355818" flipH="1">
              <a:off x="2262358" y="4796977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Freeform 178"/>
            <p:cNvSpPr>
              <a:spLocks/>
            </p:cNvSpPr>
            <p:nvPr/>
          </p:nvSpPr>
          <p:spPr bwMode="auto">
            <a:xfrm rot="355818">
              <a:off x="2248070" y="4795390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val 179"/>
            <p:cNvSpPr>
              <a:spLocks noChangeArrowheads="1"/>
            </p:cNvSpPr>
            <p:nvPr/>
          </p:nvSpPr>
          <p:spPr bwMode="auto">
            <a:xfrm rot="21219751">
              <a:off x="2267120" y="4792215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0"/>
            <p:cNvSpPr>
              <a:spLocks/>
            </p:cNvSpPr>
            <p:nvPr/>
          </p:nvSpPr>
          <p:spPr bwMode="auto">
            <a:xfrm rot="355818">
              <a:off x="2238545" y="4798565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2"/>
            <p:cNvSpPr>
              <a:spLocks/>
            </p:cNvSpPr>
            <p:nvPr/>
          </p:nvSpPr>
          <p:spPr bwMode="auto">
            <a:xfrm flipH="1">
              <a:off x="1801348" y="4790849"/>
              <a:ext cx="149861" cy="280544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0574" bIns="20574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3"/>
            <p:cNvSpPr>
              <a:spLocks/>
            </p:cNvSpPr>
            <p:nvPr/>
          </p:nvSpPr>
          <p:spPr bwMode="auto">
            <a:xfrm flipH="1">
              <a:off x="1815635" y="4776562"/>
              <a:ext cx="149861" cy="280544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0574" bIns="20574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4"/>
            <p:cNvSpPr>
              <a:spLocks/>
            </p:cNvSpPr>
            <p:nvPr/>
          </p:nvSpPr>
          <p:spPr bwMode="auto">
            <a:xfrm flipH="1">
              <a:off x="1798808" y="4828727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5"/>
            <p:cNvSpPr>
              <a:spLocks/>
            </p:cNvSpPr>
            <p:nvPr/>
          </p:nvSpPr>
          <p:spPr bwMode="auto">
            <a:xfrm flipH="1">
              <a:off x="1886120" y="4850952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6"/>
            <p:cNvSpPr>
              <a:spLocks/>
            </p:cNvSpPr>
            <p:nvPr/>
          </p:nvSpPr>
          <p:spPr bwMode="auto">
            <a:xfrm flipH="1">
              <a:off x="1819445" y="4914452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7"/>
            <p:cNvSpPr>
              <a:spLocks/>
            </p:cNvSpPr>
            <p:nvPr/>
          </p:nvSpPr>
          <p:spPr bwMode="auto">
            <a:xfrm flipH="1">
              <a:off x="1754358" y="4925565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89"/>
            <p:cNvSpPr>
              <a:spLocks noChangeAspect="1"/>
            </p:cNvSpPr>
            <p:nvPr/>
          </p:nvSpPr>
          <p:spPr bwMode="auto">
            <a:xfrm>
              <a:off x="1533695" y="4523927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0"/>
            <p:cNvSpPr>
              <a:spLocks noChangeAspect="1"/>
            </p:cNvSpPr>
            <p:nvPr/>
          </p:nvSpPr>
          <p:spPr bwMode="auto">
            <a:xfrm>
              <a:off x="1536870" y="4465190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1"/>
            <p:cNvSpPr>
              <a:spLocks/>
            </p:cNvSpPr>
            <p:nvPr/>
          </p:nvSpPr>
          <p:spPr bwMode="auto">
            <a:xfrm>
              <a:off x="1671808" y="4660452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Freeform 192"/>
            <p:cNvSpPr>
              <a:spLocks/>
            </p:cNvSpPr>
            <p:nvPr/>
          </p:nvSpPr>
          <p:spPr bwMode="auto">
            <a:xfrm>
              <a:off x="1690858" y="4789040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val 193"/>
            <p:cNvSpPr>
              <a:spLocks noChangeArrowheads="1"/>
            </p:cNvSpPr>
            <p:nvPr/>
          </p:nvSpPr>
          <p:spPr bwMode="auto">
            <a:xfrm>
              <a:off x="1809920" y="4796977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4"/>
            <p:cNvSpPr>
              <a:spLocks noChangeShapeType="1"/>
            </p:cNvSpPr>
            <p:nvPr/>
          </p:nvSpPr>
          <p:spPr bwMode="auto">
            <a:xfrm flipH="1">
              <a:off x="2032170" y="4706490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5"/>
            <p:cNvSpPr>
              <a:spLocks noChangeShapeType="1"/>
            </p:cNvSpPr>
            <p:nvPr/>
          </p:nvSpPr>
          <p:spPr bwMode="auto">
            <a:xfrm flipH="1">
              <a:off x="2021058" y="4708077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6"/>
            <p:cNvSpPr>
              <a:spLocks noChangeShapeType="1"/>
            </p:cNvSpPr>
            <p:nvPr/>
          </p:nvSpPr>
          <p:spPr bwMode="auto">
            <a:xfrm flipH="1">
              <a:off x="2044870" y="4704902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7"/>
            <p:cNvSpPr>
              <a:spLocks noChangeShapeType="1"/>
            </p:cNvSpPr>
            <p:nvPr/>
          </p:nvSpPr>
          <p:spPr bwMode="auto">
            <a:xfrm flipH="1">
              <a:off x="2055983" y="4703315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8"/>
            <p:cNvSpPr>
              <a:spLocks noChangeShapeType="1"/>
            </p:cNvSpPr>
            <p:nvPr/>
          </p:nvSpPr>
          <p:spPr bwMode="auto">
            <a:xfrm flipH="1">
              <a:off x="2065508" y="4701727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199"/>
            <p:cNvSpPr>
              <a:spLocks noChangeShapeType="1"/>
            </p:cNvSpPr>
            <p:nvPr/>
          </p:nvSpPr>
          <p:spPr bwMode="auto">
            <a:xfrm flipH="1">
              <a:off x="2076620" y="4698552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0"/>
            <p:cNvSpPr>
              <a:spLocks noChangeShapeType="1"/>
            </p:cNvSpPr>
            <p:nvPr/>
          </p:nvSpPr>
          <p:spPr bwMode="auto">
            <a:xfrm flipH="1">
              <a:off x="2087733" y="469855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1"/>
            <p:cNvSpPr>
              <a:spLocks noChangeShapeType="1"/>
            </p:cNvSpPr>
            <p:nvPr/>
          </p:nvSpPr>
          <p:spPr bwMode="auto">
            <a:xfrm flipH="1">
              <a:off x="2097258" y="4692202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2"/>
            <p:cNvSpPr>
              <a:spLocks noChangeShapeType="1"/>
            </p:cNvSpPr>
            <p:nvPr/>
          </p:nvSpPr>
          <p:spPr bwMode="auto">
            <a:xfrm flipH="1">
              <a:off x="2106783" y="469220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3"/>
            <p:cNvSpPr>
              <a:spLocks noChangeShapeType="1"/>
            </p:cNvSpPr>
            <p:nvPr/>
          </p:nvSpPr>
          <p:spPr bwMode="auto">
            <a:xfrm flipH="1">
              <a:off x="2117895" y="4690615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Line 204"/>
            <p:cNvSpPr>
              <a:spLocks noChangeShapeType="1"/>
            </p:cNvSpPr>
            <p:nvPr/>
          </p:nvSpPr>
          <p:spPr bwMode="auto">
            <a:xfrm flipH="1">
              <a:off x="2071064" y="4731896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Freeform 205"/>
            <p:cNvSpPr>
              <a:spLocks/>
            </p:cNvSpPr>
            <p:nvPr/>
          </p:nvSpPr>
          <p:spPr bwMode="auto">
            <a:xfrm>
              <a:off x="1878183" y="4738240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6"/>
            <p:cNvSpPr>
              <a:spLocks noChangeShapeType="1"/>
            </p:cNvSpPr>
            <p:nvPr/>
          </p:nvSpPr>
          <p:spPr bwMode="auto">
            <a:xfrm flipH="1">
              <a:off x="1889295" y="4773165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7"/>
            <p:cNvSpPr>
              <a:spLocks noChangeShapeType="1"/>
            </p:cNvSpPr>
            <p:nvPr/>
          </p:nvSpPr>
          <p:spPr bwMode="auto">
            <a:xfrm flipH="1">
              <a:off x="1951208" y="4758877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8"/>
            <p:cNvSpPr>
              <a:spLocks noChangeShapeType="1"/>
            </p:cNvSpPr>
            <p:nvPr/>
          </p:nvSpPr>
          <p:spPr bwMode="auto">
            <a:xfrm flipH="1">
              <a:off x="1943270" y="4768402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09"/>
            <p:cNvSpPr>
              <a:spLocks noChangeShapeType="1"/>
            </p:cNvSpPr>
            <p:nvPr/>
          </p:nvSpPr>
          <p:spPr bwMode="auto">
            <a:xfrm flipH="1">
              <a:off x="1898820" y="4781102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Line 210"/>
            <p:cNvSpPr>
              <a:spLocks noChangeShapeType="1"/>
            </p:cNvSpPr>
            <p:nvPr/>
          </p:nvSpPr>
          <p:spPr bwMode="auto">
            <a:xfrm flipV="1">
              <a:off x="1908345" y="4782690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Freeform 211"/>
            <p:cNvSpPr>
              <a:spLocks/>
            </p:cNvSpPr>
            <p:nvPr/>
          </p:nvSpPr>
          <p:spPr bwMode="auto">
            <a:xfrm>
              <a:off x="1714670" y="4752527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Line 212"/>
            <p:cNvSpPr>
              <a:spLocks noChangeShapeType="1"/>
            </p:cNvSpPr>
            <p:nvPr/>
          </p:nvSpPr>
          <p:spPr bwMode="auto">
            <a:xfrm flipV="1">
              <a:off x="1706733" y="4758877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4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5" name="Oval 217"/>
            <p:cNvSpPr>
              <a:spLocks noChangeArrowheads="1"/>
            </p:cNvSpPr>
            <p:nvPr/>
          </p:nvSpPr>
          <p:spPr bwMode="auto">
            <a:xfrm>
              <a:off x="1682920" y="4542977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Oval 218"/>
            <p:cNvSpPr>
              <a:spLocks noChangeArrowheads="1"/>
            </p:cNvSpPr>
            <p:nvPr/>
          </p:nvSpPr>
          <p:spPr bwMode="auto">
            <a:xfrm>
              <a:off x="1682920" y="4536627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 flipH="1">
              <a:off x="1663870" y="4088952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 flipH="1">
              <a:off x="1722608" y="4503290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Freeform 221"/>
            <p:cNvSpPr>
              <a:spLocks/>
            </p:cNvSpPr>
            <p:nvPr/>
          </p:nvSpPr>
          <p:spPr bwMode="auto">
            <a:xfrm flipH="1">
              <a:off x="1651170" y="4147690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2"/>
            <p:cNvSpPr>
              <a:spLocks noChangeArrowheads="1"/>
            </p:cNvSpPr>
            <p:nvPr/>
          </p:nvSpPr>
          <p:spPr bwMode="auto">
            <a:xfrm>
              <a:off x="2049633" y="4511227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3"/>
            <p:cNvSpPr>
              <a:spLocks noChangeArrowheads="1"/>
            </p:cNvSpPr>
            <p:nvPr/>
          </p:nvSpPr>
          <p:spPr bwMode="auto">
            <a:xfrm>
              <a:off x="2025820" y="4517577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4"/>
            <p:cNvSpPr>
              <a:spLocks noChangeArrowheads="1"/>
            </p:cNvSpPr>
            <p:nvPr/>
          </p:nvSpPr>
          <p:spPr bwMode="auto">
            <a:xfrm>
              <a:off x="1943270" y="4538215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5"/>
            <p:cNvSpPr>
              <a:spLocks noChangeArrowheads="1"/>
            </p:cNvSpPr>
            <p:nvPr/>
          </p:nvSpPr>
          <p:spPr bwMode="auto">
            <a:xfrm>
              <a:off x="1917870" y="4542977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Oval 226"/>
            <p:cNvSpPr>
              <a:spLocks noChangeArrowheads="1"/>
            </p:cNvSpPr>
            <p:nvPr/>
          </p:nvSpPr>
          <p:spPr bwMode="auto">
            <a:xfrm>
              <a:off x="1889295" y="4547740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7"/>
            <p:cNvSpPr>
              <a:spLocks/>
            </p:cNvSpPr>
            <p:nvPr/>
          </p:nvSpPr>
          <p:spPr bwMode="auto">
            <a:xfrm flipH="1">
              <a:off x="1705145" y="4139752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Freeform 228"/>
            <p:cNvSpPr>
              <a:spLocks/>
            </p:cNvSpPr>
            <p:nvPr/>
          </p:nvSpPr>
          <p:spPr bwMode="auto">
            <a:xfrm flipH="1">
              <a:off x="1651170" y="4087365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59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99649" y="2637910"/>
            <a:ext cx="1424231" cy="135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/>
          <p:cNvSpPr txBox="1"/>
          <p:nvPr/>
        </p:nvSpPr>
        <p:spPr>
          <a:xfrm>
            <a:off x="1424678" y="4085042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1" name="오른쪽 화살표 60"/>
          <p:cNvSpPr/>
          <p:nvPr/>
        </p:nvSpPr>
        <p:spPr>
          <a:xfrm>
            <a:off x="3560090" y="1837014"/>
            <a:ext cx="2185193" cy="48837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62" name="TextBox 61"/>
          <p:cNvSpPr txBox="1"/>
          <p:nvPr/>
        </p:nvSpPr>
        <p:spPr>
          <a:xfrm>
            <a:off x="3925186" y="1968381"/>
            <a:ext cx="1811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1400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5" name="오른쪽 화살표 64"/>
          <p:cNvSpPr/>
          <p:nvPr/>
        </p:nvSpPr>
        <p:spPr>
          <a:xfrm rot="10800000">
            <a:off x="3348921" y="3183342"/>
            <a:ext cx="2311171" cy="445180"/>
          </a:xfrm>
          <a:prstGeom prst="rightArrow">
            <a:avLst>
              <a:gd name="adj1" fmla="val 50000"/>
              <a:gd name="adj2" fmla="val 86095"/>
            </a:avLst>
          </a:prstGeom>
          <a:solidFill>
            <a:srgbClr val="FF0000"/>
          </a:solidFill>
          <a:ln cap="sq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68" name="TextBox 67"/>
          <p:cNvSpPr txBox="1"/>
          <p:nvPr/>
        </p:nvSpPr>
        <p:spPr>
          <a:xfrm>
            <a:off x="7099128" y="3900146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18858" y="3257276"/>
            <a:ext cx="26971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Window size : 0 </a:t>
            </a:r>
            <a:r>
              <a:rPr lang="ko-KR" altLang="en-US" sz="1400" b="1">
                <a:solidFill>
                  <a:schemeClr val="bg1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endParaRPr lang="ko-KR" altLang="en-US" sz="1400" b="1" dirty="0">
              <a:solidFill>
                <a:schemeClr val="bg1"/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4" name="오른쪽 화살표 73"/>
          <p:cNvSpPr/>
          <p:nvPr/>
        </p:nvSpPr>
        <p:spPr>
          <a:xfrm>
            <a:off x="3569121" y="2368044"/>
            <a:ext cx="2192246" cy="48837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75" name="TextBox 74"/>
          <p:cNvSpPr txBox="1"/>
          <p:nvPr/>
        </p:nvSpPr>
        <p:spPr>
          <a:xfrm>
            <a:off x="3934217" y="2499410"/>
            <a:ext cx="1815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1000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6" name="오른쪽 화살표 75"/>
          <p:cNvSpPr/>
          <p:nvPr/>
        </p:nvSpPr>
        <p:spPr>
          <a:xfrm>
            <a:off x="3487433" y="3777644"/>
            <a:ext cx="2205464" cy="488371"/>
          </a:xfrm>
          <a:prstGeom prst="rightArrow">
            <a:avLst>
              <a:gd name="adj1" fmla="val 50000"/>
              <a:gd name="adj2" fmla="val 86095"/>
            </a:avLst>
          </a:prstGeom>
          <a:solidFill>
            <a:srgbClr val="FFC000"/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77" name="TextBox 76"/>
          <p:cNvSpPr txBox="1"/>
          <p:nvPr/>
        </p:nvSpPr>
        <p:spPr>
          <a:xfrm>
            <a:off x="3844400" y="3856992"/>
            <a:ext cx="1811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Keep Alive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8" name="오른쪽 화살표 107"/>
          <p:cNvSpPr/>
          <p:nvPr/>
        </p:nvSpPr>
        <p:spPr>
          <a:xfrm rot="10800000">
            <a:off x="3360725" y="4315391"/>
            <a:ext cx="2332172" cy="445180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09" name="TextBox 108"/>
          <p:cNvSpPr txBox="1"/>
          <p:nvPr/>
        </p:nvSpPr>
        <p:spPr>
          <a:xfrm>
            <a:off x="3157624" y="4395567"/>
            <a:ext cx="2990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Window size : 1000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10" name="오른쪽 화살표 109"/>
          <p:cNvSpPr/>
          <p:nvPr/>
        </p:nvSpPr>
        <p:spPr>
          <a:xfrm>
            <a:off x="3492726" y="5047988"/>
            <a:ext cx="2230579" cy="48837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11" name="TextBox 110"/>
          <p:cNvSpPr txBox="1"/>
          <p:nvPr/>
        </p:nvSpPr>
        <p:spPr>
          <a:xfrm>
            <a:off x="3844400" y="5108886"/>
            <a:ext cx="1811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800 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13" name="오른쪽 화살표 112"/>
          <p:cNvSpPr/>
          <p:nvPr/>
        </p:nvSpPr>
        <p:spPr>
          <a:xfrm>
            <a:off x="3492726" y="5564636"/>
            <a:ext cx="2230579" cy="48837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14" name="TextBox 113"/>
          <p:cNvSpPr txBox="1"/>
          <p:nvPr/>
        </p:nvSpPr>
        <p:spPr>
          <a:xfrm>
            <a:off x="3844400" y="5610770"/>
            <a:ext cx="1811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200 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8" name="제목 1">
            <a:extLst>
              <a:ext uri="{FF2B5EF4-FFF2-40B4-BE49-F238E27FC236}">
                <a16:creationId xmlns:a16="http://schemas.microsoft.com/office/drawing/2014/main" xmlns="" id="{34EBFEF3-B7B5-A550-243C-3EB6A3530B51}"/>
              </a:ext>
            </a:extLst>
          </p:cNvPr>
          <p:cNvSpPr txBox="1">
            <a:spLocks/>
          </p:cNvSpPr>
          <p:nvPr/>
        </p:nvSpPr>
        <p:spPr bwMode="auto">
          <a:xfrm>
            <a:off x="603418" y="441443"/>
            <a:ext cx="7280275" cy="48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트래픽 흐름제어 </a:t>
            </a:r>
            <a:endParaRPr lang="ko-KR" altLang="en-US" sz="2800" b="1" dirty="0">
              <a:ea typeface="함초롬바탕" panose="02030504000101010101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81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슬라이드 번호 개체 틀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0" y="149225"/>
            <a:ext cx="7888288" cy="852488"/>
          </a:xfrm>
        </p:spPr>
        <p:txBody>
          <a:bodyPr>
            <a:normAutofit/>
          </a:bodyPr>
          <a:lstStyle/>
          <a:p>
            <a:pPr marL="273050"/>
            <a:r>
              <a:rPr lang="en-US" altLang="ko-KR" sz="27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r>
              <a:rPr lang="ko-KR" altLang="en-US" sz="2708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연결 종료</a:t>
            </a:r>
            <a:r>
              <a:rPr lang="en-US" altLang="ko-KR" sz="27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(4-way Handshake)</a:t>
            </a:r>
            <a:endParaRPr lang="ko-KR" altLang="en-US" sz="27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119519" y="1478771"/>
            <a:ext cx="7129" cy="517459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6044102" y="1478771"/>
            <a:ext cx="4881" cy="517459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77024" y="1112886"/>
            <a:ext cx="82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49011" y="1109439"/>
            <a:ext cx="862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3119519" y="2079679"/>
            <a:ext cx="2924582" cy="814957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712479">
            <a:off x="3880419" y="2125040"/>
            <a:ext cx="8397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① FIN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87789" y="1942511"/>
            <a:ext cx="1574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FIN_WAIT-1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59157" y="2648060"/>
            <a:ext cx="1844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② CLOSE_WAIT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3119519" y="2988988"/>
            <a:ext cx="2875408" cy="1077079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 rot="20246189">
            <a:off x="3968313" y="3301061"/>
            <a:ext cx="878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ACK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3108902" y="3867759"/>
            <a:ext cx="2916292" cy="1081203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20554174">
            <a:off x="4014066" y="4163331"/>
            <a:ext cx="787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⑤ FIN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99427" y="5127511"/>
            <a:ext cx="1586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⑥ TIME_WAIT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(2MSL) 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직선 화살표 연결선 18"/>
          <p:cNvCxnSpPr>
            <a:cxnSpLocks/>
          </p:cNvCxnSpPr>
          <p:nvPr/>
        </p:nvCxnSpPr>
        <p:spPr>
          <a:xfrm>
            <a:off x="3133189" y="5127511"/>
            <a:ext cx="2892005" cy="450458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3485" y="3927338"/>
            <a:ext cx="15172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⑤ LAST_ACK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67891" y="5419898"/>
            <a:ext cx="1236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⑦ CLOSED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62745" y="3896790"/>
            <a:ext cx="1677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FIN_WAIT_2 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 rot="624948">
            <a:off x="3985220" y="5021500"/>
            <a:ext cx="878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⑦ ACK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왼쪽 대괄호 24"/>
          <p:cNvSpPr/>
          <p:nvPr/>
        </p:nvSpPr>
        <p:spPr bwMode="auto">
          <a:xfrm>
            <a:off x="2949673" y="2099643"/>
            <a:ext cx="145259" cy="1966424"/>
          </a:xfrm>
          <a:prstGeom prst="leftBracket">
            <a:avLst/>
          </a:prstGeom>
          <a:noFill/>
          <a:ln w="158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73880" tIns="36940" rIns="73880" bIns="36940" numCol="1" rtlCol="0" anchor="t" anchorCtr="0" compatLnSpc="1">
            <a:prstTxWarp prst="textNoShape">
              <a:avLst/>
            </a:prstTxWarp>
          </a:bodyPr>
          <a:lstStyle/>
          <a:p>
            <a:pPr marL="557929" indent="-239846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lang="ko-KR" altLang="en-US" sz="1939">
              <a:latin typeface="Arial Narrow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58933" y="3060810"/>
            <a:ext cx="3217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② Application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Close( )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33189" y="5914882"/>
            <a:ext cx="1236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⑧ CLOSED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35876" y="3485054"/>
            <a:ext cx="33350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  Application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Close( )</a:t>
            </a:r>
            <a:r>
              <a:rPr lang="ko-KR" altLang="en-US" sz="1600" dirty="0">
                <a:latin typeface="함초롬바탕 확장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545" y="5715583"/>
            <a:ext cx="2103088" cy="270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61" dirty="0">
                <a:latin typeface="Times New Roman" pitchFamily="18" charset="0"/>
                <a:cs typeface="Times New Roman" pitchFamily="18" charset="0"/>
              </a:rPr>
              <a:t>2MSL : Max Segment Lifetime</a:t>
            </a:r>
            <a:endParaRPr lang="ko-KR" altLang="en-US" sz="116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26000" y="1435120"/>
            <a:ext cx="1574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94927" y="1416728"/>
            <a:ext cx="1574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왼쪽 대괄호 46"/>
          <p:cNvSpPr/>
          <p:nvPr/>
        </p:nvSpPr>
        <p:spPr bwMode="auto">
          <a:xfrm>
            <a:off x="2949673" y="4113997"/>
            <a:ext cx="185266" cy="753698"/>
          </a:xfrm>
          <a:prstGeom prst="leftBracket">
            <a:avLst/>
          </a:prstGeom>
          <a:noFill/>
          <a:ln w="158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73880" tIns="36940" rIns="73880" bIns="36940" numCol="1" rtlCol="0" anchor="t" anchorCtr="0" compatLnSpc="1">
            <a:prstTxWarp prst="textNoShape">
              <a:avLst/>
            </a:prstTxWarp>
          </a:bodyPr>
          <a:lstStyle/>
          <a:p>
            <a:pPr marL="557929" indent="-239846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lang="ko-KR" altLang="en-US" sz="1939">
              <a:latin typeface="Arial Narrow" pitchFamily="34" charset="0"/>
            </a:endParaRPr>
          </a:p>
        </p:txBody>
      </p:sp>
      <p:sp>
        <p:nvSpPr>
          <p:cNvPr id="48" name="왼쪽 대괄호 47"/>
          <p:cNvSpPr/>
          <p:nvPr/>
        </p:nvSpPr>
        <p:spPr bwMode="auto">
          <a:xfrm flipH="1">
            <a:off x="6098393" y="2986194"/>
            <a:ext cx="86030" cy="910596"/>
          </a:xfrm>
          <a:prstGeom prst="leftBracket">
            <a:avLst/>
          </a:prstGeom>
          <a:noFill/>
          <a:ln w="158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73880" tIns="36940" rIns="73880" bIns="36940" numCol="1" rtlCol="0" anchor="t" anchorCtr="0" compatLnSpc="1">
            <a:prstTxWarp prst="textNoShape">
              <a:avLst/>
            </a:prstTxWarp>
          </a:bodyPr>
          <a:lstStyle/>
          <a:p>
            <a:pPr marL="557929" indent="-239846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lang="ko-KR" altLang="en-US" sz="1939">
              <a:latin typeface="Arial Narrow" pitchFamily="34" charset="0"/>
            </a:endParaRPr>
          </a:p>
        </p:txBody>
      </p:sp>
      <p:sp>
        <p:nvSpPr>
          <p:cNvPr id="50" name="왼쪽 대괄호 49"/>
          <p:cNvSpPr/>
          <p:nvPr/>
        </p:nvSpPr>
        <p:spPr bwMode="auto">
          <a:xfrm>
            <a:off x="2995656" y="4960316"/>
            <a:ext cx="89873" cy="902898"/>
          </a:xfrm>
          <a:prstGeom prst="leftBracket">
            <a:avLst/>
          </a:prstGeom>
          <a:noFill/>
          <a:ln w="158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73880" tIns="36940" rIns="73880" bIns="36940" numCol="1" rtlCol="0" anchor="t" anchorCtr="0" compatLnSpc="1">
            <a:prstTxWarp prst="textNoShape">
              <a:avLst/>
            </a:prstTxWarp>
          </a:bodyPr>
          <a:lstStyle/>
          <a:p>
            <a:pPr marL="557929" indent="-239846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lang="ko-KR" altLang="en-US" sz="1939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00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 flipH="1">
            <a:off x="1131645" y="606058"/>
            <a:ext cx="23497" cy="575888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flipH="1">
            <a:off x="3761378" y="606058"/>
            <a:ext cx="15532" cy="57528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18862" y="239620"/>
            <a:ext cx="696024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28902" y="223144"/>
            <a:ext cx="724878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1166784" y="982254"/>
            <a:ext cx="2610126" cy="574703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712479">
            <a:off x="2281656" y="1036545"/>
            <a:ext cx="489236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1168655" y="1959384"/>
            <a:ext cx="2561262" cy="7374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20846372">
            <a:off x="2122604" y="2018807"/>
            <a:ext cx="583814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1155142" y="2839832"/>
            <a:ext cx="2561262" cy="7374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 rot="20554174">
            <a:off x="2169892" y="2906380"/>
            <a:ext cx="489236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1168655" y="3649952"/>
            <a:ext cx="1576275" cy="507558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 rot="712479">
            <a:off x="1664886" y="3882786"/>
            <a:ext cx="583814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8231" y="3431743"/>
            <a:ext cx="829073" cy="291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ko-KR" altLang="en-US" sz="12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폭발 1 30"/>
          <p:cNvSpPr/>
          <p:nvPr/>
        </p:nvSpPr>
        <p:spPr>
          <a:xfrm>
            <a:off x="2670226" y="3955410"/>
            <a:ext cx="806683" cy="673552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/>
          <p:cNvCxnSpPr/>
          <p:nvPr/>
        </p:nvCxnSpPr>
        <p:spPr>
          <a:xfrm flipH="1">
            <a:off x="1131645" y="4599365"/>
            <a:ext cx="2658779" cy="7374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H="1">
            <a:off x="1161627" y="5319201"/>
            <a:ext cx="2561262" cy="7374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rot="20554174">
            <a:off x="1437360" y="4895533"/>
            <a:ext cx="489236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 rot="20554174">
            <a:off x="1574700" y="5577276"/>
            <a:ext cx="489236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166855" y="5326673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* Server</a:t>
            </a:r>
            <a:r>
              <a:rPr lang="ko-KR" altLang="en-US" b="1">
                <a:solidFill>
                  <a:schemeClr val="tx1">
                    <a:lumMod val="95000"/>
                    <a:lumOff val="5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에서는 소켓을 종료하지 못하게 됨</a:t>
            </a:r>
            <a:endParaRPr lang="en-US" altLang="ko-KR" b="1" dirty="0">
              <a:solidFill>
                <a:schemeClr val="tx1">
                  <a:lumMod val="95000"/>
                  <a:lumOff val="5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1" name="슬라이드 번호 개체 틀 52"/>
          <p:cNvSpPr>
            <a:spLocks noGrp="1"/>
          </p:cNvSpPr>
          <p:nvPr>
            <p:ph type="sldNum" sz="quarter" idx="12"/>
          </p:nvPr>
        </p:nvSpPr>
        <p:spPr>
          <a:xfrm>
            <a:off x="6857445" y="6321920"/>
            <a:ext cx="2057400" cy="365125"/>
          </a:xfrm>
        </p:spPr>
        <p:txBody>
          <a:bodyPr/>
          <a:lstStyle/>
          <a:p>
            <a:r>
              <a:rPr lang="en-US" altLang="ko-KR" dirty="0" smtClean="0"/>
              <a:t>12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2547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19792" y="477662"/>
            <a:ext cx="9262662" cy="574287"/>
          </a:xfrm>
        </p:spPr>
        <p:txBody>
          <a:bodyPr>
            <a:normAutofit/>
          </a:bodyPr>
          <a:lstStyle/>
          <a:p>
            <a:r>
              <a:rPr lang="en-US" altLang="ko-KR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  </a:t>
            </a:r>
            <a:r>
              <a:rPr lang="en-US" altLang="ko-KR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UDP(User Datagram Protocol) Header</a:t>
            </a:r>
            <a:endParaRPr lang="ko-KR" altLang="en-US" sz="2800" b="0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951777" lvl="2">
              <a:lnSpc>
                <a:spcPct val="150000"/>
              </a:lnSpc>
            </a:pPr>
            <a:r>
              <a:rPr lang="en-US" altLang="ko-KR" sz="174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Data </a:t>
            </a:r>
            <a:r>
              <a:rPr lang="ko-KR" altLang="en-US" sz="174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전송을 위하여 사전에 필요한 </a:t>
            </a:r>
            <a:r>
              <a:rPr lang="en-US" altLang="ko-KR" sz="174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Process</a:t>
            </a:r>
            <a:r>
              <a:rPr lang="ko-KR" altLang="en-US" sz="174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없음</a:t>
            </a:r>
          </a:p>
          <a:p>
            <a:pPr marL="951777" lvl="1">
              <a:lnSpc>
                <a:spcPct val="150000"/>
              </a:lnSpc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Best-Effort Delivery</a:t>
            </a:r>
          </a:p>
          <a:p>
            <a:pPr marL="951777" lvl="2">
              <a:lnSpc>
                <a:spcPct val="150000"/>
              </a:lnSpc>
            </a:pPr>
            <a:r>
              <a:rPr lang="ko-KR" altLang="en-US" sz="174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신뢰성 보장 못함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44870C-26EA-48E6-B006-78871CD70451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60420" name="Rectangle 28"/>
          <p:cNvSpPr>
            <a:spLocks noChangeArrowheads="1"/>
          </p:cNvSpPr>
          <p:nvPr/>
        </p:nvSpPr>
        <p:spPr bwMode="auto">
          <a:xfrm>
            <a:off x="993077" y="3669562"/>
            <a:ext cx="3610676" cy="388393"/>
          </a:xfrm>
          <a:prstGeom prst="rect">
            <a:avLst/>
          </a:prstGeom>
          <a:solidFill>
            <a:srgbClr val="CCFFFF"/>
          </a:solidFill>
          <a:ln w="12700">
            <a:solidFill>
              <a:srgbClr val="0099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defTabSz="736860"/>
            <a:r>
              <a:rPr lang="en-US" altLang="ko-KR" sz="1740">
                <a:latin typeface="Arial" charset="0"/>
                <a:ea typeface="돋움" pitchFamily="50" charset="-127"/>
              </a:rPr>
              <a:t>16bit Source Port Number</a:t>
            </a:r>
          </a:p>
        </p:txBody>
      </p:sp>
      <p:sp>
        <p:nvSpPr>
          <p:cNvPr id="60421" name="Rectangle 34"/>
          <p:cNvSpPr>
            <a:spLocks noChangeArrowheads="1"/>
          </p:cNvSpPr>
          <p:nvPr/>
        </p:nvSpPr>
        <p:spPr bwMode="auto">
          <a:xfrm>
            <a:off x="4603753" y="3669562"/>
            <a:ext cx="3610676" cy="388393"/>
          </a:xfrm>
          <a:prstGeom prst="rect">
            <a:avLst/>
          </a:prstGeom>
          <a:solidFill>
            <a:srgbClr val="FFFF99"/>
          </a:solidFill>
          <a:ln w="12700">
            <a:solidFill>
              <a:srgbClr val="0099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defTabSz="736860"/>
            <a:r>
              <a:rPr lang="en-US" altLang="ko-KR" sz="1740">
                <a:latin typeface="Arial" charset="0"/>
                <a:ea typeface="돋움" pitchFamily="50" charset="-127"/>
              </a:rPr>
              <a:t>16bit Destination Port Number</a:t>
            </a:r>
          </a:p>
        </p:txBody>
      </p:sp>
      <p:sp>
        <p:nvSpPr>
          <p:cNvPr id="60422" name="Rectangle 44"/>
          <p:cNvSpPr>
            <a:spLocks noChangeArrowheads="1"/>
          </p:cNvSpPr>
          <p:nvPr/>
        </p:nvSpPr>
        <p:spPr bwMode="auto">
          <a:xfrm>
            <a:off x="993077" y="4437137"/>
            <a:ext cx="7221352" cy="468221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defTabSz="736860"/>
            <a:r>
              <a:rPr lang="en-US" altLang="ko-KR" sz="1740">
                <a:latin typeface="Arial" charset="0"/>
                <a:ea typeface="돋움" pitchFamily="50" charset="-127"/>
              </a:rPr>
              <a:t>Data</a:t>
            </a:r>
          </a:p>
        </p:txBody>
      </p:sp>
      <p:sp>
        <p:nvSpPr>
          <p:cNvPr id="60423" name="Text Box 45"/>
          <p:cNvSpPr txBox="1">
            <a:spLocks noChangeArrowheads="1"/>
          </p:cNvSpPr>
          <p:nvPr/>
        </p:nvSpPr>
        <p:spPr bwMode="auto">
          <a:xfrm>
            <a:off x="904038" y="3341039"/>
            <a:ext cx="269626" cy="29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7338" indent="-287338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lnSpc>
                <a:spcPct val="130000"/>
              </a:lnSpc>
            </a:pPr>
            <a:r>
              <a:rPr lang="en-US" altLang="ko-KR" sz="116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0</a:t>
            </a:r>
          </a:p>
        </p:txBody>
      </p:sp>
      <p:sp>
        <p:nvSpPr>
          <p:cNvPr id="60424" name="Text Box 50"/>
          <p:cNvSpPr txBox="1">
            <a:spLocks noChangeArrowheads="1"/>
          </p:cNvSpPr>
          <p:nvPr/>
        </p:nvSpPr>
        <p:spPr bwMode="auto">
          <a:xfrm>
            <a:off x="8020999" y="3328758"/>
            <a:ext cx="354584" cy="29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7338" indent="-287338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lnSpc>
                <a:spcPct val="130000"/>
              </a:lnSpc>
            </a:pPr>
            <a:r>
              <a:rPr lang="en-US" altLang="ko-KR" sz="116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31</a:t>
            </a:r>
          </a:p>
        </p:txBody>
      </p:sp>
      <p:sp>
        <p:nvSpPr>
          <p:cNvPr id="60425" name="Text Box 51"/>
          <p:cNvSpPr txBox="1">
            <a:spLocks noChangeArrowheads="1"/>
          </p:cNvSpPr>
          <p:nvPr/>
        </p:nvSpPr>
        <p:spPr bwMode="auto">
          <a:xfrm>
            <a:off x="4302864" y="3341039"/>
            <a:ext cx="572593" cy="29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7338" indent="-287338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>
              <a:lnSpc>
                <a:spcPct val="130000"/>
              </a:lnSpc>
            </a:pPr>
            <a:r>
              <a:rPr lang="en-US" altLang="ko-KR" sz="116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15 16</a:t>
            </a:r>
          </a:p>
        </p:txBody>
      </p:sp>
      <p:sp>
        <p:nvSpPr>
          <p:cNvPr id="60426" name="Rectangle 52"/>
          <p:cNvSpPr>
            <a:spLocks noChangeArrowheads="1"/>
          </p:cNvSpPr>
          <p:nvPr/>
        </p:nvSpPr>
        <p:spPr bwMode="auto">
          <a:xfrm>
            <a:off x="993077" y="4050279"/>
            <a:ext cx="3610676" cy="388393"/>
          </a:xfrm>
          <a:prstGeom prst="rect">
            <a:avLst/>
          </a:prstGeom>
          <a:solidFill>
            <a:srgbClr val="CCFFFF"/>
          </a:solidFill>
          <a:ln w="12700">
            <a:solidFill>
              <a:srgbClr val="0099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defTabSz="736860"/>
            <a:r>
              <a:rPr lang="en-US" altLang="ko-KR" sz="1740">
                <a:latin typeface="Arial" charset="0"/>
                <a:ea typeface="돋움" pitchFamily="50" charset="-127"/>
              </a:rPr>
              <a:t>16bit UDP Length</a:t>
            </a:r>
          </a:p>
        </p:txBody>
      </p:sp>
      <p:sp>
        <p:nvSpPr>
          <p:cNvPr id="60427" name="Rectangle 53"/>
          <p:cNvSpPr>
            <a:spLocks noChangeArrowheads="1"/>
          </p:cNvSpPr>
          <p:nvPr/>
        </p:nvSpPr>
        <p:spPr bwMode="auto">
          <a:xfrm>
            <a:off x="4603753" y="4050279"/>
            <a:ext cx="3610676" cy="388393"/>
          </a:xfrm>
          <a:prstGeom prst="rect">
            <a:avLst/>
          </a:prstGeom>
          <a:solidFill>
            <a:srgbClr val="FFFF99"/>
          </a:solidFill>
          <a:ln w="12700">
            <a:solidFill>
              <a:srgbClr val="0099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defTabSz="736860"/>
            <a:r>
              <a:rPr lang="en-US" altLang="ko-KR" sz="1740">
                <a:latin typeface="Arial" charset="0"/>
                <a:ea typeface="돋움" pitchFamily="50" charset="-127"/>
              </a:rPr>
              <a:t>16bit UDP Checksum</a:t>
            </a:r>
          </a:p>
        </p:txBody>
      </p:sp>
    </p:spTree>
    <p:extLst>
      <p:ext uri="{BB962C8B-B14F-4D97-AF65-F5344CB8AC3E}">
        <p14:creationId xmlns:p14="http://schemas.microsoft.com/office/powerpoint/2010/main" val="94050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521478"/>
            <a:ext cx="7886700" cy="617696"/>
          </a:xfrm>
        </p:spPr>
        <p:txBody>
          <a:bodyPr>
            <a:normAutofit/>
          </a:bodyPr>
          <a:lstStyle/>
          <a:p>
            <a:r>
              <a:rPr lang="en-US" altLang="ko-K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endParaRPr lang="ko-KR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34493"/>
            <a:ext cx="7886700" cy="10972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Message-Oriented Transport Protocol </a:t>
            </a: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상위계층에서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payload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된 데이터를 단편화하지 않음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데이터 전송이 완료되지 전까지는 다른 데이터 흐름에 영향을 받지 않음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628650" y="3333465"/>
            <a:ext cx="7886700" cy="617696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endParaRPr lang="ko-KR" alt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745236" y="4039838"/>
            <a:ext cx="7886700" cy="109728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Stream-Oriented Transport Protocol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상위계층에서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payload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된 데이터를 단편화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단편화를 통해 다수의 데이터들과 네트워크 자원을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593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5776928" y="3010853"/>
          <a:ext cx="3178267" cy="49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92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183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</a:p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795706" y="2127695"/>
          <a:ext cx="2151125" cy="46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11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2096106" y="4005263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455258" y="3998405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/>
          </p:nvPr>
        </p:nvGraphicFramePr>
        <p:xfrm>
          <a:off x="6786564" y="3984689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/>
          </p:nvPr>
        </p:nvGraphicFramePr>
        <p:xfrm>
          <a:off x="424625" y="5020247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/>
          </p:nvPr>
        </p:nvGraphicFramePr>
        <p:xfrm>
          <a:off x="3387281" y="5013389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/>
          </p:nvPr>
        </p:nvGraphicFramePr>
        <p:xfrm>
          <a:off x="6219635" y="5013389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93622" y="694844"/>
            <a:ext cx="5413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UDP </a:t>
            </a:r>
            <a:r>
              <a:rPr lang="ko-KR" altLang="en-US"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기반의 애플리케이션 데이터 전송 </a:t>
            </a:r>
          </a:p>
        </p:txBody>
      </p:sp>
      <p:sp>
        <p:nvSpPr>
          <p:cNvPr id="3" name="오른쪽 화살표 2"/>
          <p:cNvSpPr/>
          <p:nvPr/>
        </p:nvSpPr>
        <p:spPr>
          <a:xfrm rot="5400000">
            <a:off x="7837408" y="2669621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9" name="오른쪽 화살표 18"/>
          <p:cNvSpPr/>
          <p:nvPr/>
        </p:nvSpPr>
        <p:spPr>
          <a:xfrm rot="5400000">
            <a:off x="7837407" y="3612597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0" name="오른쪽 화살표 19"/>
          <p:cNvSpPr/>
          <p:nvPr/>
        </p:nvSpPr>
        <p:spPr>
          <a:xfrm rot="5400000">
            <a:off x="7837406" y="4627604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직사각형 3"/>
          <p:cNvSpPr/>
          <p:nvPr/>
        </p:nvSpPr>
        <p:spPr>
          <a:xfrm>
            <a:off x="493622" y="1321762"/>
            <a:ext cx="36663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Message-oriented transport protocol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20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5682700" y="2835734"/>
          <a:ext cx="317826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3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819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4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860199" y="1835035"/>
          <a:ext cx="2014693" cy="46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6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2070750" y="3896874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420618" y="3903732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/>
          </p:nvPr>
        </p:nvGraphicFramePr>
        <p:xfrm>
          <a:off x="6738205" y="3896874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0795" y="719196"/>
            <a:ext cx="53605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TCP </a:t>
            </a:r>
            <a:r>
              <a:rPr lang="ko-KR" altLang="en-US"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기반의 애플리케이션 데이터 전송 </a:t>
            </a:r>
            <a:endParaRPr lang="en-US" altLang="ko-KR" sz="2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sz="2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276" y="1388611"/>
            <a:ext cx="26068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</a:t>
            </a:r>
            <a:r>
              <a:rPr lang="en-US" altLang="ko-KR" sz="15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en-US" altLang="ko-KR" sz="15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MSS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</a:t>
            </a:r>
            <a:r>
              <a:rPr lang="en-US" altLang="ko-KR" sz="15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5000</a:t>
            </a:r>
            <a:r>
              <a:rPr lang="en-US" altLang="ko-KR" sz="15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byte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경우 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/>
          </p:nvPr>
        </p:nvGraphicFramePr>
        <p:xfrm>
          <a:off x="289663" y="5031873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/>
          </p:nvPr>
        </p:nvGraphicFramePr>
        <p:xfrm>
          <a:off x="3245461" y="5038731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/>
          </p:nvPr>
        </p:nvGraphicFramePr>
        <p:xfrm>
          <a:off x="6180685" y="5025015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112974" y="3664457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ID=747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3268" y="3657313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ID=747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63555" y="3664457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ID=747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오른쪽 화살표 15"/>
          <p:cNvSpPr/>
          <p:nvPr/>
        </p:nvSpPr>
        <p:spPr>
          <a:xfrm rot="5400000">
            <a:off x="7837408" y="2431442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9" name="오른쪽 화살표 18"/>
          <p:cNvSpPr/>
          <p:nvPr/>
        </p:nvSpPr>
        <p:spPr>
          <a:xfrm rot="5400000">
            <a:off x="7821557" y="3427644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0" name="오른쪽 화살표 19"/>
          <p:cNvSpPr/>
          <p:nvPr/>
        </p:nvSpPr>
        <p:spPr>
          <a:xfrm rot="5400000">
            <a:off x="7837408" y="4569370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627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344940" y="1766533"/>
          <a:ext cx="2627341" cy="467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73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676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5007697" y="2806238"/>
          <a:ext cx="1936190" cy="43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1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899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2000byte</a:t>
                      </a:r>
                      <a:endParaRPr lang="ko-KR" altLang="en-US" sz="12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90795" y="617080"/>
            <a:ext cx="53605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TCP </a:t>
            </a:r>
            <a:r>
              <a:rPr lang="ko-KR" altLang="en-US"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기반의 애플리케이션 데이터 전송 </a:t>
            </a:r>
            <a:endParaRPr lang="en-US" altLang="ko-KR" sz="2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sz="2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/>
          </p:nvPr>
        </p:nvGraphicFramePr>
        <p:xfrm>
          <a:off x="7071955" y="2799380"/>
          <a:ext cx="1936190" cy="43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1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899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2000byte</a:t>
                      </a:r>
                      <a:endParaRPr lang="ko-KR" altLang="en-US" sz="12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/>
          </p:nvPr>
        </p:nvGraphicFramePr>
        <p:xfrm>
          <a:off x="257241" y="4031211"/>
          <a:ext cx="2028440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4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7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123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/>
          </p:nvPr>
        </p:nvGraphicFramePr>
        <p:xfrm>
          <a:off x="2586937" y="4017626"/>
          <a:ext cx="1946145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9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61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951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/>
          </p:nvPr>
        </p:nvGraphicFramePr>
        <p:xfrm>
          <a:off x="4766926" y="4017626"/>
          <a:ext cx="2028440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4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7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123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8" name="표 27"/>
          <p:cNvGraphicFramePr>
            <a:graphicFrameLocks noGrp="1"/>
          </p:cNvGraphicFramePr>
          <p:nvPr>
            <p:extLst/>
          </p:nvPr>
        </p:nvGraphicFramePr>
        <p:xfrm>
          <a:off x="7071956" y="4004325"/>
          <a:ext cx="1946145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9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61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951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>
            <p:extLst/>
          </p:nvPr>
        </p:nvGraphicFramePr>
        <p:xfrm>
          <a:off x="0" y="5142644"/>
          <a:ext cx="224436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29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529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14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123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>
            <p:extLst/>
          </p:nvPr>
        </p:nvGraphicFramePr>
        <p:xfrm>
          <a:off x="2330006" y="5156645"/>
          <a:ext cx="215521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6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36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19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801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8" name="표 37"/>
          <p:cNvGraphicFramePr>
            <a:graphicFrameLocks noGrp="1"/>
          </p:cNvGraphicFramePr>
          <p:nvPr>
            <p:extLst/>
          </p:nvPr>
        </p:nvGraphicFramePr>
        <p:xfrm>
          <a:off x="6877649" y="5145746"/>
          <a:ext cx="224436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29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529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14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123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>
            <p:extLst/>
          </p:nvPr>
        </p:nvGraphicFramePr>
        <p:xfrm>
          <a:off x="4560516" y="5152454"/>
          <a:ext cx="224436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29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529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14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123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9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53216" y="2573041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SN=1100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97939" y="2557631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SN=3100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8997" y="3815004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ID=332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85717" y="3805394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ID=332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910" y="3807860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8337" y="3793167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490" y="3808847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9480" y="3808847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SN=2600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0790" y="3815003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2100" y="3800310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SN=4600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276" y="1137270"/>
            <a:ext cx="26068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</a:t>
            </a:r>
            <a:r>
              <a:rPr lang="en-US" altLang="ko-KR" sz="15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en-US" altLang="ko-KR" sz="15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MSS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</a:t>
            </a:r>
            <a:r>
              <a:rPr lang="ko-KR" altLang="en-US" sz="150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5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2000 byte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경우 </a:t>
            </a:r>
          </a:p>
        </p:txBody>
      </p:sp>
      <p:sp>
        <p:nvSpPr>
          <p:cNvPr id="35" name="오른쪽 화살표 34"/>
          <p:cNvSpPr/>
          <p:nvPr/>
        </p:nvSpPr>
        <p:spPr>
          <a:xfrm rot="5400000">
            <a:off x="8390699" y="2427711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6" name="오른쪽 화살표 35"/>
          <p:cNvSpPr/>
          <p:nvPr/>
        </p:nvSpPr>
        <p:spPr>
          <a:xfrm rot="5400000">
            <a:off x="8390698" y="3532421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0" name="오른쪽 화살표 39"/>
          <p:cNvSpPr/>
          <p:nvPr/>
        </p:nvSpPr>
        <p:spPr>
          <a:xfrm rot="5400000">
            <a:off x="8390698" y="4749369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5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2719726" y="2949515"/>
          <a:ext cx="2011627" cy="43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87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817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2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280536" y="1784216"/>
          <a:ext cx="2627341" cy="46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73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4907428" y="2949515"/>
          <a:ext cx="1936190" cy="43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1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899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2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14390" y="676223"/>
            <a:ext cx="53605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TCP </a:t>
            </a:r>
            <a:r>
              <a:rPr lang="ko-KR" altLang="en-US"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기반의 애플리케이션 데이터 전송 </a:t>
            </a:r>
            <a:endParaRPr lang="en-US" altLang="ko-KR" sz="2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sz="2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/>
          </p:nvPr>
        </p:nvGraphicFramePr>
        <p:xfrm>
          <a:off x="6971686" y="2942657"/>
          <a:ext cx="1936190" cy="43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1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899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1200byte</a:t>
                      </a:r>
                      <a:endParaRPr lang="ko-KR" altLang="en-US" sz="12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/>
          </p:nvPr>
        </p:nvGraphicFramePr>
        <p:xfrm>
          <a:off x="1800037" y="4034534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/>
          </p:nvPr>
        </p:nvGraphicFramePr>
        <p:xfrm>
          <a:off x="4365690" y="4034534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/>
          </p:nvPr>
        </p:nvGraphicFramePr>
        <p:xfrm>
          <a:off x="6768181" y="4019465"/>
          <a:ext cx="2139694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6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>
            <p:extLst/>
          </p:nvPr>
        </p:nvGraphicFramePr>
        <p:xfrm>
          <a:off x="6193980" y="5122069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/>
          </p:nvPr>
        </p:nvGraphicFramePr>
        <p:xfrm>
          <a:off x="3382200" y="5149501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/>
          </p:nvPr>
        </p:nvGraphicFramePr>
        <p:xfrm>
          <a:off x="529272" y="5163217"/>
          <a:ext cx="2713898" cy="454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1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73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306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54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1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03162" y="2722163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SN=1100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22537" y="2722163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SN=2500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88419" y="2705717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SN=3900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791273" y="3784480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ID=232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33034" y="3784480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SN=1100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64452" y="3805054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ID=233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06213" y="3805054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SN=2500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25123" y="3803701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SN=3900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11936" y="3803701"/>
            <a:ext cx="614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ID=234</a:t>
            </a:r>
            <a:endParaRPr lang="ko-KR" altLang="en-US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오른쪽 화살표 32"/>
          <p:cNvSpPr/>
          <p:nvPr/>
        </p:nvSpPr>
        <p:spPr>
          <a:xfrm rot="5400000">
            <a:off x="8390699" y="2427711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4" name="오른쪽 화살표 33"/>
          <p:cNvSpPr/>
          <p:nvPr/>
        </p:nvSpPr>
        <p:spPr>
          <a:xfrm rot="5400000">
            <a:off x="8390699" y="3605257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5" name="오른쪽 화살표 34"/>
          <p:cNvSpPr/>
          <p:nvPr/>
        </p:nvSpPr>
        <p:spPr>
          <a:xfrm rot="5400000">
            <a:off x="8406422" y="4645287"/>
            <a:ext cx="275034" cy="246460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6" name="TextBox 35"/>
          <p:cNvSpPr txBox="1"/>
          <p:nvPr/>
        </p:nvSpPr>
        <p:spPr>
          <a:xfrm>
            <a:off x="487871" y="1195353"/>
            <a:ext cx="26068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</a:t>
            </a:r>
            <a:r>
              <a:rPr lang="en-US" altLang="ko-KR" sz="15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en-US" altLang="ko-KR" sz="15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MSS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</a:t>
            </a:r>
            <a:r>
              <a:rPr lang="ko-KR" altLang="en-US" sz="150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5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1400 byte</a:t>
            </a:r>
            <a:r>
              <a:rPr lang="ko-KR" altLang="en-US" sz="15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경우 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46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1" y="466160"/>
            <a:ext cx="8157229" cy="554151"/>
          </a:xfrm>
        </p:spPr>
        <p:txBody>
          <a:bodyPr>
            <a:norm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3) </a:t>
            </a:r>
            <a:r>
              <a:rPr lang="en-US" altLang="ko-KR" sz="3200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IP Header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7236" y="1289589"/>
            <a:ext cx="8268644" cy="620948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헤더는 총 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20Byte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기본 길이와 옵션을 사용해 크기가 최대 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60Byte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까지 가질 수 있음</a:t>
            </a:r>
          </a:p>
          <a:p>
            <a:pPr>
              <a:lnSpc>
                <a:spcPct val="170000"/>
              </a:lnSpc>
            </a:pPr>
            <a:endParaRPr lang="ko-KR" altLang="en-US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81" y="2398865"/>
            <a:ext cx="7606382" cy="419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6606904" y="6435402"/>
            <a:ext cx="2462451" cy="42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1037753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defRPr>
            </a:lvl1pPr>
            <a:lvl2pPr marL="518876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37753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56629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75505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94381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3258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32134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51010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E1AC92-EAE1-4E34-95A8-13C242A10183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8616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3318" y="721964"/>
            <a:ext cx="8356692" cy="6022963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Version: IP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프로토콜의 버전을 나타내는 </a:t>
            </a:r>
            <a:r>
              <a:rPr lang="en-US" altLang="ko-KR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 정보</a:t>
            </a:r>
            <a:endParaRPr lang="en-US" altLang="ko-KR" sz="1547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IHL: Internet Header Length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이 값에 </a:t>
            </a:r>
            <a:r>
              <a:rPr lang="en-US" altLang="ko-KR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5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곱한 바이트 단위 크기가 </a:t>
            </a:r>
            <a:r>
              <a:rPr lang="en-US" altLang="ko-KR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헤더의 크기</a:t>
            </a:r>
            <a:r>
              <a:rPr lang="en-US" altLang="ko-KR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547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</a:t>
            </a: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Type of Service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패킷의 처리 우선순위를 나타냄</a:t>
            </a:r>
            <a:r>
              <a:rPr lang="en-US" altLang="ko-KR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length: IP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헤더와</a:t>
            </a:r>
            <a:r>
              <a:rPr lang="ko-KR" altLang="en-US" sz="1547" b="0" dirty="0"/>
              <a:t> </a:t>
            </a: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포함한 바이트 단위 길이</a:t>
            </a:r>
            <a:endParaRPr lang="en-US" altLang="ko-KR" sz="1547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r>
              <a:rPr lang="en-US" altLang="ko-KR" sz="1547" b="0" dirty="0"/>
              <a:t>: 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 단편화 시 사용되는 식별자</a:t>
            </a:r>
            <a:r>
              <a:rPr lang="en-US" altLang="ko-KR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DF: Don’t Fragment. 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단편화 금지 플래그</a:t>
            </a:r>
            <a:endParaRPr lang="en-US" altLang="ko-KR" sz="1547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MF: More Fragment. 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패킷 이후 추가 단편이 있음을 알리는 플래그</a:t>
            </a:r>
            <a:endParaRPr lang="en-US" altLang="ko-KR" sz="1547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 offset</a:t>
            </a:r>
            <a:r>
              <a:rPr lang="en-US" altLang="ko-KR" sz="1547" b="0" dirty="0"/>
              <a:t>: 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단편을 조립해 한 데이터로 만들 수 있도록 단편의 위치를 기술한 정보</a:t>
            </a:r>
            <a:r>
              <a:rPr lang="en-US" altLang="ko-KR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TTL: Time To Live 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패킷이 한 </a:t>
            </a: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지날 때마다 감소되는 값</a:t>
            </a:r>
            <a:r>
              <a:rPr lang="en-US" altLang="ko-KR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0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되면 패킷은 </a:t>
            </a:r>
            <a:r>
              <a:rPr lang="ko-KR" altLang="en-US" sz="1547" b="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버려짐</a:t>
            </a:r>
            <a:endParaRPr lang="en-US" altLang="ko-KR" sz="1547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Protocol: </a:t>
            </a:r>
            <a:r>
              <a:rPr lang="en-US" altLang="ko-KR" sz="1547" b="0" dirty="0"/>
              <a:t>IP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 다음 헤더가 무엇인지 알려줌</a:t>
            </a:r>
            <a:endParaRPr lang="en-US" altLang="ko-KR" sz="1547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checksum: 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패킷에 대한 </a:t>
            </a:r>
            <a:r>
              <a:rPr lang="ko-KR" altLang="en-US" sz="1547" b="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체크섬</a:t>
            </a:r>
            <a:r>
              <a:rPr lang="en-US" altLang="ko-KR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정보를 확인해 패킷의 손상 여부를 검출</a:t>
            </a:r>
            <a:r>
              <a:rPr lang="en-US" altLang="ko-KR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address: 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전송한 시스템의 </a:t>
            </a:r>
            <a:r>
              <a:rPr lang="en-US" altLang="ko-KR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</a:t>
            </a:r>
            <a:endParaRPr lang="en-US" altLang="ko-KR" sz="1547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547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address: 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수신할 시스템의 </a:t>
            </a:r>
            <a:r>
              <a:rPr lang="en-US" altLang="ko-KR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547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93318" y="230897"/>
            <a:ext cx="7560840" cy="394280"/>
          </a:xfrm>
        </p:spPr>
        <p:txBody>
          <a:bodyPr>
            <a:noAutofit/>
          </a:bodyPr>
          <a:lstStyle/>
          <a:p>
            <a:r>
              <a:rPr lang="en-US" altLang="ko-KR" sz="2400" b="0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[ IP </a:t>
            </a: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Field ]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1573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슬라이드 번호 개체 틀 37">
            <a:extLst>
              <a:ext uri="{FF2B5EF4-FFF2-40B4-BE49-F238E27FC236}">
                <a16:creationId xmlns="" xmlns:a16="http://schemas.microsoft.com/office/drawing/2014/main" id="{E1A19A82-4036-28BA-8BE6-0A11DBE6F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38840-678D-4582-86B3-1E48E2E7EE8A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59746E3-192D-ECA4-2FFA-E3300D3B25D6}"/>
              </a:ext>
            </a:extLst>
          </p:cNvPr>
          <p:cNvSpPr txBox="1"/>
          <p:nvPr/>
        </p:nvSpPr>
        <p:spPr>
          <a:xfrm>
            <a:off x="-31110" y="438011"/>
            <a:ext cx="51169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MTU (Maximum Transfer Unit)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="" xmlns:a16="http://schemas.microsoft.com/office/drawing/2014/main" id="{E5E5B834-B686-15BC-7DB5-066645B00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709" y="1202784"/>
            <a:ext cx="8873291" cy="231781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기기가 전송할 수 있는 최대 전송 단위 </a:t>
            </a:r>
            <a:endParaRPr lang="en-US" altLang="ko-KR" sz="17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환경에 따라 각각의 크기는 다음 </a:t>
            </a:r>
            <a:endParaRPr lang="en-US" altLang="ko-KR" sz="17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현재 대부분의 네트워크 환경이기 때문에 </a:t>
            </a:r>
            <a:r>
              <a:rPr lang="en-US" altLang="ko-KR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MTU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1500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바이트로 통용되고 있음 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="" xmlns:a16="http://schemas.microsoft.com/office/drawing/2014/main" id="{3EE22305-1FFB-2D44-4F58-994BC45E221A}"/>
              </a:ext>
            </a:extLst>
          </p:cNvPr>
          <p:cNvGraphicFramePr>
            <a:graphicFrameLocks noGrp="1"/>
          </p:cNvGraphicFramePr>
          <p:nvPr/>
        </p:nvGraphicFramePr>
        <p:xfrm>
          <a:off x="1156252" y="2699027"/>
          <a:ext cx="6685722" cy="36371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21426">
                  <a:extLst>
                    <a:ext uri="{9D8B030D-6E8A-4147-A177-3AD203B41FA5}">
                      <a16:colId xmlns="" xmlns:a16="http://schemas.microsoft.com/office/drawing/2014/main" val="2930222706"/>
                    </a:ext>
                  </a:extLst>
                </a:gridCol>
                <a:gridCol w="2564296">
                  <a:extLst>
                    <a:ext uri="{9D8B030D-6E8A-4147-A177-3AD203B41FA5}">
                      <a16:colId xmlns="" xmlns:a16="http://schemas.microsoft.com/office/drawing/2014/main" val="1403144105"/>
                    </a:ext>
                  </a:extLst>
                </a:gridCol>
              </a:tblGrid>
              <a:tr h="3517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전송매체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MTU(bytes)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32329309"/>
                  </a:ext>
                </a:extLst>
              </a:tr>
              <a:tr h="351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IPv4 Path MTU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최소</a:t>
                      </a:r>
                      <a:r>
                        <a:rPr lang="ko-KR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05551029"/>
                  </a:ext>
                </a:extLst>
              </a:tr>
              <a:tr h="3517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IPv6 Path MTU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최소 </a:t>
                      </a:r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31385530"/>
                  </a:ext>
                </a:extLst>
              </a:tr>
              <a:tr h="351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Ethernet v2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60567354"/>
                  </a:ext>
                </a:extLst>
              </a:tr>
              <a:tr h="8038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Ethernet LLC(Logical</a:t>
                      </a:r>
                      <a:r>
                        <a:rPr lang="ko-KR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  <a:r>
                        <a:rPr lang="ko-KR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Control)</a:t>
                      </a:r>
                    </a:p>
                    <a:p>
                      <a:pPr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SNAP (Subnetwork Access Protocol)</a:t>
                      </a:r>
                    </a:p>
                    <a:p>
                      <a:pPr latinLnBrk="1"/>
                      <a:r>
                        <a:rPr lang="en-US" altLang="ko-KR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PPPoE</a:t>
                      </a:r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(P2P over Ethernet)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1492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57188511"/>
                  </a:ext>
                </a:extLst>
              </a:tr>
              <a:tr h="351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Ethernet Jumbo Frames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1501~9216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45718603"/>
                  </a:ext>
                </a:extLst>
              </a:tr>
              <a:tr h="351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WLAN(802.11)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7981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42958780"/>
                  </a:ext>
                </a:extLst>
              </a:tr>
              <a:tr h="351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Token Ring(802.5)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4464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62564768"/>
                  </a:ext>
                </a:extLst>
              </a:tr>
              <a:tr h="351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FDDI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4352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99857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449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44479" y="997405"/>
            <a:ext cx="8234855" cy="2627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MTU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큰 네트워크에서 </a:t>
            </a: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MTU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작은 네트워크로 </a:t>
            </a:r>
            <a:r>
              <a:rPr lang="ko-KR" altLang="en-US" sz="17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데이터그램이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전송될 경우 데이터그램은 나누어서 보내져야 함 </a:t>
            </a:r>
            <a:endParaRPr lang="en-US" altLang="ko-KR" sz="17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7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데이터그램의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7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재조립은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최종목적지 호스트에 의해서만 수행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7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재조립으로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인해 발생하는 비효율성 때문에 전송 중 </a:t>
            </a:r>
            <a:r>
              <a:rPr lang="ko-KR" altLang="en-US" sz="17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재조립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안됨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단편화와 관련된 필드 </a:t>
            </a:r>
            <a:r>
              <a:rPr lang="en-US" altLang="ko-KR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Identification, Flag, Fragmentation offset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7620" y="319347"/>
            <a:ext cx="3230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단편화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(Fragmentation) 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481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73441" y="297194"/>
            <a:ext cx="8157229" cy="752688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Fragmentation </a:t>
            </a:r>
            <a:r>
              <a:rPr lang="ko-KR" altLang="en-US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예제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87" y="2341447"/>
            <a:ext cx="8416538" cy="3731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281471" y="1473091"/>
            <a:ext cx="7559475" cy="323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ko-KR" altLang="en-US" sz="1504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예를 들어 </a:t>
            </a:r>
            <a:r>
              <a:rPr lang="en-US" altLang="ko-KR" sz="1504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4000byte </a:t>
            </a:r>
            <a:r>
              <a:rPr lang="ko-KR" altLang="en-US" sz="1504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데이터그램이</a:t>
            </a:r>
            <a:r>
              <a:rPr lang="ko-KR" altLang="en-US" sz="1504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세 개로 </a:t>
            </a:r>
            <a:r>
              <a:rPr lang="ko-KR" altLang="en-US" sz="1504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단편화될</a:t>
            </a:r>
            <a:r>
              <a:rPr lang="ko-KR" altLang="en-US" sz="1504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경우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6609720" y="6313280"/>
            <a:ext cx="2462451" cy="42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1037753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defRPr>
            </a:lvl1pPr>
            <a:lvl2pPr marL="518876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37753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56629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75505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94381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3258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32134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51010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E1AC92-EAE1-4E34-95A8-13C242A10183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795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03" y="1500075"/>
            <a:ext cx="8604701" cy="4782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6532462" y="6282107"/>
            <a:ext cx="2462451" cy="42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1037753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defRPr>
            </a:lvl1pPr>
            <a:lvl2pPr marL="518876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37753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56629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75505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94381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3258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32134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51010" algn="l" defTabSz="1037753" rtl="0" eaLnBrk="1" latinLnBrk="1" hangingPunct="1">
              <a:defRPr sz="20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E1AC92-EAE1-4E34-95A8-13C242A10183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="" xmlns:a16="http://schemas.microsoft.com/office/drawing/2014/main" id="{AA8E1A80-C856-65CD-5663-3D581E43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41" y="297194"/>
            <a:ext cx="8157229" cy="752688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Fragmentation </a:t>
            </a:r>
            <a:r>
              <a:rPr lang="ko-KR" altLang="en-US" sz="2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예제</a:t>
            </a:r>
          </a:p>
        </p:txBody>
      </p:sp>
    </p:spTree>
    <p:extLst>
      <p:ext uri="{BB962C8B-B14F-4D97-AF65-F5344CB8AC3E}">
        <p14:creationId xmlns:p14="http://schemas.microsoft.com/office/powerpoint/2010/main" val="2567959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슬라이드 번호 개체 틀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0" y="212725"/>
            <a:ext cx="7888288" cy="852488"/>
          </a:xfrm>
        </p:spPr>
        <p:txBody>
          <a:bodyPr>
            <a:normAutofit/>
          </a:bodyPr>
          <a:lstStyle/>
          <a:p>
            <a:pPr marL="273050"/>
            <a:r>
              <a:rPr lang="en-US" altLang="ko-KR" sz="27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MSS</a:t>
            </a: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(Maximum Segment Size)</a:t>
            </a:r>
            <a:endParaRPr lang="ko-KR" altLang="en-US" sz="27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90" y="2787518"/>
            <a:ext cx="7798675" cy="2473070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97050" y="1293458"/>
            <a:ext cx="8212954" cy="103741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1587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kumimoji="0" lang="ko-KR" altLang="ko-KR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TCP</a:t>
            </a:r>
            <a:r>
              <a:rPr kumimoji="0" lang="ko-KR" altLang="ko-KR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상에서 전송할 수 있는 사용자 데이터의 최대 크기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</a:t>
            </a:r>
            <a:r>
              <a:rPr kumimoji="0" lang="ko-KR" altLang="ko-KR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MSS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= MTU - IP Header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크기 (최소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20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Byte) - TCP Header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크기 (최소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20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Byte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551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4712" y="447534"/>
            <a:ext cx="2715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[</a:t>
            </a:r>
            <a:r>
              <a:rPr lang="ko-KR" altLang="en-US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참고</a:t>
            </a: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] </a:t>
            </a:r>
            <a:r>
              <a:rPr lang="ko-KR" altLang="en-US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명령어 </a:t>
            </a:r>
            <a:r>
              <a:rPr lang="en-US" altLang="ko-KR" sz="24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netsh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12616" y="873659"/>
            <a:ext cx="4599336" cy="78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ea typeface="함초롬바탕" panose="02030504000101010101"/>
              </a:rPr>
              <a:t>마이크로소프트의 유틸리티</a:t>
            </a:r>
            <a:endParaRPr lang="en-US" altLang="ko-KR" sz="1600" dirty="0">
              <a:ea typeface="함초롬바탕" panose="02030504000101010101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ea typeface="함초롬바탕" panose="02030504000101010101"/>
              </a:rPr>
              <a:t>로컬 또는 원격 구성의 네트워크 설정을 변경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505" y="1737884"/>
            <a:ext cx="6936434" cy="299041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504" y="4822386"/>
            <a:ext cx="5856429" cy="20209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98903" y="6055048"/>
            <a:ext cx="2103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ea typeface="함초롬바탕" panose="02030504000101010101"/>
              </a:rPr>
              <a:t>관리자권한으로 실행</a:t>
            </a:r>
          </a:p>
        </p:txBody>
      </p:sp>
    </p:spTree>
    <p:extLst>
      <p:ext uri="{BB962C8B-B14F-4D97-AF65-F5344CB8AC3E}">
        <p14:creationId xmlns:p14="http://schemas.microsoft.com/office/powerpoint/2010/main" val="2837790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666498" y="656676"/>
            <a:ext cx="7700854" cy="4653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C:\&gt;netsh interface show interface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C:\&gt;netsh interface ipv4 show global 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C:\&gt;netsh interface ipv4 show interfaces 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MTU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설정 변경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C:\&gt;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netsh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ipv4 set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subinterface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“6"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mtu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=9000 store=persistent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C:\&gt;netsh interface ipv4 show global 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4633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7B2209E9-2AE8-42A0-AB53-D13299BB30AF}" type="slidenum">
              <a:rPr lang="ko-KR" altLang="en-US" smtClean="0"/>
              <a:pPr algn="l"/>
              <a:t>31</a:t>
            </a:fld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78" y="270175"/>
            <a:ext cx="3851315" cy="429028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19" y="4669460"/>
            <a:ext cx="7504347" cy="202588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367254" y="3476787"/>
            <a:ext cx="770085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C:\&gt;netsh interface ipv4 show interfaces </a:t>
            </a:r>
          </a:p>
          <a:p>
            <a:r>
              <a:rPr lang="en-US" altLang="ko-KR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C:\&gt; </a:t>
            </a:r>
            <a:r>
              <a:rPr lang="en-US" altLang="ko-KR" dirty="0" err="1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netsh</a:t>
            </a:r>
            <a:r>
              <a:rPr lang="en-US" altLang="ko-KR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 ipv4 set </a:t>
            </a:r>
            <a:r>
              <a:rPr lang="en-US" altLang="ko-KR" dirty="0" err="1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subinterface</a:t>
            </a:r>
            <a:r>
              <a:rPr lang="en-US" altLang="ko-KR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“6" </a:t>
            </a:r>
            <a:r>
              <a:rPr lang="en-US" altLang="ko-KR" dirty="0" err="1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mtu</a:t>
            </a:r>
            <a:r>
              <a:rPr lang="en-US" altLang="ko-KR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=9000 store=persistent 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348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855515" y="6415985"/>
            <a:ext cx="2057400" cy="365125"/>
          </a:xfrm>
        </p:spPr>
        <p:txBody>
          <a:bodyPr/>
          <a:lstStyle/>
          <a:p>
            <a:fld id="{7B2209E9-2AE8-42A0-AB53-D13299BB30AF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521293" y="362627"/>
            <a:ext cx="79965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smtClean="0">
                <a:solidFill>
                  <a:srgbClr val="333333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400" b="1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TTL(Time</a:t>
            </a:r>
            <a:r>
              <a:rPr lang="ko-KR" alt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Live)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62B329FB-1E67-9B6A-2784-8A0A2B3E6481}"/>
              </a:ext>
            </a:extLst>
          </p:cNvPr>
          <p:cNvSpPr/>
          <p:nvPr/>
        </p:nvSpPr>
        <p:spPr>
          <a:xfrm>
            <a:off x="678060" y="1050877"/>
            <a:ext cx="8234855" cy="2971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패킷 수명을 제한하기 위해 </a:t>
            </a:r>
            <a:r>
              <a:rPr lang="ko-KR" altLang="en-US" sz="16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데이터그램이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통과하는 최대 홉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(hop)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수를 지정 </a:t>
            </a:r>
            <a:endParaRPr lang="en-US" altLang="ko-KR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패킷 전달과정에서 라우터와 같은 전송장비를 통과 할 때마다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TTL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값 감소 </a:t>
            </a:r>
            <a:endParaRPr lang="en-US" altLang="ko-KR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TTL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이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0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이 되면 라우터에서 폐기하여 불필요한 패킷이 네트워크에 방치</a:t>
            </a:r>
            <a:endParaRPr lang="en-US" altLang="ko-KR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lvl="1">
              <a:lnSpc>
                <a:spcPct val="200000"/>
              </a:lnSpc>
            </a:pP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되는 것을 방지 </a:t>
            </a:r>
            <a:endParaRPr lang="en-US" altLang="ko-KR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OS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종류와 버전에 따라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TTL 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값이 다름 </a:t>
            </a:r>
            <a:endParaRPr lang="en-US" altLang="ko-KR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lvl="1">
              <a:lnSpc>
                <a:spcPct val="200000"/>
              </a:lnSpc>
            </a:pPr>
            <a:endParaRPr lang="en-US" altLang="ko-KR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표 2">
            <a:extLst>
              <a:ext uri="{FF2B5EF4-FFF2-40B4-BE49-F238E27FC236}">
                <a16:creationId xmlns="" xmlns:a16="http://schemas.microsoft.com/office/drawing/2014/main" id="{54581631-F7A0-462B-D357-D2BFAAA81B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10105" y="3718608"/>
          <a:ext cx="6392112" cy="26973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3695">
                  <a:extLst>
                    <a:ext uri="{9D8B030D-6E8A-4147-A177-3AD203B41FA5}">
                      <a16:colId xmlns="" xmlns:a16="http://schemas.microsoft.com/office/drawing/2014/main" val="2930222706"/>
                    </a:ext>
                  </a:extLst>
                </a:gridCol>
                <a:gridCol w="2579966">
                  <a:extLst>
                    <a:ext uri="{9D8B030D-6E8A-4147-A177-3AD203B41FA5}">
                      <a16:colId xmlns="" xmlns:a16="http://schemas.microsoft.com/office/drawing/2014/main" val="1403144105"/>
                    </a:ext>
                  </a:extLst>
                </a:gridCol>
                <a:gridCol w="1728451">
                  <a:extLst>
                    <a:ext uri="{9D8B030D-6E8A-4147-A177-3AD203B41FA5}">
                      <a16:colId xmlns="" xmlns:a16="http://schemas.microsoft.com/office/drawing/2014/main" val="2846109712"/>
                    </a:ext>
                  </a:extLst>
                </a:gridCol>
              </a:tblGrid>
              <a:tr h="4495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OS/Version</a:t>
                      </a:r>
                      <a:endParaRPr lang="ko-KR" altLang="en-US" sz="16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ko-KR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TTL</a:t>
                      </a:r>
                      <a:r>
                        <a:rPr lang="ko-KR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UDP TTL 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32329309"/>
                  </a:ext>
                </a:extLst>
              </a:tr>
              <a:tr h="4495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Linux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64</a:t>
                      </a:r>
                      <a:endParaRPr lang="ko-KR" altLang="en-US" sz="16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605551029"/>
                  </a:ext>
                </a:extLst>
              </a:tr>
              <a:tr h="4495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HP/UX 10.01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64</a:t>
                      </a:r>
                      <a:endParaRPr lang="ko-KR" altLang="en-US" sz="16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013763082"/>
                  </a:ext>
                </a:extLst>
              </a:tr>
              <a:tr h="4495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Solaris 2.z 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255 </a:t>
                      </a:r>
                      <a:endParaRPr lang="ko-KR" altLang="en-US" sz="16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872055063"/>
                  </a:ext>
                </a:extLst>
              </a:tr>
              <a:tr h="4495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 Server 2008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128</a:t>
                      </a:r>
                      <a:endParaRPr lang="ko-KR" altLang="en-US" sz="16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94797222"/>
                  </a:ext>
                </a:extLst>
              </a:tr>
              <a:tr h="4495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64</a:t>
                      </a:r>
                      <a:endParaRPr lang="ko-KR" altLang="en-US" sz="16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662564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019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자유형 120"/>
          <p:cNvSpPr/>
          <p:nvPr/>
        </p:nvSpPr>
        <p:spPr>
          <a:xfrm>
            <a:off x="770709" y="809897"/>
            <a:ext cx="7955280" cy="5212080"/>
          </a:xfrm>
          <a:custGeom>
            <a:avLst/>
            <a:gdLst>
              <a:gd name="connsiteX0" fmla="*/ 0 w 7955280"/>
              <a:gd name="connsiteY0" fmla="*/ 0 h 5212080"/>
              <a:gd name="connsiteX1" fmla="*/ 666205 w 7955280"/>
              <a:gd name="connsiteY1" fmla="*/ 587829 h 5212080"/>
              <a:gd name="connsiteX2" fmla="*/ 2821577 w 7955280"/>
              <a:gd name="connsiteY2" fmla="*/ 770709 h 5212080"/>
              <a:gd name="connsiteX3" fmla="*/ 2978331 w 7955280"/>
              <a:gd name="connsiteY3" fmla="*/ 2181497 h 5212080"/>
              <a:gd name="connsiteX4" fmla="*/ 4010297 w 7955280"/>
              <a:gd name="connsiteY4" fmla="*/ 2913017 h 5212080"/>
              <a:gd name="connsiteX5" fmla="*/ 5891348 w 7955280"/>
              <a:gd name="connsiteY5" fmla="*/ 2899954 h 5212080"/>
              <a:gd name="connsiteX6" fmla="*/ 5969725 w 7955280"/>
              <a:gd name="connsiteY6" fmla="*/ 4180114 h 5212080"/>
              <a:gd name="connsiteX7" fmla="*/ 7615645 w 7955280"/>
              <a:gd name="connsiteY7" fmla="*/ 4389120 h 5212080"/>
              <a:gd name="connsiteX8" fmla="*/ 7955280 w 7955280"/>
              <a:gd name="connsiteY8" fmla="*/ 5212080 h 521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55280" h="5212080">
                <a:moveTo>
                  <a:pt x="0" y="0"/>
                </a:moveTo>
                <a:lnTo>
                  <a:pt x="666205" y="587829"/>
                </a:lnTo>
                <a:lnTo>
                  <a:pt x="2821577" y="770709"/>
                </a:lnTo>
                <a:lnTo>
                  <a:pt x="2978331" y="2181497"/>
                </a:lnTo>
                <a:lnTo>
                  <a:pt x="4010297" y="2913017"/>
                </a:lnTo>
                <a:lnTo>
                  <a:pt x="5891348" y="2899954"/>
                </a:lnTo>
                <a:lnTo>
                  <a:pt x="5969725" y="4180114"/>
                </a:lnTo>
                <a:lnTo>
                  <a:pt x="7615645" y="4389120"/>
                </a:lnTo>
                <a:lnTo>
                  <a:pt x="7955280" y="521208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6339" y="6304099"/>
            <a:ext cx="2057400" cy="365125"/>
          </a:xfrm>
        </p:spPr>
        <p:txBody>
          <a:bodyPr/>
          <a:lstStyle/>
          <a:p>
            <a:pPr algn="l"/>
            <a:fld id="{7B2209E9-2AE8-42A0-AB53-D13299BB30AF}" type="slidenum">
              <a:rPr lang="ko-KR" altLang="en-US" smtClean="0"/>
              <a:pPr algn="l"/>
              <a:t>33</a:t>
            </a:fld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1227908" y="1162595"/>
            <a:ext cx="483325" cy="4441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타원 3"/>
          <p:cNvSpPr/>
          <p:nvPr/>
        </p:nvSpPr>
        <p:spPr>
          <a:xfrm>
            <a:off x="3337559" y="1384663"/>
            <a:ext cx="483325" cy="4441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3435530" y="2690949"/>
            <a:ext cx="483325" cy="4441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4532811" y="3487782"/>
            <a:ext cx="483325" cy="4441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6436719" y="3487782"/>
            <a:ext cx="483325" cy="4441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6503668" y="4739185"/>
            <a:ext cx="483325" cy="4441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8139661" y="4935569"/>
            <a:ext cx="483325" cy="4441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/>
          <p:cNvGrpSpPr/>
          <p:nvPr/>
        </p:nvGrpSpPr>
        <p:grpSpPr>
          <a:xfrm flipH="1">
            <a:off x="8139661" y="5645470"/>
            <a:ext cx="756145" cy="820644"/>
            <a:chOff x="1533695" y="4087365"/>
            <a:chExt cx="838200" cy="1011237"/>
          </a:xfrm>
        </p:grpSpPr>
        <p:sp>
          <p:nvSpPr>
            <p:cNvPr id="11" name="Freeform 174"/>
            <p:cNvSpPr>
              <a:spLocks/>
            </p:cNvSpPr>
            <p:nvPr/>
          </p:nvSpPr>
          <p:spPr bwMode="auto">
            <a:xfrm rot="355818">
              <a:off x="2175045" y="4754115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Freeform 175"/>
            <p:cNvSpPr>
              <a:spLocks/>
            </p:cNvSpPr>
            <p:nvPr/>
          </p:nvSpPr>
          <p:spPr bwMode="auto">
            <a:xfrm rot="355818" flipH="1">
              <a:off x="2235370" y="4801740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Freeform 176"/>
            <p:cNvSpPr>
              <a:spLocks/>
            </p:cNvSpPr>
            <p:nvPr/>
          </p:nvSpPr>
          <p:spPr bwMode="auto">
            <a:xfrm rot="355818">
              <a:off x="2229020" y="4830315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4" name="Freeform 177"/>
            <p:cNvSpPr>
              <a:spLocks/>
            </p:cNvSpPr>
            <p:nvPr/>
          </p:nvSpPr>
          <p:spPr bwMode="auto">
            <a:xfrm rot="355818" flipH="1">
              <a:off x="2262358" y="4796977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Freeform 178"/>
            <p:cNvSpPr>
              <a:spLocks/>
            </p:cNvSpPr>
            <p:nvPr/>
          </p:nvSpPr>
          <p:spPr bwMode="auto">
            <a:xfrm rot="355818">
              <a:off x="2248070" y="4795390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6" name="Oval 179"/>
            <p:cNvSpPr>
              <a:spLocks noChangeArrowheads="1"/>
            </p:cNvSpPr>
            <p:nvPr/>
          </p:nvSpPr>
          <p:spPr bwMode="auto">
            <a:xfrm rot="21219751">
              <a:off x="2267120" y="4792215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7" name="Freeform 180"/>
            <p:cNvSpPr>
              <a:spLocks/>
            </p:cNvSpPr>
            <p:nvPr/>
          </p:nvSpPr>
          <p:spPr bwMode="auto">
            <a:xfrm rot="355818">
              <a:off x="2238545" y="4798565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" name="Freeform 182"/>
            <p:cNvSpPr>
              <a:spLocks/>
            </p:cNvSpPr>
            <p:nvPr/>
          </p:nvSpPr>
          <p:spPr bwMode="auto">
            <a:xfrm flipH="1">
              <a:off x="1760708" y="4763640"/>
              <a:ext cx="190500" cy="334962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Freeform 183"/>
            <p:cNvSpPr>
              <a:spLocks/>
            </p:cNvSpPr>
            <p:nvPr/>
          </p:nvSpPr>
          <p:spPr bwMode="auto">
            <a:xfrm flipH="1">
              <a:off x="1778170" y="4750940"/>
              <a:ext cx="187325" cy="331787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Freeform 184"/>
            <p:cNvSpPr>
              <a:spLocks/>
            </p:cNvSpPr>
            <p:nvPr/>
          </p:nvSpPr>
          <p:spPr bwMode="auto">
            <a:xfrm flipH="1">
              <a:off x="1798808" y="4828727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1" name="Freeform 185"/>
            <p:cNvSpPr>
              <a:spLocks/>
            </p:cNvSpPr>
            <p:nvPr/>
          </p:nvSpPr>
          <p:spPr bwMode="auto">
            <a:xfrm flipH="1">
              <a:off x="1886120" y="4850952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Freeform 186"/>
            <p:cNvSpPr>
              <a:spLocks/>
            </p:cNvSpPr>
            <p:nvPr/>
          </p:nvSpPr>
          <p:spPr bwMode="auto">
            <a:xfrm flipH="1">
              <a:off x="1819445" y="4914452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3" name="Freeform 187"/>
            <p:cNvSpPr>
              <a:spLocks/>
            </p:cNvSpPr>
            <p:nvPr/>
          </p:nvSpPr>
          <p:spPr bwMode="auto">
            <a:xfrm flipH="1">
              <a:off x="1754358" y="4925565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4" name="Freeform 189"/>
            <p:cNvSpPr>
              <a:spLocks noChangeAspect="1"/>
            </p:cNvSpPr>
            <p:nvPr/>
          </p:nvSpPr>
          <p:spPr bwMode="auto">
            <a:xfrm>
              <a:off x="1533695" y="4523927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Freeform 190"/>
            <p:cNvSpPr>
              <a:spLocks noChangeAspect="1"/>
            </p:cNvSpPr>
            <p:nvPr/>
          </p:nvSpPr>
          <p:spPr bwMode="auto">
            <a:xfrm>
              <a:off x="1536870" y="4465190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6" name="Freeform 191"/>
            <p:cNvSpPr>
              <a:spLocks/>
            </p:cNvSpPr>
            <p:nvPr/>
          </p:nvSpPr>
          <p:spPr bwMode="auto">
            <a:xfrm>
              <a:off x="1671808" y="4660452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7" name="Freeform 192"/>
            <p:cNvSpPr>
              <a:spLocks/>
            </p:cNvSpPr>
            <p:nvPr/>
          </p:nvSpPr>
          <p:spPr bwMode="auto">
            <a:xfrm>
              <a:off x="1690858" y="4789040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8" name="Oval 193"/>
            <p:cNvSpPr>
              <a:spLocks noChangeArrowheads="1"/>
            </p:cNvSpPr>
            <p:nvPr/>
          </p:nvSpPr>
          <p:spPr bwMode="auto">
            <a:xfrm>
              <a:off x="1809920" y="4796977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9" name="Line 194"/>
            <p:cNvSpPr>
              <a:spLocks noChangeShapeType="1"/>
            </p:cNvSpPr>
            <p:nvPr/>
          </p:nvSpPr>
          <p:spPr bwMode="auto">
            <a:xfrm flipH="1">
              <a:off x="2032170" y="4706490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0" name="Line 195"/>
            <p:cNvSpPr>
              <a:spLocks noChangeShapeType="1"/>
            </p:cNvSpPr>
            <p:nvPr/>
          </p:nvSpPr>
          <p:spPr bwMode="auto">
            <a:xfrm flipH="1">
              <a:off x="2021058" y="4708077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1" name="Line 196"/>
            <p:cNvSpPr>
              <a:spLocks noChangeShapeType="1"/>
            </p:cNvSpPr>
            <p:nvPr/>
          </p:nvSpPr>
          <p:spPr bwMode="auto">
            <a:xfrm flipH="1">
              <a:off x="2044870" y="4704902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2" name="Line 197"/>
            <p:cNvSpPr>
              <a:spLocks noChangeShapeType="1"/>
            </p:cNvSpPr>
            <p:nvPr/>
          </p:nvSpPr>
          <p:spPr bwMode="auto">
            <a:xfrm flipH="1">
              <a:off x="2055983" y="4703315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3" name="Line 198"/>
            <p:cNvSpPr>
              <a:spLocks noChangeShapeType="1"/>
            </p:cNvSpPr>
            <p:nvPr/>
          </p:nvSpPr>
          <p:spPr bwMode="auto">
            <a:xfrm flipH="1">
              <a:off x="2065508" y="4701727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4" name="Line 199"/>
            <p:cNvSpPr>
              <a:spLocks noChangeShapeType="1"/>
            </p:cNvSpPr>
            <p:nvPr/>
          </p:nvSpPr>
          <p:spPr bwMode="auto">
            <a:xfrm flipH="1">
              <a:off x="2076620" y="4698552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5" name="Line 200"/>
            <p:cNvSpPr>
              <a:spLocks noChangeShapeType="1"/>
            </p:cNvSpPr>
            <p:nvPr/>
          </p:nvSpPr>
          <p:spPr bwMode="auto">
            <a:xfrm flipH="1">
              <a:off x="2087733" y="469855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6" name="Line 201"/>
            <p:cNvSpPr>
              <a:spLocks noChangeShapeType="1"/>
            </p:cNvSpPr>
            <p:nvPr/>
          </p:nvSpPr>
          <p:spPr bwMode="auto">
            <a:xfrm flipH="1">
              <a:off x="2097258" y="4692202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7" name="Line 202"/>
            <p:cNvSpPr>
              <a:spLocks noChangeShapeType="1"/>
            </p:cNvSpPr>
            <p:nvPr/>
          </p:nvSpPr>
          <p:spPr bwMode="auto">
            <a:xfrm flipH="1">
              <a:off x="2106783" y="469220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8" name="Line 203"/>
            <p:cNvSpPr>
              <a:spLocks noChangeShapeType="1"/>
            </p:cNvSpPr>
            <p:nvPr/>
          </p:nvSpPr>
          <p:spPr bwMode="auto">
            <a:xfrm flipH="1">
              <a:off x="2117895" y="4690615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9" name="Line 204"/>
            <p:cNvSpPr>
              <a:spLocks noChangeShapeType="1"/>
            </p:cNvSpPr>
            <p:nvPr/>
          </p:nvSpPr>
          <p:spPr bwMode="auto">
            <a:xfrm flipH="1">
              <a:off x="2071064" y="4731896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0" name="Freeform 205"/>
            <p:cNvSpPr>
              <a:spLocks/>
            </p:cNvSpPr>
            <p:nvPr/>
          </p:nvSpPr>
          <p:spPr bwMode="auto">
            <a:xfrm>
              <a:off x="1878183" y="4738240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1" name="Line 206"/>
            <p:cNvSpPr>
              <a:spLocks noChangeShapeType="1"/>
            </p:cNvSpPr>
            <p:nvPr/>
          </p:nvSpPr>
          <p:spPr bwMode="auto">
            <a:xfrm flipH="1">
              <a:off x="1889295" y="4773165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2" name="Line 207"/>
            <p:cNvSpPr>
              <a:spLocks noChangeShapeType="1"/>
            </p:cNvSpPr>
            <p:nvPr/>
          </p:nvSpPr>
          <p:spPr bwMode="auto">
            <a:xfrm flipH="1">
              <a:off x="1951208" y="4758877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3" name="Line 208"/>
            <p:cNvSpPr>
              <a:spLocks noChangeShapeType="1"/>
            </p:cNvSpPr>
            <p:nvPr/>
          </p:nvSpPr>
          <p:spPr bwMode="auto">
            <a:xfrm flipH="1">
              <a:off x="1943270" y="4768402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4" name="Line 209"/>
            <p:cNvSpPr>
              <a:spLocks noChangeShapeType="1"/>
            </p:cNvSpPr>
            <p:nvPr/>
          </p:nvSpPr>
          <p:spPr bwMode="auto">
            <a:xfrm flipH="1">
              <a:off x="1898820" y="4781102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5" name="Line 210"/>
            <p:cNvSpPr>
              <a:spLocks noChangeShapeType="1"/>
            </p:cNvSpPr>
            <p:nvPr/>
          </p:nvSpPr>
          <p:spPr bwMode="auto">
            <a:xfrm flipV="1">
              <a:off x="1908345" y="4782690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6" name="Freeform 211"/>
            <p:cNvSpPr>
              <a:spLocks/>
            </p:cNvSpPr>
            <p:nvPr/>
          </p:nvSpPr>
          <p:spPr bwMode="auto">
            <a:xfrm>
              <a:off x="1714670" y="4752527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7" name="Line 212"/>
            <p:cNvSpPr>
              <a:spLocks noChangeShapeType="1"/>
            </p:cNvSpPr>
            <p:nvPr/>
          </p:nvSpPr>
          <p:spPr bwMode="auto">
            <a:xfrm flipV="1">
              <a:off x="1706733" y="4758877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48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61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62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49" name="Oval 217"/>
            <p:cNvSpPr>
              <a:spLocks noChangeArrowheads="1"/>
            </p:cNvSpPr>
            <p:nvPr/>
          </p:nvSpPr>
          <p:spPr bwMode="auto">
            <a:xfrm>
              <a:off x="1682920" y="4542977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0" name="Oval 218"/>
            <p:cNvSpPr>
              <a:spLocks noChangeArrowheads="1"/>
            </p:cNvSpPr>
            <p:nvPr/>
          </p:nvSpPr>
          <p:spPr bwMode="auto">
            <a:xfrm>
              <a:off x="1682920" y="4536627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" name="Freeform 219"/>
            <p:cNvSpPr>
              <a:spLocks/>
            </p:cNvSpPr>
            <p:nvPr/>
          </p:nvSpPr>
          <p:spPr bwMode="auto">
            <a:xfrm flipH="1">
              <a:off x="1663870" y="4088952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2" name="Freeform 220"/>
            <p:cNvSpPr>
              <a:spLocks/>
            </p:cNvSpPr>
            <p:nvPr/>
          </p:nvSpPr>
          <p:spPr bwMode="auto">
            <a:xfrm flipH="1">
              <a:off x="1722608" y="4503290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3" name="Freeform 221"/>
            <p:cNvSpPr>
              <a:spLocks/>
            </p:cNvSpPr>
            <p:nvPr/>
          </p:nvSpPr>
          <p:spPr bwMode="auto">
            <a:xfrm flipH="1">
              <a:off x="1651170" y="4147690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4" name="Oval 222"/>
            <p:cNvSpPr>
              <a:spLocks noChangeArrowheads="1"/>
            </p:cNvSpPr>
            <p:nvPr/>
          </p:nvSpPr>
          <p:spPr bwMode="auto">
            <a:xfrm>
              <a:off x="2049633" y="4511227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5" name="Oval 223"/>
            <p:cNvSpPr>
              <a:spLocks noChangeArrowheads="1"/>
            </p:cNvSpPr>
            <p:nvPr/>
          </p:nvSpPr>
          <p:spPr bwMode="auto">
            <a:xfrm>
              <a:off x="2025820" y="4517577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6" name="Oval 224"/>
            <p:cNvSpPr>
              <a:spLocks noChangeArrowheads="1"/>
            </p:cNvSpPr>
            <p:nvPr/>
          </p:nvSpPr>
          <p:spPr bwMode="auto">
            <a:xfrm>
              <a:off x="1943270" y="4538215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7" name="Oval 225"/>
            <p:cNvSpPr>
              <a:spLocks noChangeArrowheads="1"/>
            </p:cNvSpPr>
            <p:nvPr/>
          </p:nvSpPr>
          <p:spPr bwMode="auto">
            <a:xfrm>
              <a:off x="1917870" y="4542977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8" name="Oval 226"/>
            <p:cNvSpPr>
              <a:spLocks noChangeArrowheads="1"/>
            </p:cNvSpPr>
            <p:nvPr/>
          </p:nvSpPr>
          <p:spPr bwMode="auto">
            <a:xfrm>
              <a:off x="1889295" y="4547740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9" name="Freeform 227"/>
            <p:cNvSpPr>
              <a:spLocks/>
            </p:cNvSpPr>
            <p:nvPr/>
          </p:nvSpPr>
          <p:spPr bwMode="auto">
            <a:xfrm flipH="1">
              <a:off x="1705145" y="4139752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 dirty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60" name="Freeform 228"/>
            <p:cNvSpPr>
              <a:spLocks/>
            </p:cNvSpPr>
            <p:nvPr/>
          </p:nvSpPr>
          <p:spPr bwMode="auto">
            <a:xfrm flipH="1">
              <a:off x="1651170" y="4087365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63" name="그룹 62"/>
          <p:cNvGrpSpPr/>
          <p:nvPr/>
        </p:nvGrpSpPr>
        <p:grpSpPr>
          <a:xfrm flipH="1">
            <a:off x="292017" y="237446"/>
            <a:ext cx="756145" cy="850929"/>
            <a:chOff x="1533695" y="4087365"/>
            <a:chExt cx="838200" cy="1048556"/>
          </a:xfrm>
        </p:grpSpPr>
        <p:sp>
          <p:nvSpPr>
            <p:cNvPr id="64" name="Freeform 174"/>
            <p:cNvSpPr>
              <a:spLocks/>
            </p:cNvSpPr>
            <p:nvPr/>
          </p:nvSpPr>
          <p:spPr bwMode="auto">
            <a:xfrm rot="355818">
              <a:off x="2175045" y="4754115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Freeform 175"/>
            <p:cNvSpPr>
              <a:spLocks/>
            </p:cNvSpPr>
            <p:nvPr/>
          </p:nvSpPr>
          <p:spPr bwMode="auto">
            <a:xfrm rot="355818" flipH="1">
              <a:off x="2235370" y="4801740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Freeform 176"/>
            <p:cNvSpPr>
              <a:spLocks/>
            </p:cNvSpPr>
            <p:nvPr/>
          </p:nvSpPr>
          <p:spPr bwMode="auto">
            <a:xfrm rot="355818">
              <a:off x="2229020" y="4830315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Freeform 177"/>
            <p:cNvSpPr>
              <a:spLocks/>
            </p:cNvSpPr>
            <p:nvPr/>
          </p:nvSpPr>
          <p:spPr bwMode="auto">
            <a:xfrm rot="355818" flipH="1">
              <a:off x="2262358" y="4796977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Freeform 178"/>
            <p:cNvSpPr>
              <a:spLocks/>
            </p:cNvSpPr>
            <p:nvPr/>
          </p:nvSpPr>
          <p:spPr bwMode="auto">
            <a:xfrm rot="355818">
              <a:off x="2248070" y="4795390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Oval 179"/>
            <p:cNvSpPr>
              <a:spLocks noChangeArrowheads="1"/>
            </p:cNvSpPr>
            <p:nvPr/>
          </p:nvSpPr>
          <p:spPr bwMode="auto">
            <a:xfrm rot="21219751">
              <a:off x="2267120" y="4792215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Freeform 180"/>
            <p:cNvSpPr>
              <a:spLocks/>
            </p:cNvSpPr>
            <p:nvPr/>
          </p:nvSpPr>
          <p:spPr bwMode="auto">
            <a:xfrm rot="355818">
              <a:off x="2238545" y="4798565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Freeform 182"/>
            <p:cNvSpPr>
              <a:spLocks/>
            </p:cNvSpPr>
            <p:nvPr/>
          </p:nvSpPr>
          <p:spPr bwMode="auto">
            <a:xfrm flipH="1">
              <a:off x="1746431" y="4726323"/>
              <a:ext cx="204778" cy="409598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Freeform 183"/>
            <p:cNvSpPr>
              <a:spLocks/>
            </p:cNvSpPr>
            <p:nvPr/>
          </p:nvSpPr>
          <p:spPr bwMode="auto">
            <a:xfrm flipH="1">
              <a:off x="1760717" y="4712034"/>
              <a:ext cx="204778" cy="409598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Freeform 184"/>
            <p:cNvSpPr>
              <a:spLocks/>
            </p:cNvSpPr>
            <p:nvPr/>
          </p:nvSpPr>
          <p:spPr bwMode="auto">
            <a:xfrm flipH="1">
              <a:off x="1798808" y="4828727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Freeform 185"/>
            <p:cNvSpPr>
              <a:spLocks/>
            </p:cNvSpPr>
            <p:nvPr/>
          </p:nvSpPr>
          <p:spPr bwMode="auto">
            <a:xfrm flipH="1">
              <a:off x="1886120" y="4850952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Freeform 186"/>
            <p:cNvSpPr>
              <a:spLocks/>
            </p:cNvSpPr>
            <p:nvPr/>
          </p:nvSpPr>
          <p:spPr bwMode="auto">
            <a:xfrm flipH="1">
              <a:off x="1819445" y="4914452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Freeform 187"/>
            <p:cNvSpPr>
              <a:spLocks/>
            </p:cNvSpPr>
            <p:nvPr/>
          </p:nvSpPr>
          <p:spPr bwMode="auto">
            <a:xfrm flipH="1">
              <a:off x="1754358" y="4925565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Freeform 189"/>
            <p:cNvSpPr>
              <a:spLocks noChangeAspect="1"/>
            </p:cNvSpPr>
            <p:nvPr/>
          </p:nvSpPr>
          <p:spPr bwMode="auto">
            <a:xfrm>
              <a:off x="1533695" y="4523927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Freeform 190"/>
            <p:cNvSpPr>
              <a:spLocks noChangeAspect="1"/>
            </p:cNvSpPr>
            <p:nvPr/>
          </p:nvSpPr>
          <p:spPr bwMode="auto">
            <a:xfrm>
              <a:off x="1536870" y="4465190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Freeform 191"/>
            <p:cNvSpPr>
              <a:spLocks/>
            </p:cNvSpPr>
            <p:nvPr/>
          </p:nvSpPr>
          <p:spPr bwMode="auto">
            <a:xfrm>
              <a:off x="1671808" y="4660452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Freeform 192"/>
            <p:cNvSpPr>
              <a:spLocks/>
            </p:cNvSpPr>
            <p:nvPr/>
          </p:nvSpPr>
          <p:spPr bwMode="auto">
            <a:xfrm>
              <a:off x="1690858" y="4789040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Oval 193"/>
            <p:cNvSpPr>
              <a:spLocks noChangeArrowheads="1"/>
            </p:cNvSpPr>
            <p:nvPr/>
          </p:nvSpPr>
          <p:spPr bwMode="auto">
            <a:xfrm>
              <a:off x="1809920" y="4796977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Line 194"/>
            <p:cNvSpPr>
              <a:spLocks noChangeShapeType="1"/>
            </p:cNvSpPr>
            <p:nvPr/>
          </p:nvSpPr>
          <p:spPr bwMode="auto">
            <a:xfrm flipH="1">
              <a:off x="2032170" y="4706490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Line 195"/>
            <p:cNvSpPr>
              <a:spLocks noChangeShapeType="1"/>
            </p:cNvSpPr>
            <p:nvPr/>
          </p:nvSpPr>
          <p:spPr bwMode="auto">
            <a:xfrm flipH="1">
              <a:off x="2021058" y="4708077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Line 196"/>
            <p:cNvSpPr>
              <a:spLocks noChangeShapeType="1"/>
            </p:cNvSpPr>
            <p:nvPr/>
          </p:nvSpPr>
          <p:spPr bwMode="auto">
            <a:xfrm flipH="1">
              <a:off x="2044870" y="4704902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Line 197"/>
            <p:cNvSpPr>
              <a:spLocks noChangeShapeType="1"/>
            </p:cNvSpPr>
            <p:nvPr/>
          </p:nvSpPr>
          <p:spPr bwMode="auto">
            <a:xfrm flipH="1">
              <a:off x="2055983" y="4703315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Line 198"/>
            <p:cNvSpPr>
              <a:spLocks noChangeShapeType="1"/>
            </p:cNvSpPr>
            <p:nvPr/>
          </p:nvSpPr>
          <p:spPr bwMode="auto">
            <a:xfrm flipH="1">
              <a:off x="2065508" y="4701727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Line 199"/>
            <p:cNvSpPr>
              <a:spLocks noChangeShapeType="1"/>
            </p:cNvSpPr>
            <p:nvPr/>
          </p:nvSpPr>
          <p:spPr bwMode="auto">
            <a:xfrm flipH="1">
              <a:off x="2076620" y="4698552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Line 200"/>
            <p:cNvSpPr>
              <a:spLocks noChangeShapeType="1"/>
            </p:cNvSpPr>
            <p:nvPr/>
          </p:nvSpPr>
          <p:spPr bwMode="auto">
            <a:xfrm flipH="1">
              <a:off x="2087733" y="469855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Line 201"/>
            <p:cNvSpPr>
              <a:spLocks noChangeShapeType="1"/>
            </p:cNvSpPr>
            <p:nvPr/>
          </p:nvSpPr>
          <p:spPr bwMode="auto">
            <a:xfrm flipH="1">
              <a:off x="2097258" y="4692202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Line 202"/>
            <p:cNvSpPr>
              <a:spLocks noChangeShapeType="1"/>
            </p:cNvSpPr>
            <p:nvPr/>
          </p:nvSpPr>
          <p:spPr bwMode="auto">
            <a:xfrm flipH="1">
              <a:off x="2106783" y="469220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Line 203"/>
            <p:cNvSpPr>
              <a:spLocks noChangeShapeType="1"/>
            </p:cNvSpPr>
            <p:nvPr/>
          </p:nvSpPr>
          <p:spPr bwMode="auto">
            <a:xfrm flipH="1">
              <a:off x="2117895" y="4690615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Line 204"/>
            <p:cNvSpPr>
              <a:spLocks noChangeShapeType="1"/>
            </p:cNvSpPr>
            <p:nvPr/>
          </p:nvSpPr>
          <p:spPr bwMode="auto">
            <a:xfrm flipH="1">
              <a:off x="2071064" y="4731896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Freeform 205"/>
            <p:cNvSpPr>
              <a:spLocks/>
            </p:cNvSpPr>
            <p:nvPr/>
          </p:nvSpPr>
          <p:spPr bwMode="auto">
            <a:xfrm>
              <a:off x="1878183" y="4738240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Line 206"/>
            <p:cNvSpPr>
              <a:spLocks noChangeShapeType="1"/>
            </p:cNvSpPr>
            <p:nvPr/>
          </p:nvSpPr>
          <p:spPr bwMode="auto">
            <a:xfrm flipH="1">
              <a:off x="1889295" y="4773165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Line 207"/>
            <p:cNvSpPr>
              <a:spLocks noChangeShapeType="1"/>
            </p:cNvSpPr>
            <p:nvPr/>
          </p:nvSpPr>
          <p:spPr bwMode="auto">
            <a:xfrm flipH="1">
              <a:off x="1951208" y="4758877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Line 208"/>
            <p:cNvSpPr>
              <a:spLocks noChangeShapeType="1"/>
            </p:cNvSpPr>
            <p:nvPr/>
          </p:nvSpPr>
          <p:spPr bwMode="auto">
            <a:xfrm flipH="1">
              <a:off x="1943270" y="4768402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Line 209"/>
            <p:cNvSpPr>
              <a:spLocks noChangeShapeType="1"/>
            </p:cNvSpPr>
            <p:nvPr/>
          </p:nvSpPr>
          <p:spPr bwMode="auto">
            <a:xfrm flipH="1">
              <a:off x="1898820" y="4781102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Line 210"/>
            <p:cNvSpPr>
              <a:spLocks noChangeShapeType="1"/>
            </p:cNvSpPr>
            <p:nvPr/>
          </p:nvSpPr>
          <p:spPr bwMode="auto">
            <a:xfrm flipV="1">
              <a:off x="1908345" y="4782690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Freeform 211"/>
            <p:cNvSpPr>
              <a:spLocks/>
            </p:cNvSpPr>
            <p:nvPr/>
          </p:nvSpPr>
          <p:spPr bwMode="auto">
            <a:xfrm>
              <a:off x="1714670" y="4752527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Line 212"/>
            <p:cNvSpPr>
              <a:spLocks noChangeShapeType="1"/>
            </p:cNvSpPr>
            <p:nvPr/>
          </p:nvSpPr>
          <p:spPr bwMode="auto">
            <a:xfrm flipV="1">
              <a:off x="1706733" y="4758877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1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11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2" name="Oval 217"/>
            <p:cNvSpPr>
              <a:spLocks noChangeArrowheads="1"/>
            </p:cNvSpPr>
            <p:nvPr/>
          </p:nvSpPr>
          <p:spPr bwMode="auto">
            <a:xfrm>
              <a:off x="1682920" y="4542977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Oval 218"/>
            <p:cNvSpPr>
              <a:spLocks noChangeArrowheads="1"/>
            </p:cNvSpPr>
            <p:nvPr/>
          </p:nvSpPr>
          <p:spPr bwMode="auto">
            <a:xfrm>
              <a:off x="1682920" y="4536627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Freeform 219"/>
            <p:cNvSpPr>
              <a:spLocks/>
            </p:cNvSpPr>
            <p:nvPr/>
          </p:nvSpPr>
          <p:spPr bwMode="auto">
            <a:xfrm flipH="1">
              <a:off x="1663870" y="4088952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Freeform 220"/>
            <p:cNvSpPr>
              <a:spLocks/>
            </p:cNvSpPr>
            <p:nvPr/>
          </p:nvSpPr>
          <p:spPr bwMode="auto">
            <a:xfrm flipH="1">
              <a:off x="1722608" y="4503290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Freeform 221"/>
            <p:cNvSpPr>
              <a:spLocks/>
            </p:cNvSpPr>
            <p:nvPr/>
          </p:nvSpPr>
          <p:spPr bwMode="auto">
            <a:xfrm flipH="1">
              <a:off x="1651170" y="4147690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Oval 222"/>
            <p:cNvSpPr>
              <a:spLocks noChangeArrowheads="1"/>
            </p:cNvSpPr>
            <p:nvPr/>
          </p:nvSpPr>
          <p:spPr bwMode="auto">
            <a:xfrm>
              <a:off x="2049633" y="4511227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Oval 223"/>
            <p:cNvSpPr>
              <a:spLocks noChangeArrowheads="1"/>
            </p:cNvSpPr>
            <p:nvPr/>
          </p:nvSpPr>
          <p:spPr bwMode="auto">
            <a:xfrm>
              <a:off x="2025820" y="4517577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Oval 224"/>
            <p:cNvSpPr>
              <a:spLocks noChangeArrowheads="1"/>
            </p:cNvSpPr>
            <p:nvPr/>
          </p:nvSpPr>
          <p:spPr bwMode="auto">
            <a:xfrm>
              <a:off x="1943270" y="4538215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Oval 225"/>
            <p:cNvSpPr>
              <a:spLocks noChangeArrowheads="1"/>
            </p:cNvSpPr>
            <p:nvPr/>
          </p:nvSpPr>
          <p:spPr bwMode="auto">
            <a:xfrm>
              <a:off x="1917870" y="4542977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Oval 226"/>
            <p:cNvSpPr>
              <a:spLocks noChangeArrowheads="1"/>
            </p:cNvSpPr>
            <p:nvPr/>
          </p:nvSpPr>
          <p:spPr bwMode="auto">
            <a:xfrm>
              <a:off x="1889295" y="4547740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Freeform 227"/>
            <p:cNvSpPr>
              <a:spLocks/>
            </p:cNvSpPr>
            <p:nvPr/>
          </p:nvSpPr>
          <p:spPr bwMode="auto">
            <a:xfrm flipH="1">
              <a:off x="1705145" y="4139752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Freeform 228"/>
            <p:cNvSpPr>
              <a:spLocks/>
            </p:cNvSpPr>
            <p:nvPr/>
          </p:nvSpPr>
          <p:spPr bwMode="auto">
            <a:xfrm flipH="1">
              <a:off x="1651170" y="4087365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2" name="TextBox 121"/>
          <p:cNvSpPr txBox="1"/>
          <p:nvPr/>
        </p:nvSpPr>
        <p:spPr>
          <a:xfrm>
            <a:off x="1345449" y="857117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TTL=3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952212" y="73151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TTL=3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3097617" y="999648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TTL=2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590613" y="2728351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TTL=1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3840477" y="376635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TTL=0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8" name="그림 1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832" y="4220821"/>
            <a:ext cx="790303" cy="96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3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855515" y="6415985"/>
            <a:ext cx="2057400" cy="365125"/>
          </a:xfrm>
        </p:spPr>
        <p:txBody>
          <a:bodyPr/>
          <a:lstStyle/>
          <a:p>
            <a:fld id="{7B2209E9-2AE8-42A0-AB53-D13299BB30AF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521293" y="362627"/>
            <a:ext cx="7996541" cy="2168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333333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* </a:t>
            </a:r>
            <a:r>
              <a:rPr lang="en-US" altLang="ko-KR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TTL </a:t>
            </a:r>
            <a:r>
              <a:rPr lang="ko-KR" altLang="en-US" sz="2400" b="1" dirty="0">
                <a:solidFill>
                  <a:srgbClr val="333333"/>
                </a:solidFill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값 변경 </a:t>
            </a:r>
            <a:endParaRPr lang="en-US" altLang="ko-KR" sz="2400" b="1" dirty="0">
              <a:solidFill>
                <a:srgbClr val="333333"/>
              </a:solidFill>
              <a:latin typeface="Times New Roman" panose="02020603050405020304" pitchFamily="18" charset="0"/>
              <a:ea typeface="함초롬바탕" panose="02030504000101010101"/>
              <a:cs typeface="Times New Roman" panose="02020603050405020304" pitchFamily="18" charset="0"/>
            </a:endParaRPr>
          </a:p>
          <a:p>
            <a:pPr marL="179388">
              <a:lnSpc>
                <a:spcPct val="150000"/>
              </a:lnSpc>
            </a:pPr>
            <a:r>
              <a:rPr lang="en-US" altLang="ko-KR" sz="17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HKEY_LOCAL_MACHINE \SYSTEM\</a:t>
            </a:r>
            <a:r>
              <a:rPr lang="en-US" altLang="ko-KR" sz="17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CurrentControlSet</a:t>
            </a:r>
            <a:r>
              <a:rPr lang="en-US" altLang="ko-KR" sz="17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\Services\</a:t>
            </a:r>
            <a:r>
              <a:rPr lang="en-US" altLang="ko-KR" sz="17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Tcpip</a:t>
            </a:r>
            <a:r>
              <a:rPr lang="en-US" altLang="ko-KR" sz="17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\Parameters</a:t>
            </a:r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altLang="ko-KR" sz="17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DefaultTTL</a:t>
            </a: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Type: REG_DWORD</a:t>
            </a:r>
            <a:b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 Range: 1-255</a:t>
            </a:r>
            <a:endParaRPr lang="ko-KR" altLang="en-US" sz="17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548" y="2332282"/>
            <a:ext cx="6083367" cy="408370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55623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666498" y="656676"/>
            <a:ext cx="7700854" cy="3366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C:\&gt;netsh interface show interface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C:\&gt;netsh interface ipv4 show global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C:\&gt;netsh interface ipv4 show interfaces 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TTL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설정 변경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C:\&gt;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netsh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ipv4 set global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defaultcurhoplimit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=64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C:\&gt;netsh interface ipv4 show global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8215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855515" y="6415985"/>
            <a:ext cx="2057400" cy="365125"/>
          </a:xfrm>
        </p:spPr>
        <p:txBody>
          <a:bodyPr/>
          <a:lstStyle/>
          <a:p>
            <a:fld id="{7B2209E9-2AE8-42A0-AB53-D13299BB30AF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521293" y="362627"/>
            <a:ext cx="79965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smtClean="0">
                <a:solidFill>
                  <a:srgbClr val="333333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400" b="1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 checksum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62B329FB-1E67-9B6A-2784-8A0A2B3E6481}"/>
              </a:ext>
            </a:extLst>
          </p:cNvPr>
          <p:cNvSpPr/>
          <p:nvPr/>
        </p:nvSpPr>
        <p:spPr>
          <a:xfrm>
            <a:off x="678060" y="1050877"/>
            <a:ext cx="8234855" cy="2971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헤더의 오류를 검증하기 위해 사용</a:t>
            </a:r>
            <a:endParaRPr lang="en-US" altLang="ko-KR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계상방식은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version 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필드 값부터 마지막 필드인 목적지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</a:t>
            </a:r>
            <a:r>
              <a:rPr lang="ko-KR" altLang="en-US" sz="16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필드값까지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모두 더함</a:t>
            </a:r>
            <a:endParaRPr lang="en-US" altLang="ko-KR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lvl="1">
              <a:lnSpc>
                <a:spcPct val="200000"/>
              </a:lnSpc>
            </a:pP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- Version 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필드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~ 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목적지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필드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 Checksum 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필드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제외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 </a:t>
            </a:r>
          </a:p>
          <a:p>
            <a:pPr marL="0" lvl="1">
              <a:lnSpc>
                <a:spcPct val="200000"/>
              </a:lnSpc>
            </a:pPr>
            <a:endParaRPr lang="en-US" altLang="ko-KR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lvl="1">
              <a:lnSpc>
                <a:spcPct val="200000"/>
              </a:lnSpc>
            </a:pPr>
            <a:endParaRPr lang="en-US" altLang="ko-KR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lvl="1">
              <a:lnSpc>
                <a:spcPct val="200000"/>
              </a:lnSpc>
            </a:pPr>
            <a:endParaRPr lang="en-US" altLang="ko-KR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2238025E-1F82-DABD-D65A-12B7F5936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93" y="2905965"/>
            <a:ext cx="4520442" cy="320701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44C03B6-4573-2566-BB06-74557EF773FF}"/>
              </a:ext>
            </a:extLst>
          </p:cNvPr>
          <p:cNvSpPr txBox="1"/>
          <p:nvPr/>
        </p:nvSpPr>
        <p:spPr>
          <a:xfrm>
            <a:off x="5198502" y="2726424"/>
            <a:ext cx="358554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Version/</a:t>
            </a:r>
            <a:r>
              <a:rPr lang="en-US" altLang="ko-KR" sz="18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ToS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: </a:t>
            </a:r>
            <a:r>
              <a:rPr lang="en-US" altLang="ko-KR" sz="18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4500</a:t>
            </a:r>
          </a:p>
          <a:p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Total Length  : </a:t>
            </a:r>
            <a:r>
              <a:rPr lang="en-US" altLang="ko-KR" sz="18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0040</a:t>
            </a:r>
          </a:p>
          <a:p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ID : </a:t>
            </a:r>
            <a:r>
              <a:rPr lang="en-US" altLang="ko-KR" sz="18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1042</a:t>
            </a:r>
          </a:p>
          <a:p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Flags  : </a:t>
            </a:r>
            <a:r>
              <a:rPr lang="en-US" altLang="ko-KR" sz="18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4000</a:t>
            </a:r>
          </a:p>
          <a:p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TTL/Protocol : </a:t>
            </a:r>
            <a:r>
              <a:rPr lang="en-US" altLang="ko-KR" sz="18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fe06</a:t>
            </a:r>
          </a:p>
          <a:p>
            <a:r>
              <a:rPr lang="en-US" altLang="ko-KR" sz="18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SourceIP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: </a:t>
            </a:r>
            <a:r>
              <a:rPr lang="en-US" altLang="ko-KR" sz="18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0a28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+ </a:t>
            </a:r>
            <a:r>
              <a:rPr lang="en-US" altLang="ko-KR" sz="18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db2a </a:t>
            </a:r>
          </a:p>
          <a:p>
            <a:r>
              <a:rPr lang="en-US" altLang="ko-KR" sz="18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DestinationIP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: </a:t>
            </a:r>
            <a:r>
              <a:rPr lang="en-US" altLang="ko-KR" sz="18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0a28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+</a:t>
            </a:r>
            <a:r>
              <a:rPr lang="en-US" altLang="ko-KR" sz="18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c9e1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5B4536B7-9A89-91AC-FAB6-38059672A0E2}"/>
              </a:ext>
            </a:extLst>
          </p:cNvPr>
          <p:cNvSpPr txBox="1"/>
          <p:nvPr/>
        </p:nvSpPr>
        <p:spPr>
          <a:xfrm>
            <a:off x="5346778" y="5492655"/>
            <a:ext cx="36826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4ce6 = 0100 1100 1110 0110  </a:t>
            </a: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(2</a:t>
            </a:r>
            <a:r>
              <a:rPr lang="ko-KR" altLang="en-US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진화</a:t>
            </a: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= 1011 0011 0001 1001 </a:t>
            </a: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(1</a:t>
            </a:r>
            <a:r>
              <a:rPr lang="ko-KR" altLang="en-US" sz="14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의보수</a:t>
            </a: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= </a:t>
            </a:r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B319</a:t>
            </a:r>
            <a:endParaRPr lang="ko-KR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AFE044C9-3279-20AF-4AAD-03092374C015}"/>
              </a:ext>
            </a:extLst>
          </p:cNvPr>
          <p:cNvCxnSpPr>
            <a:cxnSpLocks/>
          </p:cNvCxnSpPr>
          <p:nvPr/>
        </p:nvCxnSpPr>
        <p:spPr>
          <a:xfrm>
            <a:off x="5198502" y="4757749"/>
            <a:ext cx="26857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794B2F1F-0E37-A701-B14A-9D14A03A52CB}"/>
              </a:ext>
            </a:extLst>
          </p:cNvPr>
          <p:cNvSpPr txBox="1"/>
          <p:nvPr/>
        </p:nvSpPr>
        <p:spPr>
          <a:xfrm>
            <a:off x="6903509" y="4740961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4ce3</a:t>
            </a:r>
            <a:endParaRPr lang="ko-KR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92894D59-C7B7-F88B-7CE6-16CAC0C71C9E}"/>
              </a:ext>
            </a:extLst>
          </p:cNvPr>
          <p:cNvSpPr txBox="1"/>
          <p:nvPr/>
        </p:nvSpPr>
        <p:spPr>
          <a:xfrm>
            <a:off x="5346778" y="5034748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+ 4ce3  = 4ce6</a:t>
            </a:r>
            <a:endParaRPr lang="ko-KR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A05333F1-5792-7323-8F36-A5DA93068B48}"/>
              </a:ext>
            </a:extLst>
          </p:cNvPr>
          <p:cNvSpPr/>
          <p:nvPr/>
        </p:nvSpPr>
        <p:spPr>
          <a:xfrm>
            <a:off x="1958009" y="4509473"/>
            <a:ext cx="556591" cy="14204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="" xmlns:a16="http://schemas.microsoft.com/office/drawing/2014/main" id="{F190D64A-08CB-7D85-7E1A-C78CC3360C91}"/>
              </a:ext>
            </a:extLst>
          </p:cNvPr>
          <p:cNvCxnSpPr>
            <a:stCxn id="16" idx="3"/>
          </p:cNvCxnSpPr>
          <p:nvPr/>
        </p:nvCxnSpPr>
        <p:spPr>
          <a:xfrm>
            <a:off x="2514600" y="4580493"/>
            <a:ext cx="3429000" cy="16712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6535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88874" y="6446961"/>
            <a:ext cx="20574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A56D0103-6D24-4F29-8044-14A04255D2BF}" type="slidenum">
              <a:rPr lang="ko-KR" altLang="en-US" sz="1000" b="0">
                <a:latin typeface="굴림" charset="-127"/>
              </a:rPr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ko-KR" sz="1000" b="0" dirty="0">
              <a:latin typeface="굴림" charset="-127"/>
            </a:endParaRPr>
          </a:p>
        </p:txBody>
      </p:sp>
      <p:sp>
        <p:nvSpPr>
          <p:cNvPr id="1464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8203" y="389320"/>
            <a:ext cx="8229600" cy="557048"/>
          </a:xfrm>
        </p:spPr>
        <p:txBody>
          <a:bodyPr>
            <a:normAutofit/>
          </a:bodyPr>
          <a:lstStyle/>
          <a:p>
            <a:pPr algn="l"/>
            <a:r>
              <a:rPr lang="en-US" altLang="ko-KR" sz="3100" dirty="0" smtClean="0">
                <a:latin typeface="Times New Roman" pitchFamily="18" charset="0"/>
                <a:ea typeface="굴림" charset="-127"/>
                <a:cs typeface="Times New Roman" pitchFamily="18" charset="0"/>
              </a:rPr>
              <a:t>4) </a:t>
            </a:r>
            <a:r>
              <a:rPr lang="en-US" altLang="ko-KR" sz="3100" dirty="0">
                <a:latin typeface="Times New Roman" pitchFamily="18" charset="0"/>
                <a:ea typeface="굴림" charset="-127"/>
                <a:cs typeface="Times New Roman" pitchFamily="18" charset="0"/>
              </a:rPr>
              <a:t>ICMP(Internet Control Message Protocol)</a:t>
            </a:r>
            <a:endParaRPr lang="ko-KR" altLang="en-US" sz="3100" dirty="0">
              <a:ea typeface="굴림" charset="-127"/>
            </a:endParaRPr>
          </a:p>
        </p:txBody>
      </p:sp>
      <p:sp>
        <p:nvSpPr>
          <p:cNvPr id="1464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24166" y="998592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Protocol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송신시스템과 수신시스템 사이의 </a:t>
            </a:r>
            <a:r>
              <a:rPr lang="ko-KR" altLang="en-US" sz="17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최적의 경로를 통해 전달하는 것이 주된 목적</a:t>
            </a:r>
          </a:p>
          <a:p>
            <a:pPr>
              <a:lnSpc>
                <a:spcPct val="150000"/>
              </a:lnSpc>
            </a:pPr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Protocol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신뢰성이 </a:t>
            </a:r>
            <a:r>
              <a:rPr lang="ko-KR" altLang="en-US" sz="17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없고 비연결형 </a:t>
            </a:r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</a:p>
          <a:p>
            <a:pPr>
              <a:lnSpc>
                <a:spcPct val="150000"/>
              </a:lnSpc>
            </a:pPr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Protocol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에러 발생 원인이나 진단 기능 및 상황 정보를 지원하지 않음</a:t>
            </a:r>
            <a:endParaRPr lang="en-US" altLang="ko-KR" sz="17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	</a:t>
            </a:r>
            <a:r>
              <a:rPr lang="en-US" altLang="ko-KR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itchFamily="2" charset="2"/>
              </a:rPr>
              <a:t> </a:t>
            </a:r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ICMP Protocol Support </a:t>
            </a:r>
            <a:r>
              <a:rPr lang="en-US" altLang="ko-KR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itchFamily="2" charset="2"/>
              </a:rPr>
              <a:t>(</a:t>
            </a:r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IP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itchFamily="2" charset="2"/>
              </a:rPr>
              <a:t>의 단점 </a:t>
            </a:r>
            <a:r>
              <a:rPr lang="ko-KR" altLang="en-US" sz="17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itchFamily="2" charset="2"/>
              </a:rPr>
              <a:t>보완</a:t>
            </a:r>
            <a:r>
              <a:rPr lang="en-US" altLang="ko-KR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itchFamily="2" charset="2"/>
              </a:rPr>
              <a:t>)</a:t>
            </a:r>
            <a:endParaRPr lang="en-US" altLang="ko-KR" sz="17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4628" y="3613494"/>
            <a:ext cx="7007317" cy="27290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41954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5344786F-621D-4250-9DF3-2DB09CC5095E}" type="slidenum">
              <a:rPr lang="ko-KR" altLang="en-US" sz="1000" b="0">
                <a:latin typeface="굴림" charset="-127"/>
              </a:rPr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ko-KR" sz="1000" b="0" dirty="0">
              <a:latin typeface="굴림" charset="-127"/>
            </a:endParaRPr>
          </a:p>
        </p:txBody>
      </p:sp>
      <p:sp>
        <p:nvSpPr>
          <p:cNvPr id="14848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8650" y="508000"/>
            <a:ext cx="7886700" cy="790575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</a:t>
            </a:r>
            <a:r>
              <a:rPr lang="en-US" altLang="ko-KR" sz="2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600" dirty="0"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ICMP</a:t>
            </a:r>
            <a:r>
              <a:rPr lang="en-US" altLang="ko-KR" sz="2600" dirty="0">
                <a:ea typeface="굴림" charset="-127"/>
              </a:rPr>
              <a:t> </a:t>
            </a:r>
            <a:r>
              <a:rPr lang="ko-KR" altLang="en-US" sz="2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메시지 종류 </a:t>
            </a:r>
          </a:p>
        </p:txBody>
      </p:sp>
      <p:sp>
        <p:nvSpPr>
          <p:cNvPr id="148484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745435" y="1454150"/>
            <a:ext cx="7886700" cy="435133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오류 보고 메시지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(Error Reporting Massage)</a:t>
            </a:r>
          </a:p>
          <a:p>
            <a:pPr lvl="1" indent="0">
              <a:lnSpc>
                <a:spcPct val="150000"/>
              </a:lnSpc>
              <a:buNone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IP 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 처리 도중 발생한 문제 보고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 indent="0">
              <a:lnSpc>
                <a:spcPct val="150000"/>
              </a:lnSpc>
            </a:pP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질의 메시지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(Query Massage)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 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다른 호스트로부터 특정 정보 획득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 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문제 진단 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endParaRPr lang="ko-KR" altLang="en-US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95866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EE5D89EE-9E22-407B-95A3-1B0630DC8315}" type="slidenum">
              <a:rPr lang="ko-KR" altLang="en-US" sz="1000" b="0">
                <a:latin typeface="굴림" charset="-127"/>
              </a:rPr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ko-KR" sz="1000" b="0">
              <a:latin typeface="굴림" charset="-127"/>
            </a:endParaRPr>
          </a:p>
        </p:txBody>
      </p:sp>
      <p:sp>
        <p:nvSpPr>
          <p:cNvPr id="15257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0"/>
            <a:ext cx="8229600" cy="88265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</a:t>
            </a:r>
            <a:r>
              <a:rPr lang="en-US" altLang="ko-KR" sz="3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500" dirty="0">
                <a:latin typeface="Times New Roman" pitchFamily="18" charset="0"/>
                <a:ea typeface="굴림" charset="-127"/>
                <a:cs typeface="Times New Roman" pitchFamily="18" charset="0"/>
              </a:rPr>
              <a:t>ICMP Header </a:t>
            </a:r>
            <a:endParaRPr lang="ko-KR" altLang="en-US" sz="2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525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04913" y="3551238"/>
            <a:ext cx="7939087" cy="29956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총 </a:t>
            </a:r>
            <a:r>
              <a:rPr lang="en-US" altLang="ko-KR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8</a:t>
            </a: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Byte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구성</a:t>
            </a:r>
          </a:p>
          <a:p>
            <a:pPr>
              <a:lnSpc>
                <a:spcPct val="100000"/>
              </a:lnSpc>
            </a:pP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Type </a:t>
            </a:r>
            <a:r>
              <a:rPr lang="en-US" altLang="ko-KR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- </a:t>
            </a: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ICMP</a:t>
            </a:r>
            <a:r>
              <a:rPr lang="ko-KR" altLang="en-US" sz="17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업무</a:t>
            </a:r>
            <a:r>
              <a:rPr lang="en-US" altLang="ko-KR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7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즉 어떠한 용도로 사용되는 </a:t>
            </a: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ICMP</a:t>
            </a:r>
            <a:r>
              <a:rPr lang="ko-KR" altLang="en-US" sz="17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나타냄</a:t>
            </a:r>
          </a:p>
          <a:p>
            <a:pPr>
              <a:lnSpc>
                <a:spcPct val="100000"/>
              </a:lnSpc>
            </a:pP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- </a:t>
            </a: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ICMP Type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세부 내용을 나타내며 이 부분은 </a:t>
            </a: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Type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과 조합을 </a:t>
            </a:r>
            <a:r>
              <a:rPr lang="ko-KR" altLang="en-US" sz="17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이루어 </a:t>
            </a: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ICMP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</a:t>
            </a:r>
            <a:r>
              <a:rPr lang="en-US" altLang="ko-KR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메시지의 목적과 용도를 나타냄</a:t>
            </a:r>
          </a:p>
          <a:p>
            <a:pPr>
              <a:lnSpc>
                <a:spcPct val="100000"/>
              </a:lnSpc>
            </a:pP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Checksum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</a:t>
            </a:r>
            <a:r>
              <a:rPr lang="en-US" altLang="ko-KR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ICMP</a:t>
            </a:r>
            <a:r>
              <a:rPr lang="en-US" altLang="ko-KR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7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메시지의 이상 </a:t>
            </a:r>
            <a:r>
              <a:rPr lang="ko-KR" altLang="en-US" sz="17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유무 판단 </a:t>
            </a:r>
            <a:endParaRPr lang="ko-KR" altLang="en-US" sz="17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15258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0" y="882595"/>
            <a:ext cx="7513481" cy="240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38903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A4CF0C50-D5F8-4845-BF33-B97F3E2A26FF}" type="slidenum">
              <a:rPr lang="ko-KR" altLang="en-US" sz="1000" b="0">
                <a:latin typeface="굴림" charset="-127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ko-KR" sz="1000" b="0">
              <a:latin typeface="굴림" charset="-127"/>
            </a:endParaRPr>
          </a:p>
        </p:txBody>
      </p:sp>
      <p:sp>
        <p:nvSpPr>
          <p:cNvPr id="1556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5575"/>
            <a:ext cx="8189913" cy="841375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❸</a:t>
            </a:r>
            <a:r>
              <a:rPr lang="en-US" altLang="ko-KR" sz="2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800" dirty="0">
                <a:latin typeface="Times New Roman" pitchFamily="18" charset="0"/>
                <a:ea typeface="굴림" charset="-127"/>
                <a:cs typeface="Times New Roman" pitchFamily="18" charset="0"/>
              </a:rPr>
              <a:t>ICMP Code</a:t>
            </a:r>
          </a:p>
        </p:txBody>
      </p:sp>
      <p:graphicFrame>
        <p:nvGraphicFramePr>
          <p:cNvPr id="594078" name="Group 158"/>
          <p:cNvGraphicFramePr>
            <a:graphicFrameLocks noGrp="1"/>
          </p:cNvGraphicFramePr>
          <p:nvPr>
            <p:ph idx="4294967295"/>
            <p:extLst/>
          </p:nvPr>
        </p:nvGraphicFramePr>
        <p:xfrm>
          <a:off x="711200" y="1095375"/>
          <a:ext cx="8434012" cy="5314621"/>
        </p:xfrm>
        <a:graphic>
          <a:graphicData uri="http://schemas.openxmlformats.org/drawingml/2006/table">
            <a:tbl>
              <a:tblPr/>
              <a:tblGrid>
                <a:gridCol w="787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355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89999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0121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1002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217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Type</a:t>
                      </a:r>
                    </a:p>
                  </a:txBody>
                  <a:tcPr marT="45719" marB="4571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Code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Description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Query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Error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17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19" marB="4571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Echo Reply (ping reply)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ko-KR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1725">
                <a:tc row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719" marB="4571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ko-KR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Destination unreachable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ko-KR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ko-KR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74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Network unreachable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ts val="1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–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지정된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Network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이 없을 경우 </a:t>
                      </a:r>
                      <a:r>
                        <a:rPr kumimoji="0" lang="ko-KR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라우터가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생성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ko-KR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74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Host unreachable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ts val="1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–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마지막 </a:t>
                      </a:r>
                      <a:r>
                        <a:rPr kumimoji="0" lang="ko-KR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라우터가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호스트와 통신 불가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ko-KR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9277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Protocol unreachable </a:t>
                      </a: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–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목적지 호스트가 생성하며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IP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헤더의 프로토콜 필드로 식별된 상위 프로토콜을 사용할 수 없을 경우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ko-KR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17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Port unreachable – </a:t>
                      </a:r>
                      <a:r>
                        <a:rPr kumimoji="0" lang="ko-KR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목적지 호스트가 생성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ko-KR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9277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4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Fragmentation needed for DE = 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ts val="1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–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MTU</a:t>
                      </a:r>
                      <a:r>
                        <a:rPr kumimoji="0" lang="ko-KR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크기보다 데이터그램이 커서 전달할 수 없을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ts val="1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 </a:t>
                      </a:r>
                      <a:r>
                        <a:rPr kumimoji="0" lang="ko-KR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경우 라우터에서 생성</a:t>
                      </a:r>
                      <a:endParaRPr kumimoji="0" lang="ko-KR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ko-KR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217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5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Source Route Failed</a:t>
                      </a:r>
                      <a:endParaRPr kumimoji="0" lang="ko-KR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ko-KR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marT="45719" marB="45719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7001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eaLnBrk="0" fontAlgn="base" hangingPunct="0">
              <a:lnSpc>
                <a:spcPct val="70000"/>
              </a:lnSpc>
              <a:spcBef>
                <a:spcPct val="60000"/>
              </a:spcBef>
              <a:spcAft>
                <a:spcPct val="0"/>
              </a:spcAft>
              <a:buClr>
                <a:srgbClr val="D60093"/>
              </a:buClr>
              <a:buSzPct val="65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E2612B59-64E5-4786-AB6A-553DECFE383C}" type="slidenum">
              <a:rPr lang="ko-KR" altLang="en-US" sz="1000" b="0">
                <a:latin typeface="굴림" charset="-127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ko-KR" sz="1000" b="0">
              <a:latin typeface="굴림" charset="-127"/>
            </a:endParaRPr>
          </a:p>
        </p:txBody>
      </p:sp>
      <p:graphicFrame>
        <p:nvGraphicFramePr>
          <p:cNvPr id="599217" name="Group 177"/>
          <p:cNvGraphicFramePr>
            <a:graphicFrameLocks noGrp="1"/>
          </p:cNvGraphicFramePr>
          <p:nvPr>
            <p:ph idx="4294967295"/>
            <p:extLst/>
          </p:nvPr>
        </p:nvGraphicFramePr>
        <p:xfrm>
          <a:off x="342071" y="1252606"/>
          <a:ext cx="8238204" cy="4987922"/>
        </p:xfrm>
        <a:graphic>
          <a:graphicData uri="http://schemas.openxmlformats.org/drawingml/2006/table">
            <a:tbl>
              <a:tblPr/>
              <a:tblGrid>
                <a:gridCol w="7689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1618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81894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7251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6163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712561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Code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Description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Query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Error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717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Source quench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7177">
                <a:tc rowSpan="5"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ko-K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Redirect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ko-K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ko-K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71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Redirect for network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71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Redirect for host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125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Redirect for type of service and network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7125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3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Redirect for type of service and host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ko-K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717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Echo request (ping </a:t>
                      </a:r>
                      <a:r>
                        <a:rPr kumimoji="0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요청</a:t>
                      </a: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)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0717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Router advertisement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0717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Router solicitation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panose="020B0600000101010101" pitchFamily="50" charset="-127"/>
                          <a:cs typeface="Times New Roman" pitchFamily="18" charset="0"/>
                        </a:rPr>
                        <a:t>*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buSzPct val="70000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굴림" panose="020B0600000101010101" pitchFamily="50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04799" y="155246"/>
            <a:ext cx="8189913" cy="841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❸</a:t>
            </a:r>
            <a:r>
              <a:rPr lang="en-US" altLang="ko-KR" sz="2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800" dirty="0">
                <a:latin typeface="Times New Roman" pitchFamily="18" charset="0"/>
                <a:ea typeface="굴림" charset="-127"/>
                <a:cs typeface="Times New Roman" pitchFamily="18" charset="0"/>
              </a:rPr>
              <a:t>ICMP Code</a:t>
            </a:r>
          </a:p>
        </p:txBody>
      </p:sp>
    </p:spTree>
    <p:extLst>
      <p:ext uri="{BB962C8B-B14F-4D97-AF65-F5344CB8AC3E}">
        <p14:creationId xmlns:p14="http://schemas.microsoft.com/office/powerpoint/2010/main" val="31417061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62758" y="1124257"/>
          <a:ext cx="8744609" cy="5208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3063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5264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06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메시지 이름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설명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12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Destination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Unreachable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목적지 도착 불가 </a:t>
                      </a:r>
                      <a:endParaRPr lang="en-US" altLang="ko-KR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메시지</a:t>
                      </a:r>
                      <a:r>
                        <a:rPr lang="en-US" altLang="ko-KR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err="1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라우터가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dirty="0" err="1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패킷을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dirty="0" err="1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라우팅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할 수 없거나 호스트가 </a:t>
                      </a:r>
                      <a:r>
                        <a:rPr lang="ko-KR" altLang="en-US" sz="1600" dirty="0" err="1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패킷을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전달할 수 없을 때 해당 </a:t>
                      </a:r>
                      <a:r>
                        <a:rPr lang="ko-KR" altLang="en-US" sz="1600" dirty="0" err="1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패킷은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전달이 불가하다고 판단한 </a:t>
                      </a:r>
                      <a:r>
                        <a:rPr lang="ko-KR" altLang="en-US" sz="1600" dirty="0" err="1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라우터나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호스트가 폐기하고 출발지 호스트에 </a:t>
                      </a:r>
                      <a:r>
                        <a:rPr lang="en-US" altLang="ko-KR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‘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목적지도착불가</a:t>
                      </a:r>
                      <a:r>
                        <a:rPr lang="en-US" altLang="ko-KR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’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메시지를 전달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7552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Quench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60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발신지 억제</a:t>
                      </a:r>
                      <a:r>
                        <a:rPr lang="en-US" altLang="ko-KR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)</a:t>
                      </a:r>
                    </a:p>
                    <a:p>
                      <a:pPr algn="ctr" latinLnBrk="1"/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01613" indent="-201613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송신자에게 링크 혼잡으로써 </a:t>
                      </a:r>
                      <a:r>
                        <a:rPr lang="ko-KR" altLang="en-US" sz="1600" dirty="0" err="1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패킷이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폐기되었음을 알려줌 </a:t>
                      </a:r>
                      <a:endParaRPr lang="en-US" altLang="ko-KR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201613" indent="-201613" algn="l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  혼잡상황을 </a:t>
                      </a:r>
                      <a:r>
                        <a:rPr lang="ko-KR" altLang="en-US" sz="1600" dirty="0" err="1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알려줄뿐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혼잡원인을 제공하지 않음</a:t>
                      </a:r>
                      <a:endParaRPr lang="en-US" altLang="ko-KR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201613" indent="-201613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발신지 억제 메시지를</a:t>
                      </a:r>
                      <a:r>
                        <a:rPr lang="ko-KR" altLang="en-US" sz="1600" baseline="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수신한 시스템 자체에 혼잡을 유발했다고 단정할 수는 없음 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8723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Redirection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</a:t>
                      </a:r>
                      <a:r>
                        <a:rPr lang="ko-KR" altLang="en-US" sz="160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재지정</a:t>
                      </a:r>
                      <a:r>
                        <a:rPr lang="en-US" altLang="ko-KR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)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01613" indent="-201613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특정 목적지에 대해 더 나은 경로를 갖고 있는 다른 </a:t>
                      </a:r>
                      <a:r>
                        <a:rPr lang="ko-KR" altLang="en-US" sz="1600" dirty="0" err="1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라우터가</a:t>
                      </a:r>
                      <a:endParaRPr lang="en-US" altLang="ko-KR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  있음을 알려줌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7614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ko-KR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exceeded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</a:t>
                      </a:r>
                      <a:r>
                        <a:rPr lang="ko-KR" altLang="en-US" sz="160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시간초과</a:t>
                      </a:r>
                      <a:r>
                        <a:rPr lang="en-US" altLang="ko-KR" sz="18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TTL</a:t>
                      </a:r>
                      <a:r>
                        <a:rPr lang="en-US" altLang="ko-KR" sz="1600" baseline="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baseline="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만료로 패킷이 폐기 되었음을 알림 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62758" y="396048"/>
            <a:ext cx="8189913" cy="841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2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* </a:t>
            </a:r>
            <a:r>
              <a:rPr lang="ko-KR" altLang="en-US" sz="2200" b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에러 보고 메시지 </a:t>
            </a:r>
            <a:endParaRPr lang="en-US" altLang="ko-KR" sz="2200" b="1" dirty="0">
              <a:latin typeface="Times New Roman" pitchFamily="18" charset="0"/>
              <a:ea typeface="굴림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3757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433388"/>
            <a:ext cx="8189913" cy="841375"/>
          </a:xfrm>
        </p:spPr>
        <p:txBody>
          <a:bodyPr>
            <a:norm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5) Ethernet Frame </a:t>
            </a:r>
            <a:r>
              <a:rPr lang="ko-KR" altLang="en-US" sz="32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구조</a:t>
            </a:r>
          </a:p>
        </p:txBody>
      </p:sp>
      <p:pic>
        <p:nvPicPr>
          <p:cNvPr id="15363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75" y="2241550"/>
            <a:ext cx="8228013" cy="140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슬라이드 번호 개체 틀 52"/>
          <p:cNvSpPr>
            <a:spLocks noGrp="1"/>
          </p:cNvSpPr>
          <p:nvPr>
            <p:ph type="sldNum" sz="quarter" idx="12"/>
          </p:nvPr>
        </p:nvSpPr>
        <p:spPr>
          <a:xfrm>
            <a:off x="6857445" y="6321920"/>
            <a:ext cx="2057400" cy="365125"/>
          </a:xfrm>
        </p:spPr>
        <p:txBody>
          <a:bodyPr/>
          <a:lstStyle/>
          <a:p>
            <a:r>
              <a:rPr lang="en-US" altLang="ko-KR" dirty="0" smtClean="0"/>
              <a:t>36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549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15925" y="233046"/>
            <a:ext cx="8189913" cy="841375"/>
          </a:xfrm>
        </p:spPr>
        <p:txBody>
          <a:bodyPr>
            <a:norm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6) ARP(Address Resolution Protocol)</a:t>
            </a:r>
            <a:endParaRPr lang="ko-KR" altLang="en-US" sz="3200" smtClean="0">
              <a:latin typeface="Times New Roman" panose="02020603050405020304" pitchFamily="18" charset="0"/>
              <a:ea typeface="굴림" panose="020B0600000101010101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886" y="1338911"/>
            <a:ext cx="7303997" cy="371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5925" y="5166800"/>
            <a:ext cx="8422958" cy="1531180"/>
          </a:xfrm>
          <a:prstGeom prst="rect">
            <a:avLst/>
          </a:prstGeom>
        </p:spPr>
      </p:pic>
      <p:sp>
        <p:nvSpPr>
          <p:cNvPr id="5" name="슬라이드 번호 개체 틀 52"/>
          <p:cNvSpPr>
            <a:spLocks noGrp="1"/>
          </p:cNvSpPr>
          <p:nvPr>
            <p:ph type="sldNum" sz="quarter" idx="12"/>
          </p:nvPr>
        </p:nvSpPr>
        <p:spPr>
          <a:xfrm>
            <a:off x="6857445" y="6321920"/>
            <a:ext cx="2057400" cy="365125"/>
          </a:xfrm>
        </p:spPr>
        <p:txBody>
          <a:bodyPr/>
          <a:lstStyle/>
          <a:p>
            <a:r>
              <a:rPr lang="en-US" altLang="ko-KR" dirty="0" smtClean="0"/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81741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12" y="2369699"/>
            <a:ext cx="8317523" cy="428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5235" name="TextBox 2"/>
          <p:cNvSpPr txBox="1">
            <a:spLocks noChangeArrowheads="1"/>
          </p:cNvSpPr>
          <p:nvPr/>
        </p:nvSpPr>
        <p:spPr bwMode="auto">
          <a:xfrm>
            <a:off x="1585374" y="4512092"/>
            <a:ext cx="1329104" cy="31963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pPr eaLnBrk="1" latinLnBrk="1" hangingPunct="1"/>
            <a:r>
              <a:rPr lang="en-US" altLang="ko-KR" sz="1477">
                <a:latin typeface="Times New Roman" panose="02020603050405020304" pitchFamily="18" charset="0"/>
                <a:ea typeface="Arial Unicode MS" panose="020B0604020202020204" pitchFamily="50" charset="-127"/>
                <a:cs typeface="Times New Roman" panose="02020603050405020304" pitchFamily="18" charset="0"/>
              </a:rPr>
              <a:t>130.23.43.20</a:t>
            </a:r>
            <a:endParaRPr lang="ko-KR" altLang="en-US" sz="1477">
              <a:latin typeface="Times New Roman" panose="02020603050405020304" pitchFamily="18" charset="0"/>
              <a:ea typeface="Arial Unicode MS" panose="020B06040202020202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95236" name="TextBox 3"/>
          <p:cNvSpPr txBox="1">
            <a:spLocks noChangeArrowheads="1"/>
          </p:cNvSpPr>
          <p:nvPr/>
        </p:nvSpPr>
        <p:spPr bwMode="auto">
          <a:xfrm>
            <a:off x="1585374" y="4979549"/>
            <a:ext cx="1329104" cy="31963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pPr eaLnBrk="1" latinLnBrk="1" hangingPunct="1"/>
            <a:r>
              <a:rPr lang="en-US" altLang="ko-KR" sz="1477">
                <a:latin typeface="Times New Roman" panose="02020603050405020304" pitchFamily="18" charset="0"/>
                <a:ea typeface="Arial Unicode MS" panose="020B0604020202020204" pitchFamily="50" charset="-127"/>
                <a:cs typeface="Times New Roman" panose="02020603050405020304" pitchFamily="18" charset="0"/>
              </a:rPr>
              <a:t>130.23.43.25</a:t>
            </a:r>
            <a:endParaRPr lang="ko-KR" altLang="en-US" sz="1477">
              <a:latin typeface="Times New Roman" panose="02020603050405020304" pitchFamily="18" charset="0"/>
              <a:ea typeface="Arial Unicode MS" panose="020B06040202020202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103077" y="376846"/>
            <a:ext cx="480335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9pPr>
          </a:lstStyle>
          <a:p>
            <a:pPr algn="r">
              <a:defRPr/>
            </a:pPr>
            <a:r>
              <a:rPr lang="en-US" altLang="ko-KR" sz="3600" kern="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ARP Request Packet</a:t>
            </a:r>
            <a:endParaRPr lang="ko-KR" altLang="en-US" sz="3600" kern="0" dirty="0">
              <a:solidFill>
                <a:schemeClr val="tx1"/>
              </a:solidFill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46865" y="1012938"/>
            <a:ext cx="2477017" cy="10757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668430"/>
            <a:ext cx="1880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59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65" y="3699665"/>
            <a:ext cx="8445012" cy="3024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3" name="TextBox 5"/>
          <p:cNvSpPr txBox="1">
            <a:spLocks noChangeArrowheads="1"/>
          </p:cNvSpPr>
          <p:nvPr/>
        </p:nvSpPr>
        <p:spPr bwMode="auto">
          <a:xfrm>
            <a:off x="6552338" y="4562486"/>
            <a:ext cx="1330569" cy="29117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pPr eaLnBrk="1" latinLnBrk="1" hangingPunct="1"/>
            <a:r>
              <a:rPr lang="en-US" altLang="ko-KR" sz="1292" b="1" dirty="0">
                <a:latin typeface="Times New Roman" panose="02020603050405020304" pitchFamily="18" charset="0"/>
                <a:ea typeface="Arial Unicode MS" panose="020B0604020202020204" pitchFamily="50" charset="-127"/>
                <a:cs typeface="Times New Roman" panose="02020603050405020304" pitchFamily="18" charset="0"/>
              </a:rPr>
              <a:t>130.23.43.25</a:t>
            </a:r>
            <a:endParaRPr lang="ko-KR" altLang="en-US" sz="1292" b="1">
              <a:latin typeface="Times New Roman" panose="02020603050405020304" pitchFamily="18" charset="0"/>
              <a:ea typeface="Arial Unicode MS" panose="020B06040202020202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97284" name="TextBox 6"/>
          <p:cNvSpPr txBox="1">
            <a:spLocks noChangeArrowheads="1"/>
          </p:cNvSpPr>
          <p:nvPr/>
        </p:nvSpPr>
        <p:spPr bwMode="auto">
          <a:xfrm>
            <a:off x="6552338" y="5077127"/>
            <a:ext cx="1330569" cy="29117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pPr eaLnBrk="1" latinLnBrk="1" hangingPunct="1"/>
            <a:r>
              <a:rPr lang="en-US" altLang="ko-KR" sz="1292" b="1">
                <a:latin typeface="Times New Roman" panose="02020603050405020304" pitchFamily="18" charset="0"/>
                <a:ea typeface="Arial Unicode MS" panose="020B0604020202020204" pitchFamily="50" charset="-127"/>
                <a:cs typeface="Times New Roman" panose="02020603050405020304" pitchFamily="18" charset="0"/>
              </a:rPr>
              <a:t>130.23.43.20</a:t>
            </a:r>
            <a:endParaRPr lang="ko-KR" altLang="en-US" sz="1292" b="1">
              <a:latin typeface="Times New Roman" panose="02020603050405020304" pitchFamily="18" charset="0"/>
              <a:ea typeface="Arial Unicode MS" panose="020B06040202020202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56625" y="233023"/>
            <a:ext cx="8229600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3600" b="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다음_SemiBold" pitchFamily="2" charset="-127"/>
                <a:cs typeface="Times New Roman" panose="02020603050405020304" pitchFamily="18" charset="0"/>
              </a:rPr>
              <a:t>ARP Reply Packet</a:t>
            </a:r>
            <a:endParaRPr lang="en-US" altLang="ko-KR" sz="3600" b="0" kern="0" dirty="0">
              <a:solidFill>
                <a:schemeClr val="tx1"/>
              </a:solidFill>
              <a:latin typeface="Times New Roman" panose="02020603050405020304" pitchFamily="18" charset="0"/>
              <a:ea typeface="다음_SemiBold" pitchFamily="2" charset="-127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63" y="2107686"/>
            <a:ext cx="8384914" cy="143620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419165" y="783384"/>
            <a:ext cx="3254188" cy="10757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130.23.43.20  B234-5510-2210</a:t>
            </a:r>
          </a:p>
          <a:p>
            <a:pPr algn="ctr"/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ko-KR" alt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6671" y="438876"/>
            <a:ext cx="1880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95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9624" y="1892928"/>
            <a:ext cx="1880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70" y="3574677"/>
            <a:ext cx="8413341" cy="1441076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49624" y="2288253"/>
            <a:ext cx="3254188" cy="10757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130.23.43.25  46EF-4598-3AB</a:t>
            </a:r>
          </a:p>
          <a:p>
            <a:pPr algn="ctr"/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ko-KR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19366" y="1892928"/>
            <a:ext cx="1880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540189" y="2262260"/>
            <a:ext cx="3254188" cy="10757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130.23.43.20  B234-5510-2210</a:t>
            </a:r>
          </a:p>
          <a:p>
            <a:pPr algn="ctr"/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ko-KR" alt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349624" y="493997"/>
            <a:ext cx="8229600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3600" b="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다음_SemiBold" pitchFamily="2" charset="-127"/>
                <a:cs typeface="Times New Roman" panose="02020603050405020304" pitchFamily="18" charset="0"/>
              </a:rPr>
              <a:t>ARP </a:t>
            </a:r>
            <a:r>
              <a:rPr lang="ko-KR" altLang="en-US" sz="3400" b="0" kern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수행 후 캐쉬 테이블 </a:t>
            </a:r>
            <a:endParaRPr lang="en-US" altLang="ko-KR" sz="3400" b="0" kern="0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26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>
            <a:off x="4669695" y="963729"/>
            <a:ext cx="0" cy="194363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자유형 23"/>
          <p:cNvSpPr/>
          <p:nvPr/>
        </p:nvSpPr>
        <p:spPr>
          <a:xfrm>
            <a:off x="1503348" y="2661146"/>
            <a:ext cx="5818095" cy="1244274"/>
          </a:xfrm>
          <a:custGeom>
            <a:avLst/>
            <a:gdLst>
              <a:gd name="connsiteX0" fmla="*/ 0 w 5818095"/>
              <a:gd name="connsiteY0" fmla="*/ 0 h 2608729"/>
              <a:gd name="connsiteX1" fmla="*/ 3299012 w 5818095"/>
              <a:gd name="connsiteY1" fmla="*/ 0 h 2608729"/>
              <a:gd name="connsiteX2" fmla="*/ 3307977 w 5818095"/>
              <a:gd name="connsiteY2" fmla="*/ 2608729 h 2608729"/>
              <a:gd name="connsiteX3" fmla="*/ 5818095 w 5818095"/>
              <a:gd name="connsiteY3" fmla="*/ 2608729 h 260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18095" h="2608729">
                <a:moveTo>
                  <a:pt x="0" y="0"/>
                </a:moveTo>
                <a:lnTo>
                  <a:pt x="3299012" y="0"/>
                </a:lnTo>
                <a:cubicBezTo>
                  <a:pt x="3302000" y="869576"/>
                  <a:pt x="3304989" y="1739153"/>
                  <a:pt x="3307977" y="2608729"/>
                </a:cubicBezTo>
                <a:lnTo>
                  <a:pt x="5818095" y="260872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32" y="2073334"/>
            <a:ext cx="1031228" cy="12523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443" y="3515231"/>
            <a:ext cx="1304496" cy="1049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4647" y="2322592"/>
            <a:ext cx="540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ko-KR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79527" y="3589112"/>
            <a:ext cx="82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ko-KR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123689" y="2752178"/>
            <a:ext cx="1523630" cy="714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929754" y="2461236"/>
            <a:ext cx="188712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ARP </a:t>
            </a:r>
            <a:r>
              <a:rPr lang="en-US" altLang="ko-K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Table  </a:t>
            </a:r>
            <a:endParaRPr lang="ko-KR" altLang="en-US" sz="1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/>
          </p:nvPr>
        </p:nvGraphicFramePr>
        <p:xfrm>
          <a:off x="1946516" y="6193852"/>
          <a:ext cx="7087593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21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9057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5681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2006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7895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9515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63392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????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1111. 1111.1111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192.168.1.20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/www.test.com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099071" y="5935067"/>
            <a:ext cx="66559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</a:t>
            </a:r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</a:t>
            </a:r>
            <a:r>
              <a:rPr lang="ko-KR" altLang="en-US" sz="12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전송데이타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51389" y="3990398"/>
            <a:ext cx="1521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192.168.1.10</a:t>
            </a:r>
            <a:endParaRPr lang="en-US" altLang="ko-KR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255.255.255.0</a:t>
            </a:r>
          </a:p>
          <a:p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1111.1111.1111</a:t>
            </a:r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503348" y="4844474"/>
            <a:ext cx="1920095" cy="48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/>
          </p:nvPr>
        </p:nvGraphicFramePr>
        <p:xfrm>
          <a:off x="2808730" y="5220048"/>
          <a:ext cx="556620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9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3391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8062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3875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0061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FFFF.FFFF.FFFF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1111. 222.3333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0x0806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1111.1111.1111 /192.168.1.10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0000.0000.0000/192.168.1.20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오른쪽 화살표 37"/>
          <p:cNvSpPr/>
          <p:nvPr/>
        </p:nvSpPr>
        <p:spPr>
          <a:xfrm rot="10800000">
            <a:off x="2407812" y="5331186"/>
            <a:ext cx="365843" cy="24314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/>
          <p:cNvGrpSpPr/>
          <p:nvPr/>
        </p:nvGrpSpPr>
        <p:grpSpPr>
          <a:xfrm>
            <a:off x="4063579" y="2433541"/>
            <a:ext cx="1207816" cy="476937"/>
            <a:chOff x="2610322" y="5109168"/>
            <a:chExt cx="1495425" cy="742950"/>
          </a:xfrm>
        </p:grpSpPr>
        <p:sp>
          <p:nvSpPr>
            <p:cNvPr id="40" name="AutoShape 26"/>
            <p:cNvSpPr>
              <a:spLocks noChangeArrowheads="1"/>
            </p:cNvSpPr>
            <p:nvPr/>
          </p:nvSpPr>
          <p:spPr bwMode="auto">
            <a:xfrm>
              <a:off x="2610322" y="5109168"/>
              <a:ext cx="1495425" cy="742950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630926" y="5575432"/>
              <a:ext cx="1003300" cy="261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SWITCH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29"/>
            <p:cNvSpPr>
              <a:spLocks/>
            </p:cNvSpPr>
            <p:nvPr/>
          </p:nvSpPr>
          <p:spPr bwMode="auto">
            <a:xfrm>
              <a:off x="2705237" y="5139406"/>
              <a:ext cx="1228725" cy="357188"/>
            </a:xfrm>
            <a:custGeom>
              <a:avLst/>
              <a:gdLst/>
              <a:ahLst/>
              <a:cxnLst>
                <a:cxn ang="0">
                  <a:pos x="599" y="140"/>
                </a:cxn>
                <a:cxn ang="0">
                  <a:pos x="877" y="270"/>
                </a:cxn>
                <a:cxn ang="0">
                  <a:pos x="964" y="177"/>
                </a:cxn>
                <a:cxn ang="0">
                  <a:pos x="1393" y="183"/>
                </a:cxn>
                <a:cxn ang="0">
                  <a:pos x="1527" y="459"/>
                </a:cxn>
                <a:cxn ang="0">
                  <a:pos x="856" y="727"/>
                </a:cxn>
                <a:cxn ang="0">
                  <a:pos x="436" y="721"/>
                </a:cxn>
                <a:cxn ang="0">
                  <a:pos x="537" y="615"/>
                </a:cxn>
                <a:cxn ang="0">
                  <a:pos x="0" y="755"/>
                </a:cxn>
                <a:cxn ang="0">
                  <a:pos x="247" y="906"/>
                </a:cxn>
                <a:cxn ang="0">
                  <a:pos x="337" y="804"/>
                </a:cxn>
                <a:cxn ang="0">
                  <a:pos x="973" y="800"/>
                </a:cxn>
                <a:cxn ang="0">
                  <a:pos x="1570" y="552"/>
                </a:cxn>
                <a:cxn ang="0">
                  <a:pos x="1663" y="810"/>
                </a:cxn>
                <a:cxn ang="0">
                  <a:pos x="2281" y="807"/>
                </a:cxn>
                <a:cxn ang="0">
                  <a:pos x="2188" y="900"/>
                </a:cxn>
                <a:cxn ang="0">
                  <a:pos x="2707" y="772"/>
                </a:cxn>
                <a:cxn ang="0">
                  <a:pos x="2467" y="624"/>
                </a:cxn>
                <a:cxn ang="0">
                  <a:pos x="2359" y="726"/>
                </a:cxn>
                <a:cxn ang="0">
                  <a:pos x="1915" y="720"/>
                </a:cxn>
                <a:cxn ang="0">
                  <a:pos x="1812" y="447"/>
                </a:cxn>
                <a:cxn ang="0">
                  <a:pos x="2438" y="190"/>
                </a:cxn>
                <a:cxn ang="0">
                  <a:pos x="2899" y="192"/>
                </a:cxn>
                <a:cxn ang="0">
                  <a:pos x="2815" y="276"/>
                </a:cxn>
                <a:cxn ang="0">
                  <a:pos x="3328" y="151"/>
                </a:cxn>
                <a:cxn ang="0">
                  <a:pos x="3085" y="0"/>
                </a:cxn>
                <a:cxn ang="0">
                  <a:pos x="2974" y="114"/>
                </a:cxn>
                <a:cxn ang="0">
                  <a:pos x="2338" y="106"/>
                </a:cxn>
                <a:cxn ang="0">
                  <a:pos x="1762" y="352"/>
                </a:cxn>
                <a:cxn ang="0">
                  <a:pos x="1667" y="112"/>
                </a:cxn>
                <a:cxn ang="0">
                  <a:pos x="1046" y="106"/>
                </a:cxn>
                <a:cxn ang="0">
                  <a:pos x="1147" y="11"/>
                </a:cxn>
                <a:cxn ang="0">
                  <a:pos x="599" y="140"/>
                </a:cxn>
              </a:cxnLst>
              <a:rect l="0" t="0" r="r" b="b"/>
              <a:pathLst>
                <a:path w="3328" h="906">
                  <a:moveTo>
                    <a:pt x="599" y="140"/>
                  </a:moveTo>
                  <a:lnTo>
                    <a:pt x="877" y="270"/>
                  </a:lnTo>
                  <a:lnTo>
                    <a:pt x="964" y="177"/>
                  </a:lnTo>
                  <a:lnTo>
                    <a:pt x="1393" y="183"/>
                  </a:lnTo>
                  <a:lnTo>
                    <a:pt x="1527" y="459"/>
                  </a:lnTo>
                  <a:lnTo>
                    <a:pt x="856" y="727"/>
                  </a:lnTo>
                  <a:lnTo>
                    <a:pt x="436" y="721"/>
                  </a:lnTo>
                  <a:lnTo>
                    <a:pt x="537" y="615"/>
                  </a:lnTo>
                  <a:lnTo>
                    <a:pt x="0" y="755"/>
                  </a:lnTo>
                  <a:lnTo>
                    <a:pt x="247" y="906"/>
                  </a:lnTo>
                  <a:lnTo>
                    <a:pt x="337" y="804"/>
                  </a:lnTo>
                  <a:lnTo>
                    <a:pt x="973" y="800"/>
                  </a:lnTo>
                  <a:lnTo>
                    <a:pt x="1570" y="552"/>
                  </a:lnTo>
                  <a:lnTo>
                    <a:pt x="1663" y="810"/>
                  </a:lnTo>
                  <a:lnTo>
                    <a:pt x="2281" y="807"/>
                  </a:lnTo>
                  <a:lnTo>
                    <a:pt x="2188" y="900"/>
                  </a:lnTo>
                  <a:lnTo>
                    <a:pt x="2707" y="772"/>
                  </a:lnTo>
                  <a:lnTo>
                    <a:pt x="2467" y="624"/>
                  </a:lnTo>
                  <a:lnTo>
                    <a:pt x="2359" y="726"/>
                  </a:lnTo>
                  <a:lnTo>
                    <a:pt x="1915" y="720"/>
                  </a:lnTo>
                  <a:lnTo>
                    <a:pt x="1812" y="447"/>
                  </a:lnTo>
                  <a:lnTo>
                    <a:pt x="2438" y="190"/>
                  </a:lnTo>
                  <a:lnTo>
                    <a:pt x="2899" y="192"/>
                  </a:lnTo>
                  <a:lnTo>
                    <a:pt x="2815" y="276"/>
                  </a:lnTo>
                  <a:lnTo>
                    <a:pt x="3328" y="151"/>
                  </a:lnTo>
                  <a:lnTo>
                    <a:pt x="3085" y="0"/>
                  </a:lnTo>
                  <a:lnTo>
                    <a:pt x="2974" y="114"/>
                  </a:lnTo>
                  <a:lnTo>
                    <a:pt x="2338" y="106"/>
                  </a:lnTo>
                  <a:lnTo>
                    <a:pt x="1762" y="352"/>
                  </a:lnTo>
                  <a:lnTo>
                    <a:pt x="1667" y="112"/>
                  </a:lnTo>
                  <a:lnTo>
                    <a:pt x="1046" y="106"/>
                  </a:lnTo>
                  <a:lnTo>
                    <a:pt x="1147" y="11"/>
                  </a:lnTo>
                  <a:lnTo>
                    <a:pt x="599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4D4D4D"/>
              </a:solidFill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rgbClr val="4D4D4D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308991" y="3393613"/>
            <a:ext cx="1785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</a:t>
            </a:r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192.168.1.20</a:t>
            </a:r>
            <a:endParaRPr lang="en-US" altLang="ko-KR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</a:t>
            </a:r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255.255.255.0</a:t>
            </a:r>
          </a:p>
          <a:p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2222.2222.2222</a:t>
            </a:r>
          </a:p>
          <a:p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  <a:endParaRPr lang="en-US" altLang="ko-KR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718" y="494348"/>
            <a:ext cx="1094561" cy="88054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360279" y="426333"/>
            <a:ext cx="17854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</a:t>
            </a:r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192.168.1.30</a:t>
            </a:r>
            <a:endParaRPr lang="en-US" altLang="ko-KR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</a:t>
            </a:r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255.255.255.0</a:t>
            </a:r>
            <a:endParaRPr lang="en-US" altLang="ko-KR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</a:t>
            </a:r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3333.3333.3333</a:t>
            </a:r>
          </a:p>
          <a:p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</a:p>
          <a:p>
            <a:endParaRPr lang="en-US" altLang="ko-KR" dirty="0"/>
          </a:p>
        </p:txBody>
      </p:sp>
      <p:sp>
        <p:nvSpPr>
          <p:cNvPr id="46" name="직사각형 45"/>
          <p:cNvSpPr/>
          <p:nvPr/>
        </p:nvSpPr>
        <p:spPr>
          <a:xfrm>
            <a:off x="341108" y="1308968"/>
            <a:ext cx="1523630" cy="714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269738" y="1025741"/>
            <a:ext cx="16434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018194" y="4931126"/>
            <a:ext cx="4944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</a:t>
            </a:r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</a:t>
            </a:r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</a:t>
            </a:r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Protocol                ARP Header</a:t>
            </a:r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21165" y="5206538"/>
            <a:ext cx="6703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b="1" dirty="0" smtClean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endParaRPr lang="en-US" altLang="ko-KR" sz="1300" b="1" dirty="0" smtClean="0">
              <a:solidFill>
                <a:srgbClr val="C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1300" b="1" dirty="0" smtClean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</a:t>
            </a:r>
            <a:endParaRPr lang="ko-KR" altLang="en-US" sz="1300" b="1" dirty="0">
              <a:solidFill>
                <a:srgbClr val="C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592047" y="1270660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ko-KR" sz="1700" dirty="0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1700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347121" y="2598224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ko-KR" sz="1700" dirty="0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1700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9" name="슬라이드 번호 개체 틀 52"/>
          <p:cNvSpPr>
            <a:spLocks noGrp="1"/>
          </p:cNvSpPr>
          <p:nvPr>
            <p:ph type="sldNum" sz="quarter" idx="12"/>
          </p:nvPr>
        </p:nvSpPr>
        <p:spPr>
          <a:xfrm>
            <a:off x="6885695" y="6425923"/>
            <a:ext cx="2057400" cy="365125"/>
          </a:xfrm>
        </p:spPr>
        <p:txBody>
          <a:bodyPr/>
          <a:lstStyle/>
          <a:p>
            <a:r>
              <a:rPr lang="en-US" altLang="ko-KR" dirty="0" smtClean="0"/>
              <a:t>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7207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자유형 23"/>
          <p:cNvSpPr/>
          <p:nvPr/>
        </p:nvSpPr>
        <p:spPr>
          <a:xfrm>
            <a:off x="1839960" y="3332266"/>
            <a:ext cx="5818095" cy="1244274"/>
          </a:xfrm>
          <a:custGeom>
            <a:avLst/>
            <a:gdLst>
              <a:gd name="connsiteX0" fmla="*/ 0 w 5818095"/>
              <a:gd name="connsiteY0" fmla="*/ 0 h 2608729"/>
              <a:gd name="connsiteX1" fmla="*/ 3299012 w 5818095"/>
              <a:gd name="connsiteY1" fmla="*/ 0 h 2608729"/>
              <a:gd name="connsiteX2" fmla="*/ 3307977 w 5818095"/>
              <a:gd name="connsiteY2" fmla="*/ 2608729 h 2608729"/>
              <a:gd name="connsiteX3" fmla="*/ 5818095 w 5818095"/>
              <a:gd name="connsiteY3" fmla="*/ 2608729 h 260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18095" h="2608729">
                <a:moveTo>
                  <a:pt x="0" y="0"/>
                </a:moveTo>
                <a:lnTo>
                  <a:pt x="3299012" y="0"/>
                </a:lnTo>
                <a:cubicBezTo>
                  <a:pt x="3302000" y="869576"/>
                  <a:pt x="3304989" y="1739153"/>
                  <a:pt x="3307977" y="2608729"/>
                </a:cubicBezTo>
                <a:lnTo>
                  <a:pt x="5818095" y="260872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44" y="2744454"/>
            <a:ext cx="1031228" cy="12523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055" y="4186351"/>
            <a:ext cx="1304496" cy="1049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59" y="2993712"/>
            <a:ext cx="540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ko-KR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16139" y="4260232"/>
            <a:ext cx="82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ko-KR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051176" y="3381649"/>
            <a:ext cx="2932755" cy="714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</a:t>
            </a:r>
            <a:r>
              <a:rPr lang="en-US" altLang="ko-KR" sz="15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192.168.1.20   2222.2222.2222</a:t>
            </a:r>
            <a:endParaRPr lang="ko-KR" altLang="en-US" sz="1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34745" y="3061766"/>
            <a:ext cx="1550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/>
          </p:nvPr>
        </p:nvGraphicFramePr>
        <p:xfrm>
          <a:off x="1798272" y="5803902"/>
          <a:ext cx="7206862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506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6804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7460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3722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8869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0180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66141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222.2222.2222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1111. 1111.1111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192.168.1.20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/www.test.com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720008" y="5546287"/>
            <a:ext cx="6934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</a:t>
            </a:r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</a:t>
            </a:r>
            <a:r>
              <a:rPr lang="ko-KR" altLang="en-US" sz="12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전송데이타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5020" y="4589447"/>
            <a:ext cx="1483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192.168.1.10</a:t>
            </a:r>
            <a:endParaRPr lang="en-US" altLang="ko-KR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255.255.255.0</a:t>
            </a:r>
          </a:p>
          <a:p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MAC1111.1111.1111</a:t>
            </a:r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/>
          </p:nvPr>
        </p:nvGraphicFramePr>
        <p:xfrm>
          <a:off x="727429" y="946432"/>
          <a:ext cx="576294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04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2263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015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46827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006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2222.2222.2222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/192.168.1.20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1111.1111.1111 /192.168.1.10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0x0806</a:t>
                      </a:r>
                      <a:endParaRPr lang="ko-KR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2222.2222.2222</a:t>
                      </a:r>
                      <a:endParaRPr lang="ko-KR" altLang="en-US" sz="12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1111.1111.1111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4" name="그룹 33"/>
          <p:cNvGrpSpPr/>
          <p:nvPr/>
        </p:nvGrpSpPr>
        <p:grpSpPr>
          <a:xfrm>
            <a:off x="4400191" y="3104661"/>
            <a:ext cx="1207816" cy="476937"/>
            <a:chOff x="2610322" y="5109168"/>
            <a:chExt cx="1495425" cy="742950"/>
          </a:xfrm>
        </p:grpSpPr>
        <p:sp>
          <p:nvSpPr>
            <p:cNvPr id="40" name="AutoShape 26"/>
            <p:cNvSpPr>
              <a:spLocks noChangeArrowheads="1"/>
            </p:cNvSpPr>
            <p:nvPr/>
          </p:nvSpPr>
          <p:spPr bwMode="auto">
            <a:xfrm>
              <a:off x="2610322" y="5109168"/>
              <a:ext cx="1495425" cy="742950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630926" y="5575432"/>
              <a:ext cx="1003300" cy="261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SWITCH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29"/>
            <p:cNvSpPr>
              <a:spLocks/>
            </p:cNvSpPr>
            <p:nvPr/>
          </p:nvSpPr>
          <p:spPr bwMode="auto">
            <a:xfrm>
              <a:off x="2705237" y="5139406"/>
              <a:ext cx="1228725" cy="357188"/>
            </a:xfrm>
            <a:custGeom>
              <a:avLst/>
              <a:gdLst/>
              <a:ahLst/>
              <a:cxnLst>
                <a:cxn ang="0">
                  <a:pos x="599" y="140"/>
                </a:cxn>
                <a:cxn ang="0">
                  <a:pos x="877" y="270"/>
                </a:cxn>
                <a:cxn ang="0">
                  <a:pos x="964" y="177"/>
                </a:cxn>
                <a:cxn ang="0">
                  <a:pos x="1393" y="183"/>
                </a:cxn>
                <a:cxn ang="0">
                  <a:pos x="1527" y="459"/>
                </a:cxn>
                <a:cxn ang="0">
                  <a:pos x="856" y="727"/>
                </a:cxn>
                <a:cxn ang="0">
                  <a:pos x="436" y="721"/>
                </a:cxn>
                <a:cxn ang="0">
                  <a:pos x="537" y="615"/>
                </a:cxn>
                <a:cxn ang="0">
                  <a:pos x="0" y="755"/>
                </a:cxn>
                <a:cxn ang="0">
                  <a:pos x="247" y="906"/>
                </a:cxn>
                <a:cxn ang="0">
                  <a:pos x="337" y="804"/>
                </a:cxn>
                <a:cxn ang="0">
                  <a:pos x="973" y="800"/>
                </a:cxn>
                <a:cxn ang="0">
                  <a:pos x="1570" y="552"/>
                </a:cxn>
                <a:cxn ang="0">
                  <a:pos x="1663" y="810"/>
                </a:cxn>
                <a:cxn ang="0">
                  <a:pos x="2281" y="807"/>
                </a:cxn>
                <a:cxn ang="0">
                  <a:pos x="2188" y="900"/>
                </a:cxn>
                <a:cxn ang="0">
                  <a:pos x="2707" y="772"/>
                </a:cxn>
                <a:cxn ang="0">
                  <a:pos x="2467" y="624"/>
                </a:cxn>
                <a:cxn ang="0">
                  <a:pos x="2359" y="726"/>
                </a:cxn>
                <a:cxn ang="0">
                  <a:pos x="1915" y="720"/>
                </a:cxn>
                <a:cxn ang="0">
                  <a:pos x="1812" y="447"/>
                </a:cxn>
                <a:cxn ang="0">
                  <a:pos x="2438" y="190"/>
                </a:cxn>
                <a:cxn ang="0">
                  <a:pos x="2899" y="192"/>
                </a:cxn>
                <a:cxn ang="0">
                  <a:pos x="2815" y="276"/>
                </a:cxn>
                <a:cxn ang="0">
                  <a:pos x="3328" y="151"/>
                </a:cxn>
                <a:cxn ang="0">
                  <a:pos x="3085" y="0"/>
                </a:cxn>
                <a:cxn ang="0">
                  <a:pos x="2974" y="114"/>
                </a:cxn>
                <a:cxn ang="0">
                  <a:pos x="2338" y="106"/>
                </a:cxn>
                <a:cxn ang="0">
                  <a:pos x="1762" y="352"/>
                </a:cxn>
                <a:cxn ang="0">
                  <a:pos x="1667" y="112"/>
                </a:cxn>
                <a:cxn ang="0">
                  <a:pos x="1046" y="106"/>
                </a:cxn>
                <a:cxn ang="0">
                  <a:pos x="1147" y="11"/>
                </a:cxn>
                <a:cxn ang="0">
                  <a:pos x="599" y="140"/>
                </a:cxn>
              </a:cxnLst>
              <a:rect l="0" t="0" r="r" b="b"/>
              <a:pathLst>
                <a:path w="3328" h="906">
                  <a:moveTo>
                    <a:pt x="599" y="140"/>
                  </a:moveTo>
                  <a:lnTo>
                    <a:pt x="877" y="270"/>
                  </a:lnTo>
                  <a:lnTo>
                    <a:pt x="964" y="177"/>
                  </a:lnTo>
                  <a:lnTo>
                    <a:pt x="1393" y="183"/>
                  </a:lnTo>
                  <a:lnTo>
                    <a:pt x="1527" y="459"/>
                  </a:lnTo>
                  <a:lnTo>
                    <a:pt x="856" y="727"/>
                  </a:lnTo>
                  <a:lnTo>
                    <a:pt x="436" y="721"/>
                  </a:lnTo>
                  <a:lnTo>
                    <a:pt x="537" y="615"/>
                  </a:lnTo>
                  <a:lnTo>
                    <a:pt x="0" y="755"/>
                  </a:lnTo>
                  <a:lnTo>
                    <a:pt x="247" y="906"/>
                  </a:lnTo>
                  <a:lnTo>
                    <a:pt x="337" y="804"/>
                  </a:lnTo>
                  <a:lnTo>
                    <a:pt x="973" y="800"/>
                  </a:lnTo>
                  <a:lnTo>
                    <a:pt x="1570" y="552"/>
                  </a:lnTo>
                  <a:lnTo>
                    <a:pt x="1663" y="810"/>
                  </a:lnTo>
                  <a:lnTo>
                    <a:pt x="2281" y="807"/>
                  </a:lnTo>
                  <a:lnTo>
                    <a:pt x="2188" y="900"/>
                  </a:lnTo>
                  <a:lnTo>
                    <a:pt x="2707" y="772"/>
                  </a:lnTo>
                  <a:lnTo>
                    <a:pt x="2467" y="624"/>
                  </a:lnTo>
                  <a:lnTo>
                    <a:pt x="2359" y="726"/>
                  </a:lnTo>
                  <a:lnTo>
                    <a:pt x="1915" y="720"/>
                  </a:lnTo>
                  <a:lnTo>
                    <a:pt x="1812" y="447"/>
                  </a:lnTo>
                  <a:lnTo>
                    <a:pt x="2438" y="190"/>
                  </a:lnTo>
                  <a:lnTo>
                    <a:pt x="2899" y="192"/>
                  </a:lnTo>
                  <a:lnTo>
                    <a:pt x="2815" y="276"/>
                  </a:lnTo>
                  <a:lnTo>
                    <a:pt x="3328" y="151"/>
                  </a:lnTo>
                  <a:lnTo>
                    <a:pt x="3085" y="0"/>
                  </a:lnTo>
                  <a:lnTo>
                    <a:pt x="2974" y="114"/>
                  </a:lnTo>
                  <a:lnTo>
                    <a:pt x="2338" y="106"/>
                  </a:lnTo>
                  <a:lnTo>
                    <a:pt x="1762" y="352"/>
                  </a:lnTo>
                  <a:lnTo>
                    <a:pt x="1667" y="112"/>
                  </a:lnTo>
                  <a:lnTo>
                    <a:pt x="1046" y="106"/>
                  </a:lnTo>
                  <a:lnTo>
                    <a:pt x="1147" y="11"/>
                  </a:lnTo>
                  <a:lnTo>
                    <a:pt x="599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4D4D4D"/>
              </a:solidFill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rgbClr val="4D4D4D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45603" y="4064733"/>
            <a:ext cx="1785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</a:t>
            </a:r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192.168.1.20</a:t>
            </a:r>
            <a:endParaRPr lang="en-US" altLang="ko-KR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</a:t>
            </a:r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255.255.255.0</a:t>
            </a:r>
          </a:p>
          <a:p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2222.2222.2222</a:t>
            </a:r>
          </a:p>
          <a:p>
            <a:r>
              <a:rPr lang="en-US" altLang="ko-KR" sz="1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  <a:endParaRPr lang="en-US" altLang="ko-KR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434181" y="1980088"/>
            <a:ext cx="2837937" cy="737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15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192.168.1.10   1111.1111.1111</a:t>
            </a:r>
            <a:endParaRPr lang="ko-KR" altLang="en-US" sz="1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1697" y="1690376"/>
            <a:ext cx="16434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ARP </a:t>
            </a:r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Table  </a:t>
            </a:r>
            <a:endParaRPr lang="ko-KR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7608" y="647671"/>
            <a:ext cx="56128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Header                     </a:t>
            </a:r>
            <a:r>
              <a:rPr lang="en-US" altLang="ko-KR" sz="1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Protocol             </a:t>
            </a:r>
            <a:r>
              <a:rPr lang="ko-KR" altLang="en-US" sz="1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송</a:t>
            </a:r>
            <a:r>
              <a:rPr lang="en-US" altLang="ko-KR" sz="1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ko-KR" altLang="en-US" sz="1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         수</a:t>
            </a:r>
            <a:r>
              <a:rPr lang="en-US" altLang="ko-KR" sz="1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ko-KR" altLang="en-US" sz="1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7" name="오른쪽 화살표 26"/>
          <p:cNvSpPr/>
          <p:nvPr/>
        </p:nvSpPr>
        <p:spPr>
          <a:xfrm>
            <a:off x="6504341" y="1057725"/>
            <a:ext cx="365843" cy="24314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0490" y="933077"/>
            <a:ext cx="6703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b="1" dirty="0" smtClean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endParaRPr lang="en-US" altLang="ko-KR" sz="1300" b="1" dirty="0" smtClean="0">
              <a:solidFill>
                <a:srgbClr val="C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1300" b="1" dirty="0" smtClean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</a:t>
            </a:r>
            <a:endParaRPr lang="ko-KR" altLang="en-US" sz="1300" b="1" dirty="0">
              <a:solidFill>
                <a:srgbClr val="C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870184" y="926619"/>
            <a:ext cx="1920095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Reply</a:t>
            </a:r>
            <a:endParaRPr lang="ko-KR" altLang="en-US" sz="15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215031" y="4133879"/>
            <a:ext cx="1920095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1500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Reply</a:t>
            </a:r>
            <a:endParaRPr lang="ko-KR" altLang="en-US" sz="15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9" name="슬라이드 번호 개체 틀 52"/>
          <p:cNvSpPr>
            <a:spLocks noGrp="1"/>
          </p:cNvSpPr>
          <p:nvPr>
            <p:ph type="sldNum" sz="quarter" idx="12"/>
          </p:nvPr>
        </p:nvSpPr>
        <p:spPr>
          <a:xfrm>
            <a:off x="6857445" y="6321920"/>
            <a:ext cx="2057400" cy="365125"/>
          </a:xfrm>
        </p:spPr>
        <p:txBody>
          <a:bodyPr/>
          <a:lstStyle/>
          <a:p>
            <a:r>
              <a:rPr lang="en-US" altLang="ko-KR" dirty="0" smtClean="0"/>
              <a:t>42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90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3700</TotalTime>
  <Words>3659</Words>
  <Application>Microsoft Office PowerPoint</Application>
  <PresentationFormat>화면 슬라이드 쇼(4:3)</PresentationFormat>
  <Paragraphs>970</Paragraphs>
  <Slides>49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66" baseType="lpstr">
      <vt:lpstr>Arial Unicode MS</vt:lpstr>
      <vt:lpstr>HY울릉도L</vt:lpstr>
      <vt:lpstr>굴림</vt:lpstr>
      <vt:lpstr>나눔고딕</vt:lpstr>
      <vt:lpstr>다음_SemiBold</vt:lpstr>
      <vt:lpstr>돋움</vt:lpstr>
      <vt:lpstr>맑은 고딕</vt:lpstr>
      <vt:lpstr>함초롬돋움</vt:lpstr>
      <vt:lpstr>함초롬바탕</vt:lpstr>
      <vt:lpstr>함초롬바탕 확장</vt:lpstr>
      <vt:lpstr>Arial</vt:lpstr>
      <vt:lpstr>Arial Narrow</vt:lpstr>
      <vt:lpstr>Calibri</vt:lpstr>
      <vt:lpstr>Calibri Light</vt:lpstr>
      <vt:lpstr>Times New Roman</vt:lpstr>
      <vt:lpstr>Wingdings</vt:lpstr>
      <vt:lpstr>Office 테마</vt:lpstr>
      <vt:lpstr>TCP/IP 프로토콜 분석</vt:lpstr>
      <vt:lpstr>TCP/IP Protocol Stack</vt:lpstr>
      <vt:lpstr>PowerPoint 프레젠테이션</vt:lpstr>
      <vt:lpstr>1) TCP Header</vt:lpstr>
      <vt:lpstr>TCP 연결 관리</vt:lpstr>
      <vt:lpstr>PowerPoint 프레젠테이션</vt:lpstr>
      <vt:lpstr>PowerPoint 프레젠테이션</vt:lpstr>
      <vt:lpstr>❶ 정상적인 트래픽 전송 과정 </vt:lpstr>
      <vt:lpstr>❷ 비정상적인 트래픽 전송 과정 </vt:lpstr>
      <vt:lpstr>❷ 비정상적인 트래픽 전송 과정 </vt:lpstr>
      <vt:lpstr>PowerPoint 프레젠테이션</vt:lpstr>
      <vt:lpstr>PowerPoint 프레젠테이션</vt:lpstr>
      <vt:lpstr>PowerPoint 프레젠테이션</vt:lpstr>
      <vt:lpstr>TCP 연결 종료(4-way Handshake)</vt:lpstr>
      <vt:lpstr>PowerPoint 프레젠테이션</vt:lpstr>
      <vt:lpstr>2)  UDP(User Datagram Protocol) Header</vt:lpstr>
      <vt:lpstr>UDP</vt:lpstr>
      <vt:lpstr>PowerPoint 프레젠테이션</vt:lpstr>
      <vt:lpstr>PowerPoint 프레젠테이션</vt:lpstr>
      <vt:lpstr>PowerPoint 프레젠테이션</vt:lpstr>
      <vt:lpstr>PowerPoint 프레젠테이션</vt:lpstr>
      <vt:lpstr>3) IP Header</vt:lpstr>
      <vt:lpstr>[ IP Header Field ]</vt:lpstr>
      <vt:lpstr>PowerPoint 프레젠테이션</vt:lpstr>
      <vt:lpstr>PowerPoint 프레젠테이션</vt:lpstr>
      <vt:lpstr>Fragmentation 예제</vt:lpstr>
      <vt:lpstr>Fragmentation 예제</vt:lpstr>
      <vt:lpstr>* MSS(Maximum Segment Size)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4) ICMP(Internet Control Message Protocol)</vt:lpstr>
      <vt:lpstr>❶ ICMP 메시지 종류 </vt:lpstr>
      <vt:lpstr>❷ ICMP Header </vt:lpstr>
      <vt:lpstr>❸ ICMP Code</vt:lpstr>
      <vt:lpstr>PowerPoint 프레젠테이션</vt:lpstr>
      <vt:lpstr>PowerPoint 프레젠테이션</vt:lpstr>
      <vt:lpstr>5) Ethernet Frame 구조</vt:lpstr>
      <vt:lpstr>6) ARP(Address Resolution Protocol)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Sora Kwon</dc:creator>
  <cp:lastModifiedBy>Microsoft 계정</cp:lastModifiedBy>
  <cp:revision>175</cp:revision>
  <cp:lastPrinted>2020-08-05T04:43:06Z</cp:lastPrinted>
  <dcterms:created xsi:type="dcterms:W3CDTF">2016-06-18T01:38:17Z</dcterms:created>
  <dcterms:modified xsi:type="dcterms:W3CDTF">2023-11-14T00:00:08Z</dcterms:modified>
</cp:coreProperties>
</file>