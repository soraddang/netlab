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1" r:id="rId2"/>
    <p:sldId id="282" r:id="rId3"/>
    <p:sldId id="283" r:id="rId4"/>
    <p:sldId id="284" r:id="rId5"/>
    <p:sldId id="285" r:id="rId6"/>
    <p:sldId id="286" r:id="rId7"/>
    <p:sldId id="287" r:id="rId8"/>
    <p:sldId id="263" r:id="rId9"/>
    <p:sldId id="264" r:id="rId10"/>
    <p:sldId id="265" r:id="rId11"/>
    <p:sldId id="259" r:id="rId12"/>
    <p:sldId id="266" r:id="rId13"/>
    <p:sldId id="268" r:id="rId14"/>
    <p:sldId id="267" r:id="rId15"/>
    <p:sldId id="269" r:id="rId16"/>
    <p:sldId id="270" r:id="rId17"/>
    <p:sldId id="260" r:id="rId18"/>
    <p:sldId id="272" r:id="rId19"/>
    <p:sldId id="271" r:id="rId20"/>
    <p:sldId id="261" r:id="rId21"/>
    <p:sldId id="273" r:id="rId22"/>
    <p:sldId id="274" r:id="rId23"/>
    <p:sldId id="276" r:id="rId24"/>
    <p:sldId id="277" r:id="rId25"/>
    <p:sldId id="262" r:id="rId26"/>
    <p:sldId id="279" r:id="rId27"/>
    <p:sldId id="280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987" autoAdjust="0"/>
    <p:restoredTop sz="94700" autoAdjust="0"/>
  </p:normalViewPr>
  <p:slideViewPr>
    <p:cSldViewPr snapToGrid="0">
      <p:cViewPr varScale="1">
        <p:scale>
          <a:sx n="97" d="100"/>
          <a:sy n="97" d="100"/>
        </p:scale>
        <p:origin x="7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EB896-78F5-4EBA-A487-2A9581A6DFC5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DE15D-4743-43C9-8F0E-E565D1BFBA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505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325438" y="879475"/>
            <a:ext cx="7896226" cy="4441825"/>
          </a:xfrm>
          <a:ln/>
        </p:spPr>
      </p:sp>
      <p:sp>
        <p:nvSpPr>
          <p:cNvPr id="402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2252" y="5481450"/>
            <a:ext cx="5392429" cy="1998849"/>
          </a:xfr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변환하는 주소 필드가 무엇이냐에 따라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SNAT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DNAT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분류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SNAT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송신지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필드에 주소를 다른 주소로 변환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DNAT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필드에 주소를 다른 주소으로 변환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064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7"/>
          <p:cNvSpPr txBox="1">
            <a:spLocks noGrp="1" noChangeArrowheads="1"/>
          </p:cNvSpPr>
          <p:nvPr/>
        </p:nvSpPr>
        <p:spPr bwMode="auto">
          <a:xfrm>
            <a:off x="3676189" y="9296813"/>
            <a:ext cx="3185343" cy="573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7687" tIns="48843" rIns="97687" bIns="48843" anchor="b"/>
          <a:lstStyle/>
          <a:p>
            <a:pPr algn="r"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2FA2C64C-3D9A-48BD-98FD-8E5EAEE6F119}" type="slidenum">
              <a:rPr kumimoji="1" lang="en-US" altLang="ko-KR" sz="1000">
                <a:latin typeface="Times New Roman" panose="02020603050405020304" pitchFamily="18" charset="0"/>
                <a:cs typeface="Times New Roman" panose="02020603050405020304" pitchFamily="18" charset="0"/>
              </a:rPr>
              <a:pPr algn="r" eaLnBrk="1" latin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2</a:t>
            </a:fld>
            <a:endParaRPr kumimoji="1" lang="en-US" altLang="ko-K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2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875" y="958850"/>
            <a:ext cx="7581900" cy="4265613"/>
          </a:xfrm>
          <a:ln/>
        </p:spPr>
      </p:sp>
    </p:spTree>
    <p:extLst>
      <p:ext uri="{BB962C8B-B14F-4D97-AF65-F5344CB8AC3E}">
        <p14:creationId xmlns:p14="http://schemas.microsoft.com/office/powerpoint/2010/main" val="3921090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365125" y="796925"/>
            <a:ext cx="7900988" cy="4445000"/>
          </a:xfrm>
          <a:ln/>
        </p:spPr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19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27000" y="738188"/>
            <a:ext cx="7605713" cy="4279900"/>
          </a:xfrm>
          <a:ln/>
        </p:spPr>
      </p:sp>
      <p:sp>
        <p:nvSpPr>
          <p:cNvPr id="402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6113" y="5281461"/>
            <a:ext cx="5720152" cy="2846028"/>
          </a:xfrm>
          <a:noFill/>
        </p:spPr>
        <p:txBody>
          <a:bodyPr/>
          <a:lstStyle/>
          <a:p>
            <a:pPr eaLnBrk="1" hangingPunct="1"/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192.168.1.30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이라는 사설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주소는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30.1.120.8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이라는 공인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변환하여 웹서버에 서비스를 받게 된다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</a:p>
          <a:p>
            <a:pPr eaLnBrk="1" hangingPunct="1"/>
            <a:r>
              <a:rPr lang="en-US" altLang="ko-KR" baseline="0" dirty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endParaRPr lang="ko-KR" altLang="ko-KR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901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7D0255-8B0C-432A-939C-DA25006F917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742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7D0255-8B0C-432A-939C-DA25006F917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558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7D0255-8B0C-432A-939C-DA25006F917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17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7D0255-8B0C-432A-939C-DA25006F917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038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7D0255-8B0C-432A-939C-DA25006F917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565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7D0255-8B0C-432A-939C-DA25006F917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698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32FD-3BEF-4CEE-8860-13435F810A99}" type="datetime1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76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E2B1-A55E-4090-8AE5-315BDBBFF82F}" type="datetime1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77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775D-57D0-445C-B507-8BF1BEAA36EB}" type="datetime1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582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59B2B-DF40-4934-A4F4-87E93D08B8C7}" type="datetime1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003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0E15F-7311-4738-96F1-5450A996692C}" type="datetime1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097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08C60-7B2D-494E-AEC7-E2A99D572A73}" type="datetime1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534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8552-6B37-41B6-A964-C6B53CA5E611}" type="datetime1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57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DE85F-78E6-47A7-A52B-D61999BB39EE}" type="datetime1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54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04FF4-999C-442C-9DF8-94F2FF794BD4}" type="datetime1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764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782D-1CBA-4158-A453-E42A97F63561}" type="datetime1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15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5C49-B548-4799-8859-8FA6F70728F8}" type="datetime1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8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CD7CB-09E0-4FD3-90DE-56C75EBE85A0}" type="datetime1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1C159-9DB5-4EF8-A5DD-DE91C73B90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95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697477" y="444153"/>
            <a:ext cx="7886700" cy="663574"/>
          </a:xfrm>
        </p:spPr>
        <p:txBody>
          <a:bodyPr anchor="t">
            <a:normAutofit/>
          </a:bodyPr>
          <a:lstStyle/>
          <a:p>
            <a:pPr eaLnBrk="1" hangingPunct="1"/>
            <a:r>
              <a:rPr lang="en-US" altLang="ko-KR" sz="36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NAT </a:t>
            </a:r>
            <a:r>
              <a:rPr lang="ko-KR" altLang="en-US" sz="3600" b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기능 </a:t>
            </a:r>
            <a:r>
              <a:rPr lang="en-US" altLang="ko-KR" sz="36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3600" b="1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697477" y="1428030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주소 변환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1846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Network Address Translation)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 또는 수신지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address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다른 주소로 변환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Source NAT(SNAT)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와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Destination NAT(DNAT)</a:t>
            </a:r>
            <a:endParaRPr lang="ko-KR" altLang="en-US" sz="1846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124739"/>
              </p:ext>
            </p:extLst>
          </p:nvPr>
        </p:nvGraphicFramePr>
        <p:xfrm>
          <a:off x="2291780" y="3676178"/>
          <a:ext cx="3551464" cy="587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57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757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87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200.10.10.10</a:t>
                      </a:r>
                      <a:endParaRPr lang="ko-KR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563921" y="327418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43735" y="329051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667008"/>
              </p:ext>
            </p:extLst>
          </p:nvPr>
        </p:nvGraphicFramePr>
        <p:xfrm>
          <a:off x="6687241" y="3676178"/>
          <a:ext cx="3551464" cy="587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57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757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87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200.10.10.10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59382" y="327418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39196" y="329051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814130"/>
              </p:ext>
            </p:extLst>
          </p:nvPr>
        </p:nvGraphicFramePr>
        <p:xfrm>
          <a:off x="2291780" y="5402216"/>
          <a:ext cx="3551464" cy="587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57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757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87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172.16.1.10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200.10.10.10</a:t>
                      </a:r>
                      <a:endParaRPr lang="ko-KR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958277"/>
              </p:ext>
            </p:extLst>
          </p:nvPr>
        </p:nvGraphicFramePr>
        <p:xfrm>
          <a:off x="6687241" y="5371543"/>
          <a:ext cx="3551464" cy="587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57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757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87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10.10.10.10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" name="아래쪽 화살표 4"/>
          <p:cNvSpPr/>
          <p:nvPr/>
        </p:nvSpPr>
        <p:spPr>
          <a:xfrm>
            <a:off x="2952911" y="4431805"/>
            <a:ext cx="358873" cy="783772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아래쪽 화살표 12"/>
          <p:cNvSpPr/>
          <p:nvPr/>
        </p:nvSpPr>
        <p:spPr>
          <a:xfrm>
            <a:off x="9128186" y="4376294"/>
            <a:ext cx="358873" cy="783772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367379" y="4583515"/>
            <a:ext cx="1081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SNAT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05496" y="4613508"/>
            <a:ext cx="1119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DNAT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581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1973036" y="430441"/>
            <a:ext cx="8486417" cy="663574"/>
          </a:xfrm>
        </p:spPr>
        <p:txBody>
          <a:bodyPr anchor="t">
            <a:normAutofit/>
          </a:bodyPr>
          <a:lstStyle/>
          <a:p>
            <a:r>
              <a:rPr lang="en-US" altLang="ko-KR" sz="3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SoHo(</a:t>
            </a:r>
            <a:r>
              <a:rPr lang="en-US" altLang="ko-KR" sz="3600" dirty="0">
                <a:solidFill>
                  <a:srgbClr val="3C40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office/home office</a:t>
            </a:r>
            <a:r>
              <a:rPr lang="en-US" altLang="ko-KR" sz="3600" dirty="0">
                <a:solidFill>
                  <a:srgbClr val="3C4043"/>
                </a:solidFill>
              </a:rPr>
              <a:t>)</a:t>
            </a:r>
            <a:r>
              <a:rPr lang="ko-KR" altLang="en-US" sz="3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에서의 </a:t>
            </a:r>
            <a:r>
              <a:rPr lang="en-US" altLang="ko-KR" sz="3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NAT </a:t>
            </a:r>
            <a:endParaRPr lang="ko-KR" altLang="en-US" sz="360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01117" y="6054323"/>
            <a:ext cx="2103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유</a:t>
            </a: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무선 공유기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5273" y="6050800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모뎀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6624" y="6050800"/>
            <a:ext cx="156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❶ 컴퓨터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545" y="2431300"/>
            <a:ext cx="7600950" cy="3619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38551" y="1376404"/>
            <a:ext cx="27637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98" indent="-26193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공유기 기능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538160" indent="-204787">
              <a:lnSpc>
                <a:spcPct val="150000"/>
              </a:lnSpc>
              <a:buFontTx/>
              <a:buChar char="-"/>
            </a:pPr>
            <a:r>
              <a:rPr lang="ko-KR" altLang="en-US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전달 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538160" indent="-204787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DHCP </a:t>
            </a:r>
          </a:p>
          <a:p>
            <a:pPr marL="538160" indent="-204787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NAT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03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1692402" y="3501970"/>
            <a:ext cx="4303340" cy="2228324"/>
          </a:xfrm>
          <a:prstGeom prst="roundRect">
            <a:avLst>
              <a:gd name="adj" fmla="val 703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7" name="직선 연결선 186"/>
          <p:cNvCxnSpPr/>
          <p:nvPr/>
        </p:nvCxnSpPr>
        <p:spPr>
          <a:xfrm flipH="1" flipV="1">
            <a:off x="9263743" y="2540636"/>
            <a:ext cx="681718" cy="1243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670" y="2228157"/>
            <a:ext cx="3630385" cy="1701743"/>
          </a:xfrm>
          <a:prstGeom prst="rect">
            <a:avLst/>
          </a:prstGeom>
        </p:spPr>
      </p:pic>
      <p:cxnSp>
        <p:nvCxnSpPr>
          <p:cNvPr id="9" name="직선 연결선 8"/>
          <p:cNvCxnSpPr>
            <a:endCxn id="75" idx="1"/>
          </p:cNvCxnSpPr>
          <p:nvPr/>
        </p:nvCxnSpPr>
        <p:spPr>
          <a:xfrm flipH="1">
            <a:off x="2385896" y="3441488"/>
            <a:ext cx="414991" cy="1186429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3027124" y="3501971"/>
            <a:ext cx="283968" cy="1131257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3187069" y="3441486"/>
            <a:ext cx="1023734" cy="1141908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구름 19"/>
          <p:cNvSpPr/>
          <p:nvPr/>
        </p:nvSpPr>
        <p:spPr>
          <a:xfrm>
            <a:off x="5900055" y="747273"/>
            <a:ext cx="4139297" cy="2171700"/>
          </a:xfrm>
          <a:prstGeom prst="cloud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endParaRPr lang="ko-KR" altLang="en-US" sz="2400" b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 flipV="1">
            <a:off x="5753102" y="2363801"/>
            <a:ext cx="277585" cy="1306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51523" y="3284778"/>
            <a:ext cx="1175657" cy="1290240"/>
          </a:xfrm>
          <a:prstGeom prst="rect">
            <a:avLst/>
          </a:prstGeom>
        </p:spPr>
      </p:pic>
      <p:grpSp>
        <p:nvGrpSpPr>
          <p:cNvPr id="25" name="그룹 24"/>
          <p:cNvGrpSpPr/>
          <p:nvPr/>
        </p:nvGrpSpPr>
        <p:grpSpPr>
          <a:xfrm>
            <a:off x="1936434" y="4627913"/>
            <a:ext cx="688975" cy="745366"/>
            <a:chOff x="809159" y="4814047"/>
            <a:chExt cx="688975" cy="745367"/>
          </a:xfrm>
        </p:grpSpPr>
        <p:sp>
          <p:nvSpPr>
            <p:cNvPr id="26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3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7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7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4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012930" y="4618404"/>
            <a:ext cx="688975" cy="745366"/>
            <a:chOff x="809159" y="4814047"/>
            <a:chExt cx="688975" cy="745367"/>
          </a:xfrm>
        </p:grpSpPr>
        <p:sp>
          <p:nvSpPr>
            <p:cNvPr id="8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1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3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1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34" name="그룹 133"/>
          <p:cNvGrpSpPr/>
          <p:nvPr/>
        </p:nvGrpSpPr>
        <p:grpSpPr>
          <a:xfrm flipH="1">
            <a:off x="3937298" y="4607498"/>
            <a:ext cx="811294" cy="745366"/>
            <a:chOff x="809159" y="4814047"/>
            <a:chExt cx="688975" cy="745367"/>
          </a:xfrm>
        </p:grpSpPr>
        <p:sp>
          <p:nvSpPr>
            <p:cNvPr id="135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 182"/>
            <p:cNvSpPr>
              <a:spLocks/>
            </p:cNvSpPr>
            <p:nvPr/>
          </p:nvSpPr>
          <p:spPr bwMode="auto">
            <a:xfrm flipH="1">
              <a:off x="990721" y="5257793"/>
              <a:ext cx="156879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 183"/>
            <p:cNvSpPr>
              <a:spLocks/>
            </p:cNvSpPr>
            <p:nvPr/>
          </p:nvSpPr>
          <p:spPr bwMode="auto">
            <a:xfrm flipH="1">
              <a:off x="1005073" y="5247727"/>
              <a:ext cx="156879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0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1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2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3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4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5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6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7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8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9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0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1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72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85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6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73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4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5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6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7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8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9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0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1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2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3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4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1380" name="TextBox 101379"/>
          <p:cNvSpPr txBox="1"/>
          <p:nvPr/>
        </p:nvSpPr>
        <p:spPr>
          <a:xfrm>
            <a:off x="8873022" y="4536839"/>
            <a:ext cx="17949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www.test.com</a:t>
            </a:r>
          </a:p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200.10.10.10</a:t>
            </a:r>
            <a:endParaRPr lang="ko-KR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1692402" y="5272435"/>
            <a:ext cx="13292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3194486" y="5222957"/>
            <a:ext cx="13292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192.168.1.20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4599205" y="4947484"/>
            <a:ext cx="13292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192.168.1.30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55268" y="2825986"/>
            <a:ext cx="1007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endParaRPr lang="ko-KR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8453" y="4034701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사설망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570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1621915" y="3522140"/>
            <a:ext cx="4400306" cy="2228324"/>
          </a:xfrm>
          <a:prstGeom prst="roundRect">
            <a:avLst>
              <a:gd name="adj" fmla="val 703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7" name="직선 연결선 186"/>
          <p:cNvCxnSpPr/>
          <p:nvPr/>
        </p:nvCxnSpPr>
        <p:spPr>
          <a:xfrm flipH="1" flipV="1">
            <a:off x="9290222" y="2560806"/>
            <a:ext cx="681718" cy="1243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149" y="2248327"/>
            <a:ext cx="3630385" cy="1701743"/>
          </a:xfrm>
          <a:prstGeom prst="rect">
            <a:avLst/>
          </a:prstGeom>
        </p:spPr>
      </p:pic>
      <p:cxnSp>
        <p:nvCxnSpPr>
          <p:cNvPr id="9" name="직선 연결선 8"/>
          <p:cNvCxnSpPr>
            <a:endCxn id="75" idx="1"/>
          </p:cNvCxnSpPr>
          <p:nvPr/>
        </p:nvCxnSpPr>
        <p:spPr>
          <a:xfrm flipH="1">
            <a:off x="2412375" y="3461658"/>
            <a:ext cx="414991" cy="1186429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3053603" y="3522141"/>
            <a:ext cx="283968" cy="1131257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3213549" y="3461656"/>
            <a:ext cx="1023734" cy="1141908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구름 19"/>
          <p:cNvSpPr/>
          <p:nvPr/>
        </p:nvSpPr>
        <p:spPr>
          <a:xfrm>
            <a:off x="5926534" y="767443"/>
            <a:ext cx="4139297" cy="2171700"/>
          </a:xfrm>
          <a:prstGeom prst="cloud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endParaRPr lang="ko-KR" altLang="en-US" sz="2400" b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 flipV="1">
            <a:off x="5779581" y="2383971"/>
            <a:ext cx="277585" cy="1306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78001" y="3304948"/>
            <a:ext cx="1175657" cy="1290240"/>
          </a:xfrm>
          <a:prstGeom prst="rect">
            <a:avLst/>
          </a:prstGeom>
        </p:spPr>
      </p:pic>
      <p:grpSp>
        <p:nvGrpSpPr>
          <p:cNvPr id="25" name="그룹 24"/>
          <p:cNvGrpSpPr/>
          <p:nvPr/>
        </p:nvGrpSpPr>
        <p:grpSpPr>
          <a:xfrm>
            <a:off x="1962912" y="4648083"/>
            <a:ext cx="688975" cy="745366"/>
            <a:chOff x="809159" y="4814047"/>
            <a:chExt cx="688975" cy="745367"/>
          </a:xfrm>
        </p:grpSpPr>
        <p:sp>
          <p:nvSpPr>
            <p:cNvPr id="26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3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7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7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4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039408" y="4638574"/>
            <a:ext cx="688975" cy="745366"/>
            <a:chOff x="809159" y="4814047"/>
            <a:chExt cx="688975" cy="745367"/>
          </a:xfrm>
        </p:grpSpPr>
        <p:sp>
          <p:nvSpPr>
            <p:cNvPr id="8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1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3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1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34" name="그룹 133"/>
          <p:cNvGrpSpPr/>
          <p:nvPr/>
        </p:nvGrpSpPr>
        <p:grpSpPr>
          <a:xfrm flipH="1">
            <a:off x="3963777" y="4627668"/>
            <a:ext cx="811294" cy="745366"/>
            <a:chOff x="809159" y="4814047"/>
            <a:chExt cx="688975" cy="745367"/>
          </a:xfrm>
        </p:grpSpPr>
        <p:sp>
          <p:nvSpPr>
            <p:cNvPr id="135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 182"/>
            <p:cNvSpPr>
              <a:spLocks/>
            </p:cNvSpPr>
            <p:nvPr/>
          </p:nvSpPr>
          <p:spPr bwMode="auto">
            <a:xfrm flipH="1">
              <a:off x="990721" y="5257793"/>
              <a:ext cx="156879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 183"/>
            <p:cNvSpPr>
              <a:spLocks/>
            </p:cNvSpPr>
            <p:nvPr/>
          </p:nvSpPr>
          <p:spPr bwMode="auto">
            <a:xfrm flipH="1">
              <a:off x="1005073" y="5247727"/>
              <a:ext cx="156879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0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1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2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3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4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5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6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7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8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9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0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1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72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85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6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73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4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5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6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7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8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9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0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1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2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3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4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1380" name="TextBox 101379"/>
          <p:cNvSpPr txBox="1"/>
          <p:nvPr/>
        </p:nvSpPr>
        <p:spPr>
          <a:xfrm>
            <a:off x="8899501" y="4557009"/>
            <a:ext cx="17949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www.test.com</a:t>
            </a:r>
          </a:p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200.10.10.10</a:t>
            </a:r>
            <a:endParaRPr lang="ko-KR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1524000" y="5308633"/>
            <a:ext cx="13292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2845699" y="5308525"/>
            <a:ext cx="13292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192.168.1.20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4643491" y="5065432"/>
            <a:ext cx="13292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192.168.1.30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05160" y="5439146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사설망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1677399" y="1409004"/>
          <a:ext cx="2909970" cy="1648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49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5498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변환 전 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변환 후 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78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30.1.120.8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78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192.168.1.20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78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192.168.1.30</a:t>
                      </a:r>
                      <a:endParaRPr lang="ko-KR" altLang="en-US" sz="16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501133" y="1029045"/>
            <a:ext cx="1328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NAT</a:t>
            </a:r>
            <a:r>
              <a:rPr lang="en-US" altLang="ko-KR" sz="16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테이블 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801939" y="3042436"/>
            <a:ext cx="783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</a:t>
            </a:r>
            <a:endParaRPr lang="ko-KR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2" name="표 191"/>
          <p:cNvGraphicFramePr>
            <a:graphicFrameLocks noGrp="1"/>
          </p:cNvGraphicFramePr>
          <p:nvPr>
            <p:extLst/>
          </p:nvPr>
        </p:nvGraphicFramePr>
        <p:xfrm>
          <a:off x="4796386" y="4588318"/>
          <a:ext cx="2736678" cy="3455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3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683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55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192.168.1.30</a:t>
                      </a:r>
                      <a:endParaRPr lang="ko-KR" alt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200.10.10.10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47698" y="4281525"/>
            <a:ext cx="2634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IP(A)        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endParaRPr lang="ko-KR" altLang="en-US" sz="16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193" name="표 192"/>
          <p:cNvGraphicFramePr>
            <a:graphicFrameLocks noGrp="1"/>
          </p:cNvGraphicFramePr>
          <p:nvPr>
            <p:extLst/>
          </p:nvPr>
        </p:nvGraphicFramePr>
        <p:xfrm>
          <a:off x="5853678" y="2711108"/>
          <a:ext cx="2736678" cy="3455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3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683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55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30.1.120.8</a:t>
                      </a:r>
                      <a:endParaRPr lang="ko-KR" alt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200.10.10.10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94" name="TextBox 193"/>
          <p:cNvSpPr txBox="1"/>
          <p:nvPr/>
        </p:nvSpPr>
        <p:spPr>
          <a:xfrm>
            <a:off x="6057166" y="3055790"/>
            <a:ext cx="2369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IP(B)    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endParaRPr lang="ko-KR" altLang="en-US" sz="16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64726" y="5489436"/>
            <a:ext cx="3999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48" indent="-285748">
              <a:buFont typeface="Arial" panose="020B0604020202020204" pitchFamily="34" charset="0"/>
              <a:buChar char="•"/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사설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공인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주소로 변환</a:t>
            </a:r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425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화살표 연결선 7"/>
          <p:cNvCxnSpPr/>
          <p:nvPr/>
        </p:nvCxnSpPr>
        <p:spPr>
          <a:xfrm>
            <a:off x="1534853" y="2164371"/>
            <a:ext cx="7809138" cy="1615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구름 5"/>
          <p:cNvSpPr/>
          <p:nvPr/>
        </p:nvSpPr>
        <p:spPr>
          <a:xfrm>
            <a:off x="5540709" y="1874159"/>
            <a:ext cx="1381758" cy="63621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1482630" y="1887117"/>
            <a:ext cx="672801" cy="697603"/>
            <a:chOff x="1939574" y="1859243"/>
            <a:chExt cx="672801" cy="697603"/>
          </a:xfrm>
        </p:grpSpPr>
        <p:grpSp>
          <p:nvGrpSpPr>
            <p:cNvPr id="36" name="Group 173"/>
            <p:cNvGrpSpPr>
              <a:grpSpLocks/>
            </p:cNvGrpSpPr>
            <p:nvPr/>
          </p:nvGrpSpPr>
          <p:grpSpPr bwMode="auto">
            <a:xfrm rot="20775601" flipH="1">
              <a:off x="2466867" y="2282070"/>
              <a:ext cx="145508" cy="98700"/>
              <a:chOff x="3499" y="2336"/>
              <a:chExt cx="1848" cy="1427"/>
            </a:xfrm>
          </p:grpSpPr>
          <p:sp>
            <p:nvSpPr>
              <p:cNvPr id="85" name="Freeform 174"/>
              <p:cNvSpPr>
                <a:spLocks/>
              </p:cNvSpPr>
              <p:nvPr/>
            </p:nvSpPr>
            <p:spPr bwMode="auto">
              <a:xfrm rot="20419783" flipH="1">
                <a:off x="4677" y="2330"/>
                <a:ext cx="783" cy="460"/>
              </a:xfrm>
              <a:custGeom>
                <a:avLst/>
                <a:gdLst/>
                <a:ahLst/>
                <a:cxnLst>
                  <a:cxn ang="0">
                    <a:pos x="1224" y="755"/>
                  </a:cxn>
                  <a:cxn ang="0">
                    <a:pos x="1112" y="716"/>
                  </a:cxn>
                  <a:cxn ang="0">
                    <a:pos x="1051" y="693"/>
                  </a:cxn>
                  <a:cxn ang="0">
                    <a:pos x="1006" y="671"/>
                  </a:cxn>
                  <a:cxn ang="0">
                    <a:pos x="984" y="660"/>
                  </a:cxn>
                  <a:cxn ang="0">
                    <a:pos x="939" y="626"/>
                  </a:cxn>
                  <a:cxn ang="0">
                    <a:pos x="894" y="548"/>
                  </a:cxn>
                  <a:cxn ang="0">
                    <a:pos x="889" y="531"/>
                  </a:cxn>
                  <a:cxn ang="0">
                    <a:pos x="850" y="509"/>
                  </a:cxn>
                  <a:cxn ang="0">
                    <a:pos x="799" y="481"/>
                  </a:cxn>
                  <a:cxn ang="0">
                    <a:pos x="704" y="453"/>
                  </a:cxn>
                  <a:cxn ang="0">
                    <a:pos x="419" y="442"/>
                  </a:cxn>
                  <a:cxn ang="0">
                    <a:pos x="330" y="408"/>
                  </a:cxn>
                  <a:cxn ang="0">
                    <a:pos x="212" y="279"/>
                  </a:cxn>
                  <a:cxn ang="0">
                    <a:pos x="145" y="134"/>
                  </a:cxn>
                  <a:cxn ang="0">
                    <a:pos x="78" y="39"/>
                  </a:cxn>
                  <a:cxn ang="0">
                    <a:pos x="0" y="0"/>
                  </a:cxn>
                </a:cxnLst>
                <a:rect l="0" t="0" r="r" b="b"/>
                <a:pathLst>
                  <a:path w="1224" h="755">
                    <a:moveTo>
                      <a:pt x="1224" y="755"/>
                    </a:moveTo>
                    <a:cubicBezTo>
                      <a:pt x="1190" y="729"/>
                      <a:pt x="1154" y="724"/>
                      <a:pt x="1112" y="716"/>
                    </a:cubicBezTo>
                    <a:cubicBezTo>
                      <a:pt x="1091" y="705"/>
                      <a:pt x="1072" y="702"/>
                      <a:pt x="1051" y="693"/>
                    </a:cubicBezTo>
                    <a:cubicBezTo>
                      <a:pt x="1036" y="686"/>
                      <a:pt x="1021" y="678"/>
                      <a:pt x="1006" y="671"/>
                    </a:cubicBezTo>
                    <a:cubicBezTo>
                      <a:pt x="999" y="667"/>
                      <a:pt x="984" y="660"/>
                      <a:pt x="984" y="660"/>
                    </a:cubicBezTo>
                    <a:cubicBezTo>
                      <a:pt x="971" y="646"/>
                      <a:pt x="939" y="626"/>
                      <a:pt x="939" y="626"/>
                    </a:cubicBezTo>
                    <a:cubicBezTo>
                      <a:pt x="923" y="602"/>
                      <a:pt x="906" y="575"/>
                      <a:pt x="894" y="548"/>
                    </a:cubicBezTo>
                    <a:cubicBezTo>
                      <a:pt x="892" y="543"/>
                      <a:pt x="893" y="536"/>
                      <a:pt x="889" y="531"/>
                    </a:cubicBezTo>
                    <a:cubicBezTo>
                      <a:pt x="884" y="524"/>
                      <a:pt x="855" y="512"/>
                      <a:pt x="850" y="509"/>
                    </a:cubicBezTo>
                    <a:cubicBezTo>
                      <a:pt x="802" y="480"/>
                      <a:pt x="833" y="491"/>
                      <a:pt x="799" y="481"/>
                    </a:cubicBezTo>
                    <a:cubicBezTo>
                      <a:pt x="764" y="457"/>
                      <a:pt x="751" y="457"/>
                      <a:pt x="704" y="453"/>
                    </a:cubicBezTo>
                    <a:cubicBezTo>
                      <a:pt x="606" y="457"/>
                      <a:pt x="515" y="459"/>
                      <a:pt x="419" y="442"/>
                    </a:cubicBezTo>
                    <a:cubicBezTo>
                      <a:pt x="391" y="426"/>
                      <a:pt x="360" y="419"/>
                      <a:pt x="330" y="408"/>
                    </a:cubicBezTo>
                    <a:cubicBezTo>
                      <a:pt x="287" y="368"/>
                      <a:pt x="245" y="328"/>
                      <a:pt x="212" y="279"/>
                    </a:cubicBezTo>
                    <a:cubicBezTo>
                      <a:pt x="183" y="235"/>
                      <a:pt x="168" y="181"/>
                      <a:pt x="145" y="134"/>
                    </a:cubicBezTo>
                    <a:cubicBezTo>
                      <a:pt x="128" y="100"/>
                      <a:pt x="99" y="71"/>
                      <a:pt x="78" y="39"/>
                    </a:cubicBezTo>
                    <a:cubicBezTo>
                      <a:pt x="70" y="27"/>
                      <a:pt x="15" y="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Freeform 175"/>
              <p:cNvSpPr>
                <a:spLocks/>
              </p:cNvSpPr>
              <p:nvPr/>
            </p:nvSpPr>
            <p:spPr bwMode="auto">
              <a:xfrm rot="-1180217">
                <a:off x="3532" y="2934"/>
                <a:ext cx="1464" cy="698"/>
              </a:xfrm>
              <a:custGeom>
                <a:avLst/>
                <a:gdLst/>
                <a:ahLst/>
                <a:cxnLst>
                  <a:cxn ang="0">
                    <a:pos x="886" y="33"/>
                  </a:cxn>
                  <a:cxn ang="0">
                    <a:pos x="937" y="70"/>
                  </a:cxn>
                  <a:cxn ang="0">
                    <a:pos x="971" y="130"/>
                  </a:cxn>
                  <a:cxn ang="0">
                    <a:pos x="967" y="218"/>
                  </a:cxn>
                  <a:cxn ang="0">
                    <a:pos x="882" y="261"/>
                  </a:cxn>
                  <a:cxn ang="0">
                    <a:pos x="791" y="294"/>
                  </a:cxn>
                  <a:cxn ang="0">
                    <a:pos x="665" y="382"/>
                  </a:cxn>
                  <a:cxn ang="0">
                    <a:pos x="519" y="522"/>
                  </a:cxn>
                  <a:cxn ang="0">
                    <a:pos x="397" y="542"/>
                  </a:cxn>
                  <a:cxn ang="0">
                    <a:pos x="298" y="550"/>
                  </a:cxn>
                  <a:cxn ang="0">
                    <a:pos x="155" y="522"/>
                  </a:cxn>
                  <a:cxn ang="0">
                    <a:pos x="34" y="459"/>
                  </a:cxn>
                  <a:cxn ang="0">
                    <a:pos x="0" y="393"/>
                  </a:cxn>
                  <a:cxn ang="0">
                    <a:pos x="11" y="315"/>
                  </a:cxn>
                  <a:cxn ang="0">
                    <a:pos x="63" y="210"/>
                  </a:cxn>
                  <a:cxn ang="0">
                    <a:pos x="142" y="147"/>
                  </a:cxn>
                  <a:cxn ang="0">
                    <a:pos x="246" y="89"/>
                  </a:cxn>
                  <a:cxn ang="0">
                    <a:pos x="445" y="21"/>
                  </a:cxn>
                  <a:cxn ang="0">
                    <a:pos x="634" y="0"/>
                  </a:cxn>
                  <a:cxn ang="0">
                    <a:pos x="794" y="13"/>
                  </a:cxn>
                  <a:cxn ang="0">
                    <a:pos x="886" y="33"/>
                  </a:cxn>
                </a:cxnLst>
                <a:rect l="0" t="0" r="r" b="b"/>
                <a:pathLst>
                  <a:path w="971" h="550">
                    <a:moveTo>
                      <a:pt x="886" y="33"/>
                    </a:moveTo>
                    <a:lnTo>
                      <a:pt x="937" y="70"/>
                    </a:lnTo>
                    <a:lnTo>
                      <a:pt x="971" y="130"/>
                    </a:lnTo>
                    <a:lnTo>
                      <a:pt x="967" y="218"/>
                    </a:lnTo>
                    <a:lnTo>
                      <a:pt x="882" y="261"/>
                    </a:lnTo>
                    <a:lnTo>
                      <a:pt x="791" y="294"/>
                    </a:lnTo>
                    <a:lnTo>
                      <a:pt x="665" y="382"/>
                    </a:lnTo>
                    <a:lnTo>
                      <a:pt x="519" y="522"/>
                    </a:lnTo>
                    <a:lnTo>
                      <a:pt x="397" y="542"/>
                    </a:lnTo>
                    <a:lnTo>
                      <a:pt x="298" y="550"/>
                    </a:lnTo>
                    <a:lnTo>
                      <a:pt x="155" y="522"/>
                    </a:lnTo>
                    <a:lnTo>
                      <a:pt x="34" y="459"/>
                    </a:lnTo>
                    <a:lnTo>
                      <a:pt x="0" y="393"/>
                    </a:lnTo>
                    <a:lnTo>
                      <a:pt x="11" y="315"/>
                    </a:lnTo>
                    <a:lnTo>
                      <a:pt x="63" y="210"/>
                    </a:lnTo>
                    <a:lnTo>
                      <a:pt x="142" y="147"/>
                    </a:lnTo>
                    <a:lnTo>
                      <a:pt x="246" y="89"/>
                    </a:lnTo>
                    <a:lnTo>
                      <a:pt x="445" y="21"/>
                    </a:lnTo>
                    <a:lnTo>
                      <a:pt x="634" y="0"/>
                    </a:lnTo>
                    <a:lnTo>
                      <a:pt x="794" y="13"/>
                    </a:lnTo>
                    <a:lnTo>
                      <a:pt x="886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FFFFFF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Freeform 176"/>
              <p:cNvSpPr>
                <a:spLocks/>
              </p:cNvSpPr>
              <p:nvPr/>
            </p:nvSpPr>
            <p:spPr bwMode="auto">
              <a:xfrm rot="20419783" flipH="1">
                <a:off x="3661" y="3116"/>
                <a:ext cx="1413" cy="5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18"/>
                  </a:cxn>
                  <a:cxn ang="0">
                    <a:pos x="319" y="302"/>
                  </a:cxn>
                  <a:cxn ang="0">
                    <a:pos x="604" y="448"/>
                  </a:cxn>
                  <a:cxn ang="0">
                    <a:pos x="867" y="526"/>
                  </a:cxn>
                  <a:cxn ang="0">
                    <a:pos x="1091" y="504"/>
                  </a:cxn>
                  <a:cxn ang="0">
                    <a:pos x="1270" y="448"/>
                  </a:cxn>
                  <a:cxn ang="0">
                    <a:pos x="1432" y="353"/>
                  </a:cxn>
                  <a:cxn ang="0">
                    <a:pos x="1253" y="431"/>
                  </a:cxn>
                  <a:cxn ang="0">
                    <a:pos x="1108" y="470"/>
                  </a:cxn>
                  <a:cxn ang="0">
                    <a:pos x="951" y="470"/>
                  </a:cxn>
                  <a:cxn ang="0">
                    <a:pos x="789" y="453"/>
                  </a:cxn>
                  <a:cxn ang="0">
                    <a:pos x="699" y="420"/>
                  </a:cxn>
                  <a:cxn ang="0">
                    <a:pos x="560" y="330"/>
                  </a:cxn>
                  <a:cxn ang="0">
                    <a:pos x="437" y="213"/>
                  </a:cxn>
                  <a:cxn ang="0">
                    <a:pos x="274" y="129"/>
                  </a:cxn>
                  <a:cxn ang="0">
                    <a:pos x="140" y="73"/>
                  </a:cxn>
                  <a:cxn ang="0">
                    <a:pos x="0" y="0"/>
                  </a:cxn>
                </a:cxnLst>
                <a:rect l="0" t="0" r="r" b="b"/>
                <a:pathLst>
                  <a:path w="1432" h="526">
                    <a:moveTo>
                      <a:pt x="0" y="0"/>
                    </a:moveTo>
                    <a:lnTo>
                      <a:pt x="56" y="118"/>
                    </a:lnTo>
                    <a:lnTo>
                      <a:pt x="319" y="302"/>
                    </a:lnTo>
                    <a:lnTo>
                      <a:pt x="604" y="448"/>
                    </a:lnTo>
                    <a:lnTo>
                      <a:pt x="867" y="526"/>
                    </a:lnTo>
                    <a:lnTo>
                      <a:pt x="1091" y="504"/>
                    </a:lnTo>
                    <a:lnTo>
                      <a:pt x="1270" y="448"/>
                    </a:lnTo>
                    <a:lnTo>
                      <a:pt x="1432" y="353"/>
                    </a:lnTo>
                    <a:lnTo>
                      <a:pt x="1253" y="431"/>
                    </a:lnTo>
                    <a:lnTo>
                      <a:pt x="1108" y="470"/>
                    </a:lnTo>
                    <a:lnTo>
                      <a:pt x="951" y="470"/>
                    </a:lnTo>
                    <a:lnTo>
                      <a:pt x="789" y="453"/>
                    </a:lnTo>
                    <a:lnTo>
                      <a:pt x="699" y="420"/>
                    </a:lnTo>
                    <a:lnTo>
                      <a:pt x="560" y="330"/>
                    </a:lnTo>
                    <a:lnTo>
                      <a:pt x="437" y="213"/>
                    </a:lnTo>
                    <a:lnTo>
                      <a:pt x="274" y="129"/>
                    </a:lnTo>
                    <a:lnTo>
                      <a:pt x="140" y="7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Freeform 177"/>
              <p:cNvSpPr>
                <a:spLocks/>
              </p:cNvSpPr>
              <p:nvPr/>
            </p:nvSpPr>
            <p:spPr bwMode="auto">
              <a:xfrm rot="-1180217">
                <a:off x="4358" y="2814"/>
                <a:ext cx="323" cy="375"/>
              </a:xfrm>
              <a:custGeom>
                <a:avLst/>
                <a:gdLst/>
                <a:ahLst/>
                <a:cxnLst>
                  <a:cxn ang="0">
                    <a:pos x="229" y="261"/>
                  </a:cxn>
                  <a:cxn ang="0">
                    <a:pos x="115" y="57"/>
                  </a:cxn>
                  <a:cxn ang="0">
                    <a:pos x="0" y="0"/>
                  </a:cxn>
                </a:cxnLst>
                <a:rect l="0" t="0" r="r" b="b"/>
                <a:pathLst>
                  <a:path w="229" h="261">
                    <a:moveTo>
                      <a:pt x="229" y="261"/>
                    </a:moveTo>
                    <a:lnTo>
                      <a:pt x="115" y="57"/>
                    </a:ln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rgbClr val="B2B2B2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" name="Freeform 178"/>
              <p:cNvSpPr>
                <a:spLocks/>
              </p:cNvSpPr>
              <p:nvPr/>
            </p:nvSpPr>
            <p:spPr bwMode="auto">
              <a:xfrm rot="20419783" flipH="1">
                <a:off x="4324" y="2821"/>
                <a:ext cx="443" cy="68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246" y="26"/>
                  </a:cxn>
                  <a:cxn ang="0">
                    <a:pos x="408" y="0"/>
                  </a:cxn>
                  <a:cxn ang="0">
                    <a:pos x="560" y="26"/>
                  </a:cxn>
                </a:cxnLst>
                <a:rect l="0" t="0" r="r" b="b"/>
                <a:pathLst>
                  <a:path w="560" h="79">
                    <a:moveTo>
                      <a:pt x="0" y="79"/>
                    </a:moveTo>
                    <a:lnTo>
                      <a:pt x="246" y="26"/>
                    </a:lnTo>
                    <a:lnTo>
                      <a:pt x="408" y="0"/>
                    </a:lnTo>
                    <a:lnTo>
                      <a:pt x="560" y="26"/>
                    </a:lnTo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" name="Oval 179"/>
              <p:cNvSpPr>
                <a:spLocks noChangeArrowheads="1"/>
              </p:cNvSpPr>
              <p:nvPr/>
            </p:nvSpPr>
            <p:spPr bwMode="auto">
              <a:xfrm rot="21155849" flipH="1">
                <a:off x="4282" y="2827"/>
                <a:ext cx="187" cy="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Freeform 180"/>
              <p:cNvSpPr>
                <a:spLocks/>
              </p:cNvSpPr>
              <p:nvPr/>
            </p:nvSpPr>
            <p:spPr bwMode="auto">
              <a:xfrm rot="20419783" flipH="1">
                <a:off x="4481" y="2789"/>
                <a:ext cx="409" cy="272"/>
              </a:xfrm>
              <a:custGeom>
                <a:avLst/>
                <a:gdLst/>
                <a:ahLst/>
                <a:cxnLst>
                  <a:cxn ang="0">
                    <a:pos x="98" y="36"/>
                  </a:cxn>
                  <a:cxn ang="0">
                    <a:pos x="320" y="0"/>
                  </a:cxn>
                  <a:cxn ang="0">
                    <a:pos x="367" y="26"/>
                  </a:cxn>
                  <a:cxn ang="0">
                    <a:pos x="445" y="26"/>
                  </a:cxn>
                  <a:cxn ang="0">
                    <a:pos x="482" y="42"/>
                  </a:cxn>
                  <a:cxn ang="0">
                    <a:pos x="278" y="367"/>
                  </a:cxn>
                  <a:cxn ang="0">
                    <a:pos x="5" y="262"/>
                  </a:cxn>
                  <a:cxn ang="0">
                    <a:pos x="0" y="157"/>
                  </a:cxn>
                  <a:cxn ang="0">
                    <a:pos x="42" y="74"/>
                  </a:cxn>
                  <a:cxn ang="0">
                    <a:pos x="98" y="36"/>
                  </a:cxn>
                </a:cxnLst>
                <a:rect l="0" t="0" r="r" b="b"/>
                <a:pathLst>
                  <a:path w="482" h="367">
                    <a:moveTo>
                      <a:pt x="98" y="36"/>
                    </a:moveTo>
                    <a:lnTo>
                      <a:pt x="320" y="0"/>
                    </a:lnTo>
                    <a:lnTo>
                      <a:pt x="367" y="26"/>
                    </a:lnTo>
                    <a:lnTo>
                      <a:pt x="445" y="26"/>
                    </a:lnTo>
                    <a:lnTo>
                      <a:pt x="482" y="42"/>
                    </a:lnTo>
                    <a:lnTo>
                      <a:pt x="278" y="367"/>
                    </a:lnTo>
                    <a:lnTo>
                      <a:pt x="5" y="262"/>
                    </a:lnTo>
                    <a:lnTo>
                      <a:pt x="0" y="157"/>
                    </a:lnTo>
                    <a:lnTo>
                      <a:pt x="42" y="74"/>
                    </a:lnTo>
                    <a:lnTo>
                      <a:pt x="98" y="36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7" name="Group 181"/>
            <p:cNvGrpSpPr>
              <a:grpSpLocks/>
            </p:cNvGrpSpPr>
            <p:nvPr/>
          </p:nvGrpSpPr>
          <p:grpSpPr bwMode="auto">
            <a:xfrm flipH="1">
              <a:off x="2079539" y="2246123"/>
              <a:ext cx="460082" cy="310723"/>
              <a:chOff x="854" y="3072"/>
              <a:chExt cx="883" cy="678"/>
            </a:xfrm>
          </p:grpSpPr>
          <p:sp>
            <p:nvSpPr>
              <p:cNvPr id="79" name="Freeform 182"/>
              <p:cNvSpPr>
                <a:spLocks/>
              </p:cNvSpPr>
              <p:nvPr/>
            </p:nvSpPr>
            <p:spPr bwMode="auto">
              <a:xfrm>
                <a:off x="854" y="3092"/>
                <a:ext cx="354" cy="658"/>
              </a:xfrm>
              <a:custGeom>
                <a:avLst/>
                <a:gdLst/>
                <a:ahLst/>
                <a:cxnLst>
                  <a:cxn ang="0">
                    <a:pos x="933" y="135"/>
                  </a:cxn>
                  <a:cxn ang="0">
                    <a:pos x="932" y="171"/>
                  </a:cxn>
                  <a:cxn ang="0">
                    <a:pos x="762" y="352"/>
                  </a:cxn>
                  <a:cxn ang="0">
                    <a:pos x="4" y="195"/>
                  </a:cxn>
                  <a:cxn ang="0">
                    <a:pos x="0" y="148"/>
                  </a:cxn>
                  <a:cxn ang="0">
                    <a:pos x="244" y="0"/>
                  </a:cxn>
                  <a:cxn ang="0">
                    <a:pos x="933" y="135"/>
                  </a:cxn>
                </a:cxnLst>
                <a:rect l="0" t="0" r="r" b="b"/>
                <a:pathLst>
                  <a:path w="933" h="352">
                    <a:moveTo>
                      <a:pt x="933" y="135"/>
                    </a:moveTo>
                    <a:lnTo>
                      <a:pt x="932" y="171"/>
                    </a:lnTo>
                    <a:lnTo>
                      <a:pt x="762" y="352"/>
                    </a:lnTo>
                    <a:lnTo>
                      <a:pt x="4" y="195"/>
                    </a:lnTo>
                    <a:lnTo>
                      <a:pt x="0" y="148"/>
                    </a:lnTo>
                    <a:lnTo>
                      <a:pt x="244" y="0"/>
                    </a:lnTo>
                    <a:lnTo>
                      <a:pt x="933" y="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DDDDDD">
                      <a:gamma/>
                      <a:tint val="34118"/>
                      <a:invGamma/>
                    </a:srgbClr>
                  </a:gs>
                </a:gsLst>
                <a:lin ang="0" scaled="1"/>
              </a:gradFill>
              <a:ln w="6350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Freeform 183"/>
              <p:cNvSpPr>
                <a:spLocks/>
              </p:cNvSpPr>
              <p:nvPr/>
            </p:nvSpPr>
            <p:spPr bwMode="auto">
              <a:xfrm>
                <a:off x="878" y="3072"/>
                <a:ext cx="355" cy="658"/>
              </a:xfrm>
              <a:custGeom>
                <a:avLst/>
                <a:gdLst/>
                <a:ahLst/>
                <a:cxnLst>
                  <a:cxn ang="0">
                    <a:pos x="895" y="133"/>
                  </a:cxn>
                  <a:cxn ang="0">
                    <a:pos x="232" y="0"/>
                  </a:cxn>
                  <a:cxn ang="0">
                    <a:pos x="0" y="143"/>
                  </a:cxn>
                  <a:cxn ang="0">
                    <a:pos x="739" y="294"/>
                  </a:cxn>
                  <a:cxn ang="0">
                    <a:pos x="895" y="133"/>
                  </a:cxn>
                </a:cxnLst>
                <a:rect l="0" t="0" r="r" b="b"/>
                <a:pathLst>
                  <a:path w="895" h="294">
                    <a:moveTo>
                      <a:pt x="895" y="133"/>
                    </a:moveTo>
                    <a:lnTo>
                      <a:pt x="232" y="0"/>
                    </a:lnTo>
                    <a:lnTo>
                      <a:pt x="0" y="143"/>
                    </a:lnTo>
                    <a:lnTo>
                      <a:pt x="739" y="294"/>
                    </a:lnTo>
                    <a:lnTo>
                      <a:pt x="895" y="13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Freeform 184"/>
              <p:cNvSpPr>
                <a:spLocks/>
              </p:cNvSpPr>
              <p:nvPr/>
            </p:nvSpPr>
            <p:spPr bwMode="auto">
              <a:xfrm>
                <a:off x="1133" y="3276"/>
                <a:ext cx="535" cy="118"/>
              </a:xfrm>
              <a:custGeom>
                <a:avLst/>
                <a:gdLst/>
                <a:ahLst/>
                <a:cxnLst>
                  <a:cxn ang="0">
                    <a:pos x="0" y="15"/>
                  </a:cxn>
                  <a:cxn ang="0">
                    <a:pos x="508" y="118"/>
                  </a:cxn>
                  <a:cxn ang="0">
                    <a:pos x="531" y="103"/>
                  </a:cxn>
                  <a:cxn ang="0">
                    <a:pos x="23" y="0"/>
                  </a:cxn>
                </a:cxnLst>
                <a:rect l="0" t="0" r="r" b="b"/>
                <a:pathLst>
                  <a:path w="531" h="118">
                    <a:moveTo>
                      <a:pt x="0" y="15"/>
                    </a:moveTo>
                    <a:lnTo>
                      <a:pt x="508" y="118"/>
                    </a:lnTo>
                    <a:lnTo>
                      <a:pt x="531" y="103"/>
                    </a:lnTo>
                    <a:lnTo>
                      <a:pt x="23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Freeform 185"/>
              <p:cNvSpPr>
                <a:spLocks/>
              </p:cNvSpPr>
              <p:nvPr/>
            </p:nvSpPr>
            <p:spPr bwMode="auto">
              <a:xfrm>
                <a:off x="981" y="3306"/>
                <a:ext cx="550" cy="159"/>
              </a:xfrm>
              <a:custGeom>
                <a:avLst/>
                <a:gdLst/>
                <a:ahLst/>
                <a:cxnLst>
                  <a:cxn ang="0">
                    <a:pos x="0" y="74"/>
                  </a:cxn>
                  <a:cxn ang="0">
                    <a:pos x="31" y="78"/>
                  </a:cxn>
                  <a:cxn ang="0">
                    <a:pos x="57" y="66"/>
                  </a:cxn>
                  <a:cxn ang="0">
                    <a:pos x="76" y="71"/>
                  </a:cxn>
                  <a:cxn ang="0">
                    <a:pos x="58" y="81"/>
                  </a:cxn>
                  <a:cxn ang="0">
                    <a:pos x="451" y="159"/>
                  </a:cxn>
                  <a:cxn ang="0">
                    <a:pos x="548" y="84"/>
                  </a:cxn>
                  <a:cxn ang="0">
                    <a:pos x="130" y="0"/>
                  </a:cxn>
                </a:cxnLst>
                <a:rect l="0" t="0" r="r" b="b"/>
                <a:pathLst>
                  <a:path w="548" h="159">
                    <a:moveTo>
                      <a:pt x="0" y="74"/>
                    </a:moveTo>
                    <a:lnTo>
                      <a:pt x="31" y="78"/>
                    </a:lnTo>
                    <a:lnTo>
                      <a:pt x="57" y="66"/>
                    </a:lnTo>
                    <a:lnTo>
                      <a:pt x="76" y="71"/>
                    </a:lnTo>
                    <a:lnTo>
                      <a:pt x="58" y="81"/>
                    </a:lnTo>
                    <a:lnTo>
                      <a:pt x="451" y="159"/>
                    </a:lnTo>
                    <a:lnTo>
                      <a:pt x="548" y="84"/>
                    </a:lnTo>
                    <a:lnTo>
                      <a:pt x="130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Freeform 186"/>
              <p:cNvSpPr>
                <a:spLocks/>
              </p:cNvSpPr>
              <p:nvPr/>
            </p:nvSpPr>
            <p:spPr bwMode="auto">
              <a:xfrm>
                <a:off x="1495" y="3396"/>
                <a:ext cx="139" cy="69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140" y="11"/>
                  </a:cxn>
                  <a:cxn ang="0">
                    <a:pos x="75" y="70"/>
                  </a:cxn>
                  <a:cxn ang="0">
                    <a:pos x="0" y="56"/>
                  </a:cxn>
                </a:cxnLst>
                <a:rect l="0" t="0" r="r" b="b"/>
                <a:pathLst>
                  <a:path w="140" h="70">
                    <a:moveTo>
                      <a:pt x="73" y="0"/>
                    </a:moveTo>
                    <a:lnTo>
                      <a:pt x="140" y="11"/>
                    </a:lnTo>
                    <a:lnTo>
                      <a:pt x="75" y="70"/>
                    </a:lnTo>
                    <a:lnTo>
                      <a:pt x="0" y="56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Freeform 187"/>
              <p:cNvSpPr>
                <a:spLocks/>
              </p:cNvSpPr>
              <p:nvPr/>
            </p:nvSpPr>
            <p:spPr bwMode="auto">
              <a:xfrm>
                <a:off x="1570" y="3412"/>
                <a:ext cx="167" cy="100"/>
              </a:xfrm>
              <a:custGeom>
                <a:avLst/>
                <a:gdLst/>
                <a:ahLst/>
                <a:cxnLst>
                  <a:cxn ang="0">
                    <a:pos x="87" y="0"/>
                  </a:cxn>
                  <a:cxn ang="0">
                    <a:pos x="167" y="15"/>
                  </a:cxn>
                  <a:cxn ang="0">
                    <a:pos x="81" y="101"/>
                  </a:cxn>
                  <a:cxn ang="0">
                    <a:pos x="0" y="83"/>
                  </a:cxn>
                </a:cxnLst>
                <a:rect l="0" t="0" r="r" b="b"/>
                <a:pathLst>
                  <a:path w="167" h="101">
                    <a:moveTo>
                      <a:pt x="87" y="0"/>
                    </a:moveTo>
                    <a:lnTo>
                      <a:pt x="167" y="15"/>
                    </a:lnTo>
                    <a:lnTo>
                      <a:pt x="81" y="101"/>
                    </a:lnTo>
                    <a:lnTo>
                      <a:pt x="0" y="83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8" name="Group 188"/>
            <p:cNvGrpSpPr>
              <a:grpSpLocks/>
            </p:cNvGrpSpPr>
            <p:nvPr/>
          </p:nvGrpSpPr>
          <p:grpSpPr bwMode="auto">
            <a:xfrm>
              <a:off x="1939574" y="2102338"/>
              <a:ext cx="501656" cy="268684"/>
              <a:chOff x="1460" y="2079"/>
              <a:chExt cx="724" cy="441"/>
            </a:xfrm>
          </p:grpSpPr>
          <p:sp>
            <p:nvSpPr>
              <p:cNvPr id="55" name="Freeform 189"/>
              <p:cNvSpPr>
                <a:spLocks noChangeAspect="1"/>
              </p:cNvSpPr>
              <p:nvPr/>
            </p:nvSpPr>
            <p:spPr bwMode="auto">
              <a:xfrm>
                <a:off x="1460" y="2143"/>
                <a:ext cx="168" cy="377"/>
              </a:xfrm>
              <a:custGeom>
                <a:avLst/>
                <a:gdLst/>
                <a:ahLst/>
                <a:cxnLst>
                  <a:cxn ang="0">
                    <a:pos x="169" y="246"/>
                  </a:cxn>
                  <a:cxn ang="0">
                    <a:pos x="1" y="0"/>
                  </a:cxn>
                  <a:cxn ang="0">
                    <a:pos x="0" y="123"/>
                  </a:cxn>
                  <a:cxn ang="0">
                    <a:pos x="165" y="377"/>
                  </a:cxn>
                </a:cxnLst>
                <a:rect l="0" t="0" r="r" b="b"/>
                <a:pathLst>
                  <a:path w="169" h="377">
                    <a:moveTo>
                      <a:pt x="169" y="246"/>
                    </a:moveTo>
                    <a:lnTo>
                      <a:pt x="1" y="0"/>
                    </a:lnTo>
                    <a:lnTo>
                      <a:pt x="0" y="123"/>
                    </a:lnTo>
                    <a:lnTo>
                      <a:pt x="165" y="377"/>
                    </a:lnTo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100000">
                    <a:srgbClr val="EAEAEA">
                      <a:gamma/>
                      <a:tint val="60784"/>
                      <a:invGamma/>
                    </a:srgbClr>
                  </a:gs>
                </a:gsLst>
                <a:lin ang="0" scaled="1"/>
              </a:gra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Freeform 190"/>
              <p:cNvSpPr>
                <a:spLocks noChangeAspect="1"/>
              </p:cNvSpPr>
              <p:nvPr/>
            </p:nvSpPr>
            <p:spPr bwMode="auto">
              <a:xfrm>
                <a:off x="1464" y="2079"/>
                <a:ext cx="720" cy="309"/>
              </a:xfrm>
              <a:custGeom>
                <a:avLst/>
                <a:gdLst/>
                <a:ahLst/>
                <a:cxnLst>
                  <a:cxn ang="0">
                    <a:pos x="166" y="310"/>
                  </a:cxn>
                  <a:cxn ang="0">
                    <a:pos x="718" y="211"/>
                  </a:cxn>
                  <a:cxn ang="0">
                    <a:pos x="444" y="0"/>
                  </a:cxn>
                  <a:cxn ang="0">
                    <a:pos x="0" y="64"/>
                  </a:cxn>
                  <a:cxn ang="0">
                    <a:pos x="166" y="310"/>
                  </a:cxn>
                </a:cxnLst>
                <a:rect l="0" t="0" r="r" b="b"/>
                <a:pathLst>
                  <a:path w="718" h="310">
                    <a:moveTo>
                      <a:pt x="166" y="310"/>
                    </a:moveTo>
                    <a:lnTo>
                      <a:pt x="718" y="211"/>
                    </a:lnTo>
                    <a:lnTo>
                      <a:pt x="444" y="0"/>
                    </a:lnTo>
                    <a:lnTo>
                      <a:pt x="0" y="64"/>
                    </a:lnTo>
                    <a:lnTo>
                      <a:pt x="166" y="31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Freeform 191"/>
              <p:cNvSpPr>
                <a:spLocks/>
              </p:cNvSpPr>
              <p:nvPr/>
            </p:nvSpPr>
            <p:spPr bwMode="auto">
              <a:xfrm>
                <a:off x="1622" y="2288"/>
                <a:ext cx="544" cy="228"/>
              </a:xfrm>
              <a:custGeom>
                <a:avLst/>
                <a:gdLst/>
                <a:ahLst/>
                <a:cxnLst>
                  <a:cxn ang="0">
                    <a:pos x="6" y="99"/>
                  </a:cxn>
                  <a:cxn ang="0">
                    <a:pos x="557" y="0"/>
                  </a:cxn>
                  <a:cxn ang="0">
                    <a:pos x="549" y="121"/>
                  </a:cxn>
                  <a:cxn ang="0">
                    <a:pos x="0" y="228"/>
                  </a:cxn>
                  <a:cxn ang="0">
                    <a:pos x="6" y="99"/>
                  </a:cxn>
                </a:cxnLst>
                <a:rect l="0" t="0" r="r" b="b"/>
                <a:pathLst>
                  <a:path w="557" h="228">
                    <a:moveTo>
                      <a:pt x="6" y="99"/>
                    </a:moveTo>
                    <a:lnTo>
                      <a:pt x="557" y="0"/>
                    </a:lnTo>
                    <a:lnTo>
                      <a:pt x="549" y="121"/>
                    </a:lnTo>
                    <a:lnTo>
                      <a:pt x="0" y="228"/>
                    </a:lnTo>
                    <a:lnTo>
                      <a:pt x="6" y="9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EAEAEA">
                      <a:gamma/>
                      <a:tint val="0"/>
                      <a:invGamma/>
                    </a:srgbClr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Freeform 192"/>
              <p:cNvSpPr>
                <a:spLocks/>
              </p:cNvSpPr>
              <p:nvPr/>
            </p:nvSpPr>
            <p:spPr bwMode="auto">
              <a:xfrm>
                <a:off x="1644" y="2425"/>
                <a:ext cx="168" cy="6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63"/>
                  </a:cxn>
                  <a:cxn ang="0">
                    <a:pos x="164" y="33"/>
                  </a:cxn>
                  <a:cxn ang="0">
                    <a:pos x="167" y="0"/>
                  </a:cxn>
                  <a:cxn ang="0">
                    <a:pos x="0" y="32"/>
                  </a:cxn>
                </a:cxnLst>
                <a:rect l="0" t="0" r="r" b="b"/>
                <a:pathLst>
                  <a:path w="167" h="63">
                    <a:moveTo>
                      <a:pt x="0" y="32"/>
                    </a:moveTo>
                    <a:lnTo>
                      <a:pt x="0" y="63"/>
                    </a:lnTo>
                    <a:lnTo>
                      <a:pt x="164" y="33"/>
                    </a:lnTo>
                    <a:lnTo>
                      <a:pt x="167" y="0"/>
                    </a:lnTo>
                    <a:lnTo>
                      <a:pt x="0" y="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/>
                </a:prst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Oval 193"/>
              <p:cNvSpPr>
                <a:spLocks noChangeArrowheads="1"/>
              </p:cNvSpPr>
              <p:nvPr/>
            </p:nvSpPr>
            <p:spPr bwMode="auto">
              <a:xfrm>
                <a:off x="1783" y="2433"/>
                <a:ext cx="17" cy="23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Line 194"/>
              <p:cNvSpPr>
                <a:spLocks noChangeShapeType="1"/>
              </p:cNvSpPr>
              <p:nvPr/>
            </p:nvSpPr>
            <p:spPr bwMode="auto">
              <a:xfrm flipH="1">
                <a:off x="2042" y="2338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Line 195"/>
              <p:cNvSpPr>
                <a:spLocks noChangeShapeType="1"/>
              </p:cNvSpPr>
              <p:nvPr/>
            </p:nvSpPr>
            <p:spPr bwMode="auto">
              <a:xfrm flipH="1">
                <a:off x="2029" y="2340"/>
                <a:ext cx="2" cy="8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Line 196"/>
              <p:cNvSpPr>
                <a:spLocks noChangeShapeType="1"/>
              </p:cNvSpPr>
              <p:nvPr/>
            </p:nvSpPr>
            <p:spPr bwMode="auto">
              <a:xfrm flipH="1">
                <a:off x="2056" y="2336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Line 197"/>
              <p:cNvSpPr>
                <a:spLocks noChangeShapeType="1"/>
              </p:cNvSpPr>
              <p:nvPr/>
            </p:nvSpPr>
            <p:spPr bwMode="auto">
              <a:xfrm flipH="1">
                <a:off x="2069" y="2334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Line 198"/>
              <p:cNvSpPr>
                <a:spLocks noChangeShapeType="1"/>
              </p:cNvSpPr>
              <p:nvPr/>
            </p:nvSpPr>
            <p:spPr bwMode="auto">
              <a:xfrm flipH="1">
                <a:off x="2081" y="2332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Line 199"/>
              <p:cNvSpPr>
                <a:spLocks noChangeShapeType="1"/>
              </p:cNvSpPr>
              <p:nvPr/>
            </p:nvSpPr>
            <p:spPr bwMode="auto">
              <a:xfrm flipH="1">
                <a:off x="2094" y="2329"/>
                <a:ext cx="4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Line 200"/>
              <p:cNvSpPr>
                <a:spLocks noChangeShapeType="1"/>
              </p:cNvSpPr>
              <p:nvPr/>
            </p:nvSpPr>
            <p:spPr bwMode="auto">
              <a:xfrm flipH="1">
                <a:off x="2106" y="232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Line 201"/>
              <p:cNvSpPr>
                <a:spLocks noChangeShapeType="1"/>
              </p:cNvSpPr>
              <p:nvPr/>
            </p:nvSpPr>
            <p:spPr bwMode="auto">
              <a:xfrm flipH="1">
                <a:off x="2118" y="2323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Line 202"/>
              <p:cNvSpPr>
                <a:spLocks noChangeShapeType="1"/>
              </p:cNvSpPr>
              <p:nvPr/>
            </p:nvSpPr>
            <p:spPr bwMode="auto">
              <a:xfrm flipH="1">
                <a:off x="2129" y="2323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Line 203"/>
              <p:cNvSpPr>
                <a:spLocks noChangeShapeType="1"/>
              </p:cNvSpPr>
              <p:nvPr/>
            </p:nvSpPr>
            <p:spPr bwMode="auto">
              <a:xfrm flipH="1">
                <a:off x="2141" y="2321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Line 204"/>
              <p:cNvSpPr>
                <a:spLocks noChangeShapeType="1"/>
              </p:cNvSpPr>
              <p:nvPr/>
            </p:nvSpPr>
            <p:spPr bwMode="auto">
              <a:xfrm flipH="1">
                <a:off x="2154" y="231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Freeform 205"/>
              <p:cNvSpPr>
                <a:spLocks/>
              </p:cNvSpPr>
              <p:nvPr/>
            </p:nvSpPr>
            <p:spPr bwMode="auto">
              <a:xfrm>
                <a:off x="1862" y="2371"/>
                <a:ext cx="93" cy="68"/>
              </a:xfrm>
              <a:custGeom>
                <a:avLst/>
                <a:gdLst/>
                <a:ahLst/>
                <a:cxnLst>
                  <a:cxn ang="0">
                    <a:pos x="2" y="33"/>
                  </a:cxn>
                  <a:cxn ang="0">
                    <a:pos x="0" y="138"/>
                  </a:cxn>
                  <a:cxn ang="0">
                    <a:pos x="186" y="104"/>
                  </a:cxn>
                  <a:cxn ang="0">
                    <a:pos x="186" y="0"/>
                  </a:cxn>
                  <a:cxn ang="0">
                    <a:pos x="2" y="33"/>
                  </a:cxn>
                </a:cxnLst>
                <a:rect l="0" t="0" r="r" b="b"/>
                <a:pathLst>
                  <a:path w="186" h="138">
                    <a:moveTo>
                      <a:pt x="2" y="33"/>
                    </a:moveTo>
                    <a:lnTo>
                      <a:pt x="0" y="138"/>
                    </a:lnTo>
                    <a:lnTo>
                      <a:pt x="186" y="104"/>
                    </a:lnTo>
                    <a:lnTo>
                      <a:pt x="186" y="0"/>
                    </a:lnTo>
                    <a:lnTo>
                      <a:pt x="2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969696">
                      <a:gamma/>
                      <a:shade val="75686"/>
                      <a:invGamma/>
                    </a:srgbClr>
                  </a:gs>
                </a:gsLst>
                <a:lin ang="0" scaled="1"/>
              </a:gradFill>
              <a:ln w="317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>
                    <a:alpha val="50000"/>
                  </a:srgbClr>
                </a:prst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Line 206"/>
              <p:cNvSpPr>
                <a:spLocks noChangeShapeType="1"/>
              </p:cNvSpPr>
              <p:nvPr/>
            </p:nvSpPr>
            <p:spPr bwMode="auto">
              <a:xfrm flipH="1">
                <a:off x="1874" y="2408"/>
                <a:ext cx="0" cy="21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Line 207"/>
              <p:cNvSpPr>
                <a:spLocks noChangeShapeType="1"/>
              </p:cNvSpPr>
              <p:nvPr/>
            </p:nvSpPr>
            <p:spPr bwMode="auto">
              <a:xfrm flipH="1">
                <a:off x="1947" y="2394"/>
                <a:ext cx="0" cy="19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Line 208"/>
              <p:cNvSpPr>
                <a:spLocks noChangeShapeType="1"/>
              </p:cNvSpPr>
              <p:nvPr/>
            </p:nvSpPr>
            <p:spPr bwMode="auto">
              <a:xfrm flipH="1">
                <a:off x="1938" y="2404"/>
                <a:ext cx="0" cy="15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Line 209"/>
              <p:cNvSpPr>
                <a:spLocks noChangeShapeType="1"/>
              </p:cNvSpPr>
              <p:nvPr/>
            </p:nvSpPr>
            <p:spPr bwMode="auto">
              <a:xfrm flipH="1">
                <a:off x="1886" y="2417"/>
                <a:ext cx="0" cy="14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Line 210"/>
              <p:cNvSpPr>
                <a:spLocks noChangeShapeType="1"/>
              </p:cNvSpPr>
              <p:nvPr/>
            </p:nvSpPr>
            <p:spPr bwMode="auto">
              <a:xfrm flipV="1">
                <a:off x="1897" y="2419"/>
                <a:ext cx="29" cy="6"/>
              </a:xfrm>
              <a:prstGeom prst="line">
                <a:avLst/>
              </a:prstGeom>
              <a:noFill/>
              <a:ln w="9525">
                <a:solidFill>
                  <a:srgbClr val="FFFF99">
                    <a:alpha val="4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Freeform 211"/>
              <p:cNvSpPr>
                <a:spLocks/>
              </p:cNvSpPr>
              <p:nvPr/>
            </p:nvSpPr>
            <p:spPr bwMode="auto">
              <a:xfrm>
                <a:off x="1671" y="2387"/>
                <a:ext cx="116" cy="39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" y="38"/>
                  </a:cxn>
                  <a:cxn ang="0">
                    <a:pos x="116" y="19"/>
                  </a:cxn>
                  <a:cxn ang="0">
                    <a:pos x="116" y="0"/>
                  </a:cxn>
                  <a:cxn ang="0">
                    <a:pos x="0" y="20"/>
                  </a:cxn>
                </a:cxnLst>
                <a:rect l="0" t="0" r="r" b="b"/>
                <a:pathLst>
                  <a:path w="116" h="38">
                    <a:moveTo>
                      <a:pt x="0" y="20"/>
                    </a:moveTo>
                    <a:lnTo>
                      <a:pt x="1" y="38"/>
                    </a:lnTo>
                    <a:lnTo>
                      <a:pt x="116" y="19"/>
                    </a:lnTo>
                    <a:lnTo>
                      <a:pt x="116" y="0"/>
                    </a:lnTo>
                    <a:lnTo>
                      <a:pt x="0" y="2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Line 212"/>
              <p:cNvSpPr>
                <a:spLocks noChangeShapeType="1"/>
              </p:cNvSpPr>
              <p:nvPr/>
            </p:nvSpPr>
            <p:spPr bwMode="auto">
              <a:xfrm flipV="1">
                <a:off x="1661" y="2394"/>
                <a:ext cx="133" cy="23"/>
              </a:xfrm>
              <a:prstGeom prst="line">
                <a:avLst/>
              </a:prstGeom>
              <a:noFill/>
              <a:ln w="317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Group 213"/>
            <p:cNvGrpSpPr>
              <a:grpSpLocks/>
            </p:cNvGrpSpPr>
            <p:nvPr/>
          </p:nvGrpSpPr>
          <p:grpSpPr bwMode="auto">
            <a:xfrm flipH="1">
              <a:off x="1992234" y="1859243"/>
              <a:ext cx="405344" cy="355199"/>
              <a:chOff x="1829" y="1130"/>
              <a:chExt cx="1859" cy="1865"/>
            </a:xfrm>
          </p:grpSpPr>
          <p:grpSp>
            <p:nvGrpSpPr>
              <p:cNvPr id="40" name="Group 214"/>
              <p:cNvGrpSpPr>
                <a:grpSpLocks/>
              </p:cNvGrpSpPr>
              <p:nvPr/>
            </p:nvGrpSpPr>
            <p:grpSpPr bwMode="auto">
              <a:xfrm>
                <a:off x="2470" y="1323"/>
                <a:ext cx="1218" cy="1259"/>
                <a:chOff x="2601" y="1199"/>
                <a:chExt cx="1218" cy="1408"/>
              </a:xfrm>
            </p:grpSpPr>
            <p:sp>
              <p:nvSpPr>
                <p:cNvPr id="53" name="Freeform 215"/>
                <p:cNvSpPr>
                  <a:spLocks/>
                </p:cNvSpPr>
                <p:nvPr/>
              </p:nvSpPr>
              <p:spPr bwMode="auto">
                <a:xfrm>
                  <a:off x="2598" y="1201"/>
                  <a:ext cx="1217" cy="180"/>
                </a:xfrm>
                <a:custGeom>
                  <a:avLst/>
                  <a:gdLst/>
                  <a:ahLst/>
                  <a:cxnLst>
                    <a:cxn ang="0">
                      <a:pos x="1205" y="151"/>
                    </a:cxn>
                    <a:cxn ang="0">
                      <a:pos x="964" y="178"/>
                    </a:cxn>
                    <a:cxn ang="0">
                      <a:pos x="0" y="0"/>
                    </a:cxn>
                    <a:cxn ang="0">
                      <a:pos x="1205" y="151"/>
                    </a:cxn>
                  </a:cxnLst>
                  <a:rect l="0" t="0" r="r" b="b"/>
                  <a:pathLst>
                    <a:path w="1205" h="178">
                      <a:moveTo>
                        <a:pt x="1205" y="151"/>
                      </a:moveTo>
                      <a:lnTo>
                        <a:pt x="964" y="178"/>
                      </a:lnTo>
                      <a:lnTo>
                        <a:pt x="0" y="0"/>
                      </a:lnTo>
                      <a:lnTo>
                        <a:pt x="1205" y="151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Freeform 216"/>
                <p:cNvSpPr>
                  <a:spLocks/>
                </p:cNvSpPr>
                <p:nvPr/>
              </p:nvSpPr>
              <p:spPr bwMode="auto">
                <a:xfrm>
                  <a:off x="3415" y="1360"/>
                  <a:ext cx="406" cy="1245"/>
                </a:xfrm>
                <a:custGeom>
                  <a:avLst/>
                  <a:gdLst/>
                  <a:ahLst/>
                  <a:cxnLst>
                    <a:cxn ang="0">
                      <a:pos x="405" y="0"/>
                    </a:cxn>
                    <a:cxn ang="0">
                      <a:pos x="389" y="1000"/>
                    </a:cxn>
                    <a:cxn ang="0">
                      <a:pos x="133" y="1241"/>
                    </a:cxn>
                    <a:cxn ang="0">
                      <a:pos x="0" y="13"/>
                    </a:cxn>
                    <a:cxn ang="0">
                      <a:pos x="189" y="24"/>
                    </a:cxn>
                    <a:cxn ang="0">
                      <a:pos x="405" y="0"/>
                    </a:cxn>
                  </a:cxnLst>
                  <a:rect l="0" t="0" r="r" b="b"/>
                  <a:pathLst>
                    <a:path w="405" h="1241">
                      <a:moveTo>
                        <a:pt x="405" y="0"/>
                      </a:moveTo>
                      <a:lnTo>
                        <a:pt x="389" y="1000"/>
                      </a:lnTo>
                      <a:lnTo>
                        <a:pt x="133" y="1241"/>
                      </a:lnTo>
                      <a:lnTo>
                        <a:pt x="0" y="13"/>
                      </a:lnTo>
                      <a:lnTo>
                        <a:pt x="189" y="24"/>
                      </a:lnTo>
                      <a:lnTo>
                        <a:pt x="405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969696">
                        <a:gamma/>
                        <a:tint val="48627"/>
                        <a:invGamma/>
                      </a:srgbClr>
                    </a:gs>
                    <a:gs pos="100000">
                      <a:srgbClr val="969696"/>
                    </a:gs>
                  </a:gsLst>
                  <a:lin ang="0" scaled="1"/>
                </a:gra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1" name="Oval 217"/>
              <p:cNvSpPr>
                <a:spLocks noChangeArrowheads="1"/>
              </p:cNvSpPr>
              <p:nvPr/>
            </p:nvSpPr>
            <p:spPr bwMode="auto">
              <a:xfrm flipH="1">
                <a:off x="2270" y="2679"/>
                <a:ext cx="1106" cy="315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Oval 218"/>
              <p:cNvSpPr>
                <a:spLocks noChangeArrowheads="1"/>
              </p:cNvSpPr>
              <p:nvPr/>
            </p:nvSpPr>
            <p:spPr bwMode="auto">
              <a:xfrm flipH="1">
                <a:off x="2270" y="2654"/>
                <a:ext cx="1106" cy="315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Freeform 219"/>
              <p:cNvSpPr>
                <a:spLocks/>
              </p:cNvSpPr>
              <p:nvPr/>
            </p:nvSpPr>
            <p:spPr bwMode="auto">
              <a:xfrm>
                <a:off x="1827" y="1139"/>
                <a:ext cx="1623" cy="1732"/>
              </a:xfrm>
              <a:custGeom>
                <a:avLst/>
                <a:gdLst/>
                <a:ahLst/>
                <a:cxnLst>
                  <a:cxn ang="0">
                    <a:pos x="1602" y="204"/>
                  </a:cxn>
                  <a:cxn ang="0">
                    <a:pos x="5" y="0"/>
                  </a:cxn>
                  <a:cxn ang="0">
                    <a:pos x="0" y="1488"/>
                  </a:cxn>
                  <a:cxn ang="0">
                    <a:pos x="1597" y="1734"/>
                  </a:cxn>
                  <a:cxn ang="0">
                    <a:pos x="1602" y="204"/>
                  </a:cxn>
                </a:cxnLst>
                <a:rect l="0" t="0" r="r" b="b"/>
                <a:pathLst>
                  <a:path w="1602" h="1734">
                    <a:moveTo>
                      <a:pt x="1602" y="204"/>
                    </a:moveTo>
                    <a:lnTo>
                      <a:pt x="5" y="0"/>
                    </a:lnTo>
                    <a:lnTo>
                      <a:pt x="0" y="1488"/>
                    </a:lnTo>
                    <a:lnTo>
                      <a:pt x="1597" y="1734"/>
                    </a:lnTo>
                    <a:lnTo>
                      <a:pt x="1602" y="2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Freeform 220"/>
              <p:cNvSpPr>
                <a:spLocks/>
              </p:cNvSpPr>
              <p:nvPr/>
            </p:nvSpPr>
            <p:spPr bwMode="auto">
              <a:xfrm>
                <a:off x="1895" y="2543"/>
                <a:ext cx="1334" cy="328"/>
              </a:xfrm>
              <a:custGeom>
                <a:avLst/>
                <a:gdLst/>
                <a:ahLst/>
                <a:cxnLst>
                  <a:cxn ang="0">
                    <a:pos x="1327" y="200"/>
                  </a:cxn>
                  <a:cxn ang="0">
                    <a:pos x="0" y="0"/>
                  </a:cxn>
                  <a:cxn ang="0">
                    <a:pos x="0" y="115"/>
                  </a:cxn>
                  <a:cxn ang="0">
                    <a:pos x="1330" y="330"/>
                  </a:cxn>
                  <a:cxn ang="0">
                    <a:pos x="1327" y="200"/>
                  </a:cxn>
                </a:cxnLst>
                <a:rect l="0" t="0" r="r" b="b"/>
                <a:pathLst>
                  <a:path w="1330" h="330">
                    <a:moveTo>
                      <a:pt x="1327" y="200"/>
                    </a:moveTo>
                    <a:lnTo>
                      <a:pt x="0" y="0"/>
                    </a:lnTo>
                    <a:lnTo>
                      <a:pt x="0" y="115"/>
                    </a:lnTo>
                    <a:lnTo>
                      <a:pt x="1330" y="330"/>
                    </a:lnTo>
                    <a:lnTo>
                      <a:pt x="1327" y="2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Freeform 221"/>
              <p:cNvSpPr>
                <a:spLocks/>
              </p:cNvSpPr>
              <p:nvPr/>
            </p:nvSpPr>
            <p:spPr bwMode="auto">
              <a:xfrm>
                <a:off x="3438" y="1337"/>
                <a:ext cx="55" cy="1534"/>
              </a:xfrm>
              <a:custGeom>
                <a:avLst/>
                <a:gdLst/>
                <a:ahLst/>
                <a:cxnLst>
                  <a:cxn ang="0">
                    <a:pos x="4" y="16"/>
                  </a:cxn>
                  <a:cxn ang="0">
                    <a:pos x="56" y="0"/>
                  </a:cxn>
                  <a:cxn ang="0">
                    <a:pos x="46" y="1513"/>
                  </a:cxn>
                  <a:cxn ang="0">
                    <a:pos x="0" y="1536"/>
                  </a:cxn>
                  <a:cxn ang="0">
                    <a:pos x="4" y="16"/>
                  </a:cxn>
                </a:cxnLst>
                <a:rect l="0" t="0" r="r" b="b"/>
                <a:pathLst>
                  <a:path w="56" h="1536">
                    <a:moveTo>
                      <a:pt x="4" y="16"/>
                    </a:moveTo>
                    <a:lnTo>
                      <a:pt x="56" y="0"/>
                    </a:lnTo>
                    <a:lnTo>
                      <a:pt x="46" y="1513"/>
                    </a:lnTo>
                    <a:lnTo>
                      <a:pt x="0" y="1536"/>
                    </a:lnTo>
                    <a:lnTo>
                      <a:pt x="4" y="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Oval 222"/>
              <p:cNvSpPr>
                <a:spLocks noChangeArrowheads="1"/>
              </p:cNvSpPr>
              <p:nvPr/>
            </p:nvSpPr>
            <p:spPr bwMode="auto">
              <a:xfrm flipH="1">
                <a:off x="1969" y="2568"/>
                <a:ext cx="49" cy="93"/>
              </a:xfrm>
              <a:prstGeom prst="ellipse">
                <a:avLst/>
              </a:prstGeom>
              <a:solidFill>
                <a:srgbClr val="777777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Oval 223"/>
              <p:cNvSpPr>
                <a:spLocks noChangeArrowheads="1"/>
              </p:cNvSpPr>
              <p:nvPr/>
            </p:nvSpPr>
            <p:spPr bwMode="auto">
              <a:xfrm flipH="1">
                <a:off x="2061" y="2592"/>
                <a:ext cx="43" cy="7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Oval 224"/>
              <p:cNvSpPr>
                <a:spLocks noChangeArrowheads="1"/>
              </p:cNvSpPr>
              <p:nvPr/>
            </p:nvSpPr>
            <p:spPr bwMode="auto">
              <a:xfrm flipH="1">
                <a:off x="2356" y="266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Oval 225"/>
              <p:cNvSpPr>
                <a:spLocks noChangeArrowheads="1"/>
              </p:cNvSpPr>
              <p:nvPr/>
            </p:nvSpPr>
            <p:spPr bwMode="auto">
              <a:xfrm flipH="1">
                <a:off x="2454" y="2679"/>
                <a:ext cx="49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Oval 226"/>
              <p:cNvSpPr>
                <a:spLocks noChangeArrowheads="1"/>
              </p:cNvSpPr>
              <p:nvPr/>
            </p:nvSpPr>
            <p:spPr bwMode="auto">
              <a:xfrm flipH="1">
                <a:off x="2553" y="269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Freeform 227"/>
              <p:cNvSpPr>
                <a:spLocks/>
              </p:cNvSpPr>
              <p:nvPr/>
            </p:nvSpPr>
            <p:spPr bwMode="auto">
              <a:xfrm>
                <a:off x="1952" y="1310"/>
                <a:ext cx="1342" cy="1363"/>
              </a:xfrm>
              <a:custGeom>
                <a:avLst/>
                <a:gdLst>
                  <a:gd name="T0" fmla="*/ 1312 w 1345"/>
                  <a:gd name="T1" fmla="*/ 167 h 1366"/>
                  <a:gd name="T2" fmla="*/ 0 w 1345"/>
                  <a:gd name="T3" fmla="*/ 0 h 1366"/>
                  <a:gd name="T4" fmla="*/ 0 w 1345"/>
                  <a:gd name="T5" fmla="*/ 1139 h 1366"/>
                  <a:gd name="T6" fmla="*/ 1327 w 1345"/>
                  <a:gd name="T7" fmla="*/ 1348 h 1366"/>
                  <a:gd name="T8" fmla="*/ 1312 w 1345"/>
                  <a:gd name="T9" fmla="*/ 167 h 13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5"/>
                  <a:gd name="T16" fmla="*/ 0 h 1366"/>
                  <a:gd name="T17" fmla="*/ 1345 w 1345"/>
                  <a:gd name="T18" fmla="*/ 1366 h 13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5" h="1366">
                    <a:moveTo>
                      <a:pt x="1330" y="167"/>
                    </a:moveTo>
                    <a:lnTo>
                      <a:pt x="0" y="0"/>
                    </a:lnTo>
                    <a:lnTo>
                      <a:pt x="0" y="1157"/>
                    </a:lnTo>
                    <a:lnTo>
                      <a:pt x="1345" y="1366"/>
                    </a:lnTo>
                    <a:lnTo>
                      <a:pt x="1330" y="16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100000">
                    <a:srgbClr val="4D4D4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latinLnBrk="0"/>
                <a:endParaRPr lang="ko-KR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Freeform 228"/>
              <p:cNvSpPr>
                <a:spLocks/>
              </p:cNvSpPr>
              <p:nvPr/>
            </p:nvSpPr>
            <p:spPr bwMode="auto">
              <a:xfrm>
                <a:off x="1833" y="1133"/>
                <a:ext cx="1660" cy="21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68" y="0"/>
                  </a:cxn>
                  <a:cxn ang="0">
                    <a:pos x="1660" y="199"/>
                  </a:cxn>
                  <a:cxn ang="0">
                    <a:pos x="1613" y="214"/>
                  </a:cxn>
                  <a:cxn ang="0">
                    <a:pos x="0" y="10"/>
                  </a:cxn>
                </a:cxnLst>
                <a:rect l="0" t="0" r="r" b="b"/>
                <a:pathLst>
                  <a:path w="1660" h="214">
                    <a:moveTo>
                      <a:pt x="0" y="10"/>
                    </a:moveTo>
                    <a:lnTo>
                      <a:pt x="68" y="0"/>
                    </a:lnTo>
                    <a:lnTo>
                      <a:pt x="1660" y="199"/>
                    </a:lnTo>
                    <a:lnTo>
                      <a:pt x="1613" y="214"/>
                    </a:lnTo>
                    <a:lnTo>
                      <a:pt x="0" y="10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92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36759" y="1440641"/>
            <a:ext cx="752533" cy="1205675"/>
          </a:xfrm>
          <a:prstGeom prst="rect">
            <a:avLst/>
          </a:prstGeom>
          <a:noFill/>
        </p:spPr>
      </p:pic>
      <p:grpSp>
        <p:nvGrpSpPr>
          <p:cNvPr id="10" name="그룹 9"/>
          <p:cNvGrpSpPr/>
          <p:nvPr/>
        </p:nvGrpSpPr>
        <p:grpSpPr>
          <a:xfrm>
            <a:off x="2756963" y="2016357"/>
            <a:ext cx="594318" cy="301505"/>
            <a:chOff x="3213907" y="1988483"/>
            <a:chExt cx="594318" cy="301505"/>
          </a:xfrm>
        </p:grpSpPr>
        <p:sp>
          <p:nvSpPr>
            <p:cNvPr id="104" name="AutoShape 26"/>
            <p:cNvSpPr>
              <a:spLocks noChangeArrowheads="1"/>
            </p:cNvSpPr>
            <p:nvPr/>
          </p:nvSpPr>
          <p:spPr bwMode="auto">
            <a:xfrm>
              <a:off x="3213907" y="1988483"/>
              <a:ext cx="594318" cy="301505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3226141" y="2159628"/>
              <a:ext cx="430516" cy="130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3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</a:t>
              </a:r>
              <a:endParaRPr lang="ko-KR" altLang="en-US" sz="3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282676" y="2523155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192.168.1.10/24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567943" y="2654459"/>
            <a:ext cx="9573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22.22.22.22/24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4145030" y="2058755"/>
            <a:ext cx="720590" cy="276802"/>
            <a:chOff x="4601974" y="2030881"/>
            <a:chExt cx="720590" cy="276802"/>
          </a:xfrm>
        </p:grpSpPr>
        <p:sp>
          <p:nvSpPr>
            <p:cNvPr id="95" name="AutoShape 20"/>
            <p:cNvSpPr>
              <a:spLocks noChangeArrowheads="1"/>
            </p:cNvSpPr>
            <p:nvPr/>
          </p:nvSpPr>
          <p:spPr bwMode="auto">
            <a:xfrm>
              <a:off x="4602891" y="2033666"/>
              <a:ext cx="719673" cy="274017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4635895" y="2142827"/>
              <a:ext cx="657332" cy="13867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Oval 22"/>
            <p:cNvSpPr>
              <a:spLocks noChangeArrowheads="1"/>
            </p:cNvSpPr>
            <p:nvPr/>
          </p:nvSpPr>
          <p:spPr bwMode="auto">
            <a:xfrm>
              <a:off x="4601974" y="2030881"/>
              <a:ext cx="720590" cy="13867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AutoShape 23"/>
            <p:cNvSpPr>
              <a:spLocks noChangeArrowheads="1"/>
            </p:cNvSpPr>
            <p:nvPr/>
          </p:nvSpPr>
          <p:spPr bwMode="auto">
            <a:xfrm rot="5400000">
              <a:off x="4989377" y="1880129"/>
              <a:ext cx="64049" cy="444639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" name="AutoShape 24"/>
            <p:cNvSpPr>
              <a:spLocks noChangeArrowheads="1"/>
            </p:cNvSpPr>
            <p:nvPr/>
          </p:nvSpPr>
          <p:spPr bwMode="auto">
            <a:xfrm rot="16200000">
              <a:off x="4889088" y="1855495"/>
              <a:ext cx="62935" cy="453807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7481865" y="2031445"/>
            <a:ext cx="720590" cy="276802"/>
            <a:chOff x="7938809" y="2003571"/>
            <a:chExt cx="720590" cy="276802"/>
          </a:xfrm>
        </p:grpSpPr>
        <p:sp>
          <p:nvSpPr>
            <p:cNvPr id="103" name="AutoShape 20"/>
            <p:cNvSpPr>
              <a:spLocks noChangeArrowheads="1"/>
            </p:cNvSpPr>
            <p:nvPr/>
          </p:nvSpPr>
          <p:spPr bwMode="auto">
            <a:xfrm>
              <a:off x="7939726" y="2006356"/>
              <a:ext cx="719673" cy="274017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7972730" y="2115517"/>
              <a:ext cx="657332" cy="13867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6" name="Oval 22"/>
            <p:cNvSpPr>
              <a:spLocks noChangeArrowheads="1"/>
            </p:cNvSpPr>
            <p:nvPr/>
          </p:nvSpPr>
          <p:spPr bwMode="auto">
            <a:xfrm>
              <a:off x="7938809" y="2003571"/>
              <a:ext cx="720590" cy="13867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AutoShape 23"/>
            <p:cNvSpPr>
              <a:spLocks noChangeArrowheads="1"/>
            </p:cNvSpPr>
            <p:nvPr/>
          </p:nvSpPr>
          <p:spPr bwMode="auto">
            <a:xfrm rot="5400000">
              <a:off x="8326212" y="1852819"/>
              <a:ext cx="64049" cy="444639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AutoShape 24"/>
            <p:cNvSpPr>
              <a:spLocks noChangeArrowheads="1"/>
            </p:cNvSpPr>
            <p:nvPr/>
          </p:nvSpPr>
          <p:spPr bwMode="auto">
            <a:xfrm rot="16200000">
              <a:off x="8225923" y="1828185"/>
              <a:ext cx="62935" cy="453807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9" name="TextBox 108"/>
          <p:cNvSpPr txBox="1"/>
          <p:nvPr/>
        </p:nvSpPr>
        <p:spPr>
          <a:xfrm>
            <a:off x="2369999" y="1569061"/>
            <a:ext cx="1659429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 → 11.11.11.11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98234" y="1282666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 Table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1" name="표 2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426738"/>
              </p:ext>
            </p:extLst>
          </p:nvPr>
        </p:nvGraphicFramePr>
        <p:xfrm>
          <a:off x="1362004" y="2876988"/>
          <a:ext cx="2624862" cy="24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4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35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629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365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310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22.22.22.22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02" name="TextBox 201"/>
          <p:cNvSpPr txBox="1"/>
          <p:nvPr/>
        </p:nvSpPr>
        <p:spPr>
          <a:xfrm>
            <a:off x="1282675" y="3115007"/>
            <a:ext cx="2454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 </a:t>
            </a:r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        </a:t>
            </a:r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             </a:t>
            </a:r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</a:t>
            </a:r>
            <a:endParaRPr lang="ko-KR" altLang="en-US" sz="1100" dirty="0">
              <a:latin typeface="Times New Roman" panose="02020603050405020304" pitchFamily="18" charset="0"/>
              <a:ea typeface="함초롬바탕" panose="02030504000101010101"/>
              <a:cs typeface="Times New Roman" panose="02020603050405020304" pitchFamily="18" charset="0"/>
            </a:endParaRPr>
          </a:p>
        </p:txBody>
      </p:sp>
      <p:graphicFrame>
        <p:nvGraphicFramePr>
          <p:cNvPr id="203" name="표 2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238186"/>
              </p:ext>
            </p:extLst>
          </p:nvPr>
        </p:nvGraphicFramePr>
        <p:xfrm>
          <a:off x="4228278" y="1572510"/>
          <a:ext cx="2624862" cy="24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4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35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629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365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310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22.22.22.22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11.11.11.11</a:t>
                      </a:r>
                      <a:endParaRPr lang="ko-KR" altLang="en-US" sz="1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04" name="TextBox 203"/>
          <p:cNvSpPr txBox="1"/>
          <p:nvPr/>
        </p:nvSpPr>
        <p:spPr>
          <a:xfrm>
            <a:off x="4178951" y="1307610"/>
            <a:ext cx="2454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</a:t>
            </a:r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        </a:t>
            </a:r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             </a:t>
            </a:r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</a:t>
            </a:r>
            <a:endParaRPr lang="ko-KR" altLang="en-US" sz="1100" dirty="0">
              <a:latin typeface="Times New Roman" panose="02020603050405020304" pitchFamily="18" charset="0"/>
              <a:ea typeface="함초롬바탕" panose="02030504000101010101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9613" y="321812"/>
            <a:ext cx="19706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NAT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499349" y="4622901"/>
            <a:ext cx="9217812" cy="1636486"/>
            <a:chOff x="1981130" y="4406644"/>
            <a:chExt cx="8347934" cy="1197739"/>
          </a:xfrm>
        </p:grpSpPr>
        <p:cxnSp>
          <p:nvCxnSpPr>
            <p:cNvPr id="93" name="직선 화살표 연결선 92"/>
            <p:cNvCxnSpPr>
              <a:stCxn id="128" idx="2"/>
            </p:cNvCxnSpPr>
            <p:nvPr/>
          </p:nvCxnSpPr>
          <p:spPr>
            <a:xfrm>
              <a:off x="2475421" y="4839975"/>
              <a:ext cx="7596635" cy="2754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구름 95"/>
            <p:cNvSpPr/>
            <p:nvPr/>
          </p:nvSpPr>
          <p:spPr>
            <a:xfrm>
              <a:off x="5555457" y="4550549"/>
              <a:ext cx="1381758" cy="636217"/>
            </a:xfrm>
            <a:prstGeom prst="clou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0" name="Group 172"/>
            <p:cNvGrpSpPr>
              <a:grpSpLocks/>
            </p:cNvGrpSpPr>
            <p:nvPr/>
          </p:nvGrpSpPr>
          <p:grpSpPr bwMode="auto">
            <a:xfrm>
              <a:off x="2044237" y="4589243"/>
              <a:ext cx="672801" cy="697603"/>
              <a:chOff x="1460" y="1680"/>
              <a:chExt cx="971" cy="1145"/>
            </a:xfrm>
          </p:grpSpPr>
          <p:grpSp>
            <p:nvGrpSpPr>
              <p:cNvPr id="111" name="Group 173"/>
              <p:cNvGrpSpPr>
                <a:grpSpLocks/>
              </p:cNvGrpSpPr>
              <p:nvPr/>
            </p:nvGrpSpPr>
            <p:grpSpPr bwMode="auto">
              <a:xfrm rot="20775601" flipH="1">
                <a:off x="2221" y="2374"/>
                <a:ext cx="210" cy="162"/>
                <a:chOff x="3499" y="2336"/>
                <a:chExt cx="1848" cy="1427"/>
              </a:xfrm>
            </p:grpSpPr>
            <p:sp>
              <p:nvSpPr>
                <p:cNvPr id="162" name="Freeform 174"/>
                <p:cNvSpPr>
                  <a:spLocks/>
                </p:cNvSpPr>
                <p:nvPr/>
              </p:nvSpPr>
              <p:spPr bwMode="auto">
                <a:xfrm rot="20419783" flipH="1">
                  <a:off x="4677" y="2330"/>
                  <a:ext cx="783" cy="460"/>
                </a:xfrm>
                <a:custGeom>
                  <a:avLst/>
                  <a:gdLst/>
                  <a:ahLst/>
                  <a:cxnLst>
                    <a:cxn ang="0">
                      <a:pos x="1224" y="755"/>
                    </a:cxn>
                    <a:cxn ang="0">
                      <a:pos x="1112" y="716"/>
                    </a:cxn>
                    <a:cxn ang="0">
                      <a:pos x="1051" y="693"/>
                    </a:cxn>
                    <a:cxn ang="0">
                      <a:pos x="1006" y="671"/>
                    </a:cxn>
                    <a:cxn ang="0">
                      <a:pos x="984" y="660"/>
                    </a:cxn>
                    <a:cxn ang="0">
                      <a:pos x="939" y="626"/>
                    </a:cxn>
                    <a:cxn ang="0">
                      <a:pos x="894" y="548"/>
                    </a:cxn>
                    <a:cxn ang="0">
                      <a:pos x="889" y="531"/>
                    </a:cxn>
                    <a:cxn ang="0">
                      <a:pos x="850" y="509"/>
                    </a:cxn>
                    <a:cxn ang="0">
                      <a:pos x="799" y="481"/>
                    </a:cxn>
                    <a:cxn ang="0">
                      <a:pos x="704" y="453"/>
                    </a:cxn>
                    <a:cxn ang="0">
                      <a:pos x="419" y="442"/>
                    </a:cxn>
                    <a:cxn ang="0">
                      <a:pos x="330" y="408"/>
                    </a:cxn>
                    <a:cxn ang="0">
                      <a:pos x="212" y="279"/>
                    </a:cxn>
                    <a:cxn ang="0">
                      <a:pos x="145" y="134"/>
                    </a:cxn>
                    <a:cxn ang="0">
                      <a:pos x="78" y="39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224" h="755">
                      <a:moveTo>
                        <a:pt x="1224" y="755"/>
                      </a:moveTo>
                      <a:cubicBezTo>
                        <a:pt x="1190" y="729"/>
                        <a:pt x="1154" y="724"/>
                        <a:pt x="1112" y="716"/>
                      </a:cubicBezTo>
                      <a:cubicBezTo>
                        <a:pt x="1091" y="705"/>
                        <a:pt x="1072" y="702"/>
                        <a:pt x="1051" y="693"/>
                      </a:cubicBezTo>
                      <a:cubicBezTo>
                        <a:pt x="1036" y="686"/>
                        <a:pt x="1021" y="678"/>
                        <a:pt x="1006" y="671"/>
                      </a:cubicBezTo>
                      <a:cubicBezTo>
                        <a:pt x="999" y="667"/>
                        <a:pt x="984" y="660"/>
                        <a:pt x="984" y="660"/>
                      </a:cubicBezTo>
                      <a:cubicBezTo>
                        <a:pt x="971" y="646"/>
                        <a:pt x="939" y="626"/>
                        <a:pt x="939" y="626"/>
                      </a:cubicBezTo>
                      <a:cubicBezTo>
                        <a:pt x="923" y="602"/>
                        <a:pt x="906" y="575"/>
                        <a:pt x="894" y="548"/>
                      </a:cubicBezTo>
                      <a:cubicBezTo>
                        <a:pt x="892" y="543"/>
                        <a:pt x="893" y="536"/>
                        <a:pt x="889" y="531"/>
                      </a:cubicBezTo>
                      <a:cubicBezTo>
                        <a:pt x="884" y="524"/>
                        <a:pt x="855" y="512"/>
                        <a:pt x="850" y="509"/>
                      </a:cubicBezTo>
                      <a:cubicBezTo>
                        <a:pt x="802" y="480"/>
                        <a:pt x="833" y="491"/>
                        <a:pt x="799" y="481"/>
                      </a:cubicBezTo>
                      <a:cubicBezTo>
                        <a:pt x="764" y="457"/>
                        <a:pt x="751" y="457"/>
                        <a:pt x="704" y="453"/>
                      </a:cubicBezTo>
                      <a:cubicBezTo>
                        <a:pt x="606" y="457"/>
                        <a:pt x="515" y="459"/>
                        <a:pt x="419" y="442"/>
                      </a:cubicBezTo>
                      <a:cubicBezTo>
                        <a:pt x="391" y="426"/>
                        <a:pt x="360" y="419"/>
                        <a:pt x="330" y="408"/>
                      </a:cubicBezTo>
                      <a:cubicBezTo>
                        <a:pt x="287" y="368"/>
                        <a:pt x="245" y="328"/>
                        <a:pt x="212" y="279"/>
                      </a:cubicBezTo>
                      <a:cubicBezTo>
                        <a:pt x="183" y="235"/>
                        <a:pt x="168" y="181"/>
                        <a:pt x="145" y="134"/>
                      </a:cubicBezTo>
                      <a:cubicBezTo>
                        <a:pt x="128" y="100"/>
                        <a:pt x="99" y="71"/>
                        <a:pt x="78" y="39"/>
                      </a:cubicBezTo>
                      <a:cubicBezTo>
                        <a:pt x="70" y="27"/>
                        <a:pt x="15" y="7"/>
                        <a:pt x="0" y="0"/>
                      </a:cubicBezTo>
                    </a:path>
                  </a:pathLst>
                </a:custGeom>
                <a:noFill/>
                <a:ln w="12700" cmpd="sng">
                  <a:solidFill>
                    <a:srgbClr val="969696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" name="Freeform 175"/>
                <p:cNvSpPr>
                  <a:spLocks/>
                </p:cNvSpPr>
                <p:nvPr/>
              </p:nvSpPr>
              <p:spPr bwMode="auto">
                <a:xfrm rot="-1180217">
                  <a:off x="3532" y="2934"/>
                  <a:ext cx="1464" cy="698"/>
                </a:xfrm>
                <a:custGeom>
                  <a:avLst/>
                  <a:gdLst/>
                  <a:ahLst/>
                  <a:cxnLst>
                    <a:cxn ang="0">
                      <a:pos x="886" y="33"/>
                    </a:cxn>
                    <a:cxn ang="0">
                      <a:pos x="937" y="70"/>
                    </a:cxn>
                    <a:cxn ang="0">
                      <a:pos x="971" y="130"/>
                    </a:cxn>
                    <a:cxn ang="0">
                      <a:pos x="967" y="218"/>
                    </a:cxn>
                    <a:cxn ang="0">
                      <a:pos x="882" y="261"/>
                    </a:cxn>
                    <a:cxn ang="0">
                      <a:pos x="791" y="294"/>
                    </a:cxn>
                    <a:cxn ang="0">
                      <a:pos x="665" y="382"/>
                    </a:cxn>
                    <a:cxn ang="0">
                      <a:pos x="519" y="522"/>
                    </a:cxn>
                    <a:cxn ang="0">
                      <a:pos x="397" y="542"/>
                    </a:cxn>
                    <a:cxn ang="0">
                      <a:pos x="298" y="550"/>
                    </a:cxn>
                    <a:cxn ang="0">
                      <a:pos x="155" y="522"/>
                    </a:cxn>
                    <a:cxn ang="0">
                      <a:pos x="34" y="459"/>
                    </a:cxn>
                    <a:cxn ang="0">
                      <a:pos x="0" y="393"/>
                    </a:cxn>
                    <a:cxn ang="0">
                      <a:pos x="11" y="315"/>
                    </a:cxn>
                    <a:cxn ang="0">
                      <a:pos x="63" y="210"/>
                    </a:cxn>
                    <a:cxn ang="0">
                      <a:pos x="142" y="147"/>
                    </a:cxn>
                    <a:cxn ang="0">
                      <a:pos x="246" y="89"/>
                    </a:cxn>
                    <a:cxn ang="0">
                      <a:pos x="445" y="21"/>
                    </a:cxn>
                    <a:cxn ang="0">
                      <a:pos x="634" y="0"/>
                    </a:cxn>
                    <a:cxn ang="0">
                      <a:pos x="794" y="13"/>
                    </a:cxn>
                    <a:cxn ang="0">
                      <a:pos x="886" y="33"/>
                    </a:cxn>
                  </a:cxnLst>
                  <a:rect l="0" t="0" r="r" b="b"/>
                  <a:pathLst>
                    <a:path w="971" h="550">
                      <a:moveTo>
                        <a:pt x="886" y="33"/>
                      </a:moveTo>
                      <a:lnTo>
                        <a:pt x="937" y="70"/>
                      </a:lnTo>
                      <a:lnTo>
                        <a:pt x="971" y="130"/>
                      </a:lnTo>
                      <a:lnTo>
                        <a:pt x="967" y="218"/>
                      </a:lnTo>
                      <a:lnTo>
                        <a:pt x="882" y="261"/>
                      </a:lnTo>
                      <a:lnTo>
                        <a:pt x="791" y="294"/>
                      </a:lnTo>
                      <a:lnTo>
                        <a:pt x="665" y="382"/>
                      </a:lnTo>
                      <a:lnTo>
                        <a:pt x="519" y="522"/>
                      </a:lnTo>
                      <a:lnTo>
                        <a:pt x="397" y="542"/>
                      </a:lnTo>
                      <a:lnTo>
                        <a:pt x="298" y="550"/>
                      </a:lnTo>
                      <a:lnTo>
                        <a:pt x="155" y="522"/>
                      </a:lnTo>
                      <a:lnTo>
                        <a:pt x="34" y="459"/>
                      </a:lnTo>
                      <a:lnTo>
                        <a:pt x="0" y="393"/>
                      </a:lnTo>
                      <a:lnTo>
                        <a:pt x="11" y="315"/>
                      </a:lnTo>
                      <a:lnTo>
                        <a:pt x="63" y="210"/>
                      </a:lnTo>
                      <a:lnTo>
                        <a:pt x="142" y="147"/>
                      </a:lnTo>
                      <a:lnTo>
                        <a:pt x="246" y="89"/>
                      </a:lnTo>
                      <a:lnTo>
                        <a:pt x="445" y="21"/>
                      </a:lnTo>
                      <a:lnTo>
                        <a:pt x="634" y="0"/>
                      </a:lnTo>
                      <a:lnTo>
                        <a:pt x="794" y="13"/>
                      </a:lnTo>
                      <a:lnTo>
                        <a:pt x="886" y="33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EAEAEA"/>
                    </a:gs>
                    <a:gs pos="50000">
                      <a:srgbClr val="FFFFFF"/>
                    </a:gs>
                    <a:gs pos="100000">
                      <a:srgbClr val="EAEAEA"/>
                    </a:gs>
                  </a:gsLst>
                  <a:lin ang="2700000" scaled="1"/>
                </a:gradFill>
                <a:ln w="9525">
                  <a:solidFill>
                    <a:srgbClr val="808080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" name="Freeform 176"/>
                <p:cNvSpPr>
                  <a:spLocks/>
                </p:cNvSpPr>
                <p:nvPr/>
              </p:nvSpPr>
              <p:spPr bwMode="auto">
                <a:xfrm rot="20419783" flipH="1">
                  <a:off x="3661" y="3116"/>
                  <a:ext cx="1413" cy="52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6" y="118"/>
                    </a:cxn>
                    <a:cxn ang="0">
                      <a:pos x="319" y="302"/>
                    </a:cxn>
                    <a:cxn ang="0">
                      <a:pos x="604" y="448"/>
                    </a:cxn>
                    <a:cxn ang="0">
                      <a:pos x="867" y="526"/>
                    </a:cxn>
                    <a:cxn ang="0">
                      <a:pos x="1091" y="504"/>
                    </a:cxn>
                    <a:cxn ang="0">
                      <a:pos x="1270" y="448"/>
                    </a:cxn>
                    <a:cxn ang="0">
                      <a:pos x="1432" y="353"/>
                    </a:cxn>
                    <a:cxn ang="0">
                      <a:pos x="1253" y="431"/>
                    </a:cxn>
                    <a:cxn ang="0">
                      <a:pos x="1108" y="470"/>
                    </a:cxn>
                    <a:cxn ang="0">
                      <a:pos x="951" y="470"/>
                    </a:cxn>
                    <a:cxn ang="0">
                      <a:pos x="789" y="453"/>
                    </a:cxn>
                    <a:cxn ang="0">
                      <a:pos x="699" y="420"/>
                    </a:cxn>
                    <a:cxn ang="0">
                      <a:pos x="560" y="330"/>
                    </a:cxn>
                    <a:cxn ang="0">
                      <a:pos x="437" y="213"/>
                    </a:cxn>
                    <a:cxn ang="0">
                      <a:pos x="274" y="129"/>
                    </a:cxn>
                    <a:cxn ang="0">
                      <a:pos x="140" y="7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432" h="526">
                      <a:moveTo>
                        <a:pt x="0" y="0"/>
                      </a:moveTo>
                      <a:lnTo>
                        <a:pt x="56" y="118"/>
                      </a:lnTo>
                      <a:lnTo>
                        <a:pt x="319" y="302"/>
                      </a:lnTo>
                      <a:lnTo>
                        <a:pt x="604" y="448"/>
                      </a:lnTo>
                      <a:lnTo>
                        <a:pt x="867" y="526"/>
                      </a:lnTo>
                      <a:lnTo>
                        <a:pt x="1091" y="504"/>
                      </a:lnTo>
                      <a:lnTo>
                        <a:pt x="1270" y="448"/>
                      </a:lnTo>
                      <a:lnTo>
                        <a:pt x="1432" y="353"/>
                      </a:lnTo>
                      <a:lnTo>
                        <a:pt x="1253" y="431"/>
                      </a:lnTo>
                      <a:lnTo>
                        <a:pt x="1108" y="470"/>
                      </a:lnTo>
                      <a:lnTo>
                        <a:pt x="951" y="470"/>
                      </a:lnTo>
                      <a:lnTo>
                        <a:pt x="789" y="453"/>
                      </a:lnTo>
                      <a:lnTo>
                        <a:pt x="699" y="420"/>
                      </a:lnTo>
                      <a:lnTo>
                        <a:pt x="560" y="330"/>
                      </a:lnTo>
                      <a:lnTo>
                        <a:pt x="437" y="213"/>
                      </a:lnTo>
                      <a:lnTo>
                        <a:pt x="274" y="129"/>
                      </a:lnTo>
                      <a:lnTo>
                        <a:pt x="140" y="7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969696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rgbClr val="808080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" name="Freeform 177"/>
                <p:cNvSpPr>
                  <a:spLocks/>
                </p:cNvSpPr>
                <p:nvPr/>
              </p:nvSpPr>
              <p:spPr bwMode="auto">
                <a:xfrm rot="-1180217">
                  <a:off x="4358" y="2814"/>
                  <a:ext cx="323" cy="375"/>
                </a:xfrm>
                <a:custGeom>
                  <a:avLst/>
                  <a:gdLst/>
                  <a:ahLst/>
                  <a:cxnLst>
                    <a:cxn ang="0">
                      <a:pos x="229" y="261"/>
                    </a:cxn>
                    <a:cxn ang="0">
                      <a:pos x="115" y="5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29" h="261">
                      <a:moveTo>
                        <a:pt x="229" y="261"/>
                      </a:moveTo>
                      <a:lnTo>
                        <a:pt x="115" y="5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 cmpd="sng">
                  <a:solidFill>
                    <a:srgbClr val="B2B2B2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6" name="Freeform 178"/>
                <p:cNvSpPr>
                  <a:spLocks/>
                </p:cNvSpPr>
                <p:nvPr/>
              </p:nvSpPr>
              <p:spPr bwMode="auto">
                <a:xfrm rot="20419783" flipH="1">
                  <a:off x="4324" y="2821"/>
                  <a:ext cx="443" cy="68"/>
                </a:xfrm>
                <a:custGeom>
                  <a:avLst/>
                  <a:gdLst/>
                  <a:ahLst/>
                  <a:cxnLst>
                    <a:cxn ang="0">
                      <a:pos x="0" y="79"/>
                    </a:cxn>
                    <a:cxn ang="0">
                      <a:pos x="246" y="26"/>
                    </a:cxn>
                    <a:cxn ang="0">
                      <a:pos x="408" y="0"/>
                    </a:cxn>
                    <a:cxn ang="0">
                      <a:pos x="560" y="26"/>
                    </a:cxn>
                  </a:cxnLst>
                  <a:rect l="0" t="0" r="r" b="b"/>
                  <a:pathLst>
                    <a:path w="560" h="79">
                      <a:moveTo>
                        <a:pt x="0" y="79"/>
                      </a:moveTo>
                      <a:lnTo>
                        <a:pt x="246" y="26"/>
                      </a:lnTo>
                      <a:lnTo>
                        <a:pt x="408" y="0"/>
                      </a:lnTo>
                      <a:lnTo>
                        <a:pt x="560" y="26"/>
                      </a:lnTo>
                    </a:path>
                  </a:pathLst>
                </a:custGeom>
                <a:noFill/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7" name="Oval 179"/>
                <p:cNvSpPr>
                  <a:spLocks noChangeArrowheads="1"/>
                </p:cNvSpPr>
                <p:nvPr/>
              </p:nvSpPr>
              <p:spPr bwMode="auto">
                <a:xfrm rot="21155849" flipH="1">
                  <a:off x="4282" y="2827"/>
                  <a:ext cx="187" cy="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8" name="Freeform 180"/>
                <p:cNvSpPr>
                  <a:spLocks/>
                </p:cNvSpPr>
                <p:nvPr/>
              </p:nvSpPr>
              <p:spPr bwMode="auto">
                <a:xfrm rot="20419783" flipH="1">
                  <a:off x="4481" y="2789"/>
                  <a:ext cx="409" cy="272"/>
                </a:xfrm>
                <a:custGeom>
                  <a:avLst/>
                  <a:gdLst/>
                  <a:ahLst/>
                  <a:cxnLst>
                    <a:cxn ang="0">
                      <a:pos x="98" y="36"/>
                    </a:cxn>
                    <a:cxn ang="0">
                      <a:pos x="320" y="0"/>
                    </a:cxn>
                    <a:cxn ang="0">
                      <a:pos x="367" y="26"/>
                    </a:cxn>
                    <a:cxn ang="0">
                      <a:pos x="445" y="26"/>
                    </a:cxn>
                    <a:cxn ang="0">
                      <a:pos x="482" y="42"/>
                    </a:cxn>
                    <a:cxn ang="0">
                      <a:pos x="278" y="367"/>
                    </a:cxn>
                    <a:cxn ang="0">
                      <a:pos x="5" y="262"/>
                    </a:cxn>
                    <a:cxn ang="0">
                      <a:pos x="0" y="157"/>
                    </a:cxn>
                    <a:cxn ang="0">
                      <a:pos x="42" y="74"/>
                    </a:cxn>
                    <a:cxn ang="0">
                      <a:pos x="98" y="36"/>
                    </a:cxn>
                  </a:cxnLst>
                  <a:rect l="0" t="0" r="r" b="b"/>
                  <a:pathLst>
                    <a:path w="482" h="367">
                      <a:moveTo>
                        <a:pt x="98" y="36"/>
                      </a:moveTo>
                      <a:lnTo>
                        <a:pt x="320" y="0"/>
                      </a:lnTo>
                      <a:lnTo>
                        <a:pt x="367" y="26"/>
                      </a:lnTo>
                      <a:lnTo>
                        <a:pt x="445" y="26"/>
                      </a:lnTo>
                      <a:lnTo>
                        <a:pt x="482" y="42"/>
                      </a:lnTo>
                      <a:lnTo>
                        <a:pt x="278" y="367"/>
                      </a:lnTo>
                      <a:lnTo>
                        <a:pt x="5" y="262"/>
                      </a:lnTo>
                      <a:lnTo>
                        <a:pt x="0" y="157"/>
                      </a:lnTo>
                      <a:lnTo>
                        <a:pt x="42" y="74"/>
                      </a:lnTo>
                      <a:lnTo>
                        <a:pt x="98" y="36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12" name="Group 181"/>
              <p:cNvGrpSpPr>
                <a:grpSpLocks/>
              </p:cNvGrpSpPr>
              <p:nvPr/>
            </p:nvGrpSpPr>
            <p:grpSpPr bwMode="auto">
              <a:xfrm flipH="1">
                <a:off x="1662" y="2315"/>
                <a:ext cx="664" cy="510"/>
                <a:chOff x="854" y="3072"/>
                <a:chExt cx="883" cy="678"/>
              </a:xfrm>
            </p:grpSpPr>
            <p:sp>
              <p:nvSpPr>
                <p:cNvPr id="156" name="Freeform 182"/>
                <p:cNvSpPr>
                  <a:spLocks/>
                </p:cNvSpPr>
                <p:nvPr/>
              </p:nvSpPr>
              <p:spPr bwMode="auto">
                <a:xfrm>
                  <a:off x="854" y="3092"/>
                  <a:ext cx="354" cy="658"/>
                </a:xfrm>
                <a:custGeom>
                  <a:avLst/>
                  <a:gdLst/>
                  <a:ahLst/>
                  <a:cxnLst>
                    <a:cxn ang="0">
                      <a:pos x="933" y="135"/>
                    </a:cxn>
                    <a:cxn ang="0">
                      <a:pos x="932" y="171"/>
                    </a:cxn>
                    <a:cxn ang="0">
                      <a:pos x="762" y="352"/>
                    </a:cxn>
                    <a:cxn ang="0">
                      <a:pos x="4" y="195"/>
                    </a:cxn>
                    <a:cxn ang="0">
                      <a:pos x="0" y="148"/>
                    </a:cxn>
                    <a:cxn ang="0">
                      <a:pos x="244" y="0"/>
                    </a:cxn>
                    <a:cxn ang="0">
                      <a:pos x="933" y="135"/>
                    </a:cxn>
                  </a:cxnLst>
                  <a:rect l="0" t="0" r="r" b="b"/>
                  <a:pathLst>
                    <a:path w="933" h="352">
                      <a:moveTo>
                        <a:pt x="933" y="135"/>
                      </a:moveTo>
                      <a:lnTo>
                        <a:pt x="932" y="171"/>
                      </a:lnTo>
                      <a:lnTo>
                        <a:pt x="762" y="352"/>
                      </a:lnTo>
                      <a:lnTo>
                        <a:pt x="4" y="195"/>
                      </a:lnTo>
                      <a:lnTo>
                        <a:pt x="0" y="148"/>
                      </a:lnTo>
                      <a:lnTo>
                        <a:pt x="244" y="0"/>
                      </a:lnTo>
                      <a:lnTo>
                        <a:pt x="933" y="13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DDDDDD">
                        <a:gamma/>
                        <a:tint val="34118"/>
                        <a:invGamma/>
                      </a:srgbClr>
                    </a:gs>
                  </a:gsLst>
                  <a:lin ang="0" scaled="1"/>
                </a:gradFill>
                <a:ln w="6350" cap="flat" cmpd="sng">
                  <a:solidFill>
                    <a:srgbClr val="B2B2B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" name="Freeform 183"/>
                <p:cNvSpPr>
                  <a:spLocks/>
                </p:cNvSpPr>
                <p:nvPr/>
              </p:nvSpPr>
              <p:spPr bwMode="auto">
                <a:xfrm>
                  <a:off x="878" y="3072"/>
                  <a:ext cx="355" cy="658"/>
                </a:xfrm>
                <a:custGeom>
                  <a:avLst/>
                  <a:gdLst/>
                  <a:ahLst/>
                  <a:cxnLst>
                    <a:cxn ang="0">
                      <a:pos x="895" y="133"/>
                    </a:cxn>
                    <a:cxn ang="0">
                      <a:pos x="232" y="0"/>
                    </a:cxn>
                    <a:cxn ang="0">
                      <a:pos x="0" y="143"/>
                    </a:cxn>
                    <a:cxn ang="0">
                      <a:pos x="739" y="294"/>
                    </a:cxn>
                    <a:cxn ang="0">
                      <a:pos x="895" y="133"/>
                    </a:cxn>
                  </a:cxnLst>
                  <a:rect l="0" t="0" r="r" b="b"/>
                  <a:pathLst>
                    <a:path w="895" h="294">
                      <a:moveTo>
                        <a:pt x="895" y="133"/>
                      </a:moveTo>
                      <a:lnTo>
                        <a:pt x="232" y="0"/>
                      </a:lnTo>
                      <a:lnTo>
                        <a:pt x="0" y="143"/>
                      </a:lnTo>
                      <a:lnTo>
                        <a:pt x="739" y="294"/>
                      </a:lnTo>
                      <a:lnTo>
                        <a:pt x="895" y="1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 cap="flat" cmpd="sng">
                  <a:solidFill>
                    <a:srgbClr val="B2B2B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tIns="27432" bIns="27432" anchor="ctr">
                  <a:spAutoFit/>
                </a:bodyPr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" name="Freeform 184"/>
                <p:cNvSpPr>
                  <a:spLocks/>
                </p:cNvSpPr>
                <p:nvPr/>
              </p:nvSpPr>
              <p:spPr bwMode="auto">
                <a:xfrm>
                  <a:off x="1133" y="3276"/>
                  <a:ext cx="535" cy="118"/>
                </a:xfrm>
                <a:custGeom>
                  <a:avLst/>
                  <a:gdLst/>
                  <a:ahLst/>
                  <a:cxnLst>
                    <a:cxn ang="0">
                      <a:pos x="0" y="15"/>
                    </a:cxn>
                    <a:cxn ang="0">
                      <a:pos x="508" y="118"/>
                    </a:cxn>
                    <a:cxn ang="0">
                      <a:pos x="531" y="103"/>
                    </a:cxn>
                    <a:cxn ang="0">
                      <a:pos x="23" y="0"/>
                    </a:cxn>
                  </a:cxnLst>
                  <a:rect l="0" t="0" r="r" b="b"/>
                  <a:pathLst>
                    <a:path w="531" h="118">
                      <a:moveTo>
                        <a:pt x="0" y="15"/>
                      </a:moveTo>
                      <a:lnTo>
                        <a:pt x="508" y="118"/>
                      </a:lnTo>
                      <a:lnTo>
                        <a:pt x="531" y="103"/>
                      </a:lnTo>
                      <a:lnTo>
                        <a:pt x="23" y="0"/>
                      </a:lnTo>
                    </a:path>
                  </a:pathLst>
                </a:custGeom>
                <a:solidFill>
                  <a:srgbClr val="DDDDDD"/>
                </a:solidFill>
                <a:ln w="12700" cap="rnd" cmpd="sng">
                  <a:solidFill>
                    <a:srgbClr val="EAEAEA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" name="Freeform 185"/>
                <p:cNvSpPr>
                  <a:spLocks/>
                </p:cNvSpPr>
                <p:nvPr/>
              </p:nvSpPr>
              <p:spPr bwMode="auto">
                <a:xfrm>
                  <a:off x="981" y="3306"/>
                  <a:ext cx="550" cy="159"/>
                </a:xfrm>
                <a:custGeom>
                  <a:avLst/>
                  <a:gdLst/>
                  <a:ahLst/>
                  <a:cxnLst>
                    <a:cxn ang="0">
                      <a:pos x="0" y="74"/>
                    </a:cxn>
                    <a:cxn ang="0">
                      <a:pos x="31" y="78"/>
                    </a:cxn>
                    <a:cxn ang="0">
                      <a:pos x="57" y="66"/>
                    </a:cxn>
                    <a:cxn ang="0">
                      <a:pos x="76" y="71"/>
                    </a:cxn>
                    <a:cxn ang="0">
                      <a:pos x="58" y="81"/>
                    </a:cxn>
                    <a:cxn ang="0">
                      <a:pos x="451" y="159"/>
                    </a:cxn>
                    <a:cxn ang="0">
                      <a:pos x="548" y="84"/>
                    </a:cxn>
                    <a:cxn ang="0">
                      <a:pos x="130" y="0"/>
                    </a:cxn>
                  </a:cxnLst>
                  <a:rect l="0" t="0" r="r" b="b"/>
                  <a:pathLst>
                    <a:path w="548" h="159">
                      <a:moveTo>
                        <a:pt x="0" y="74"/>
                      </a:moveTo>
                      <a:lnTo>
                        <a:pt x="31" y="78"/>
                      </a:lnTo>
                      <a:lnTo>
                        <a:pt x="57" y="66"/>
                      </a:lnTo>
                      <a:lnTo>
                        <a:pt x="76" y="71"/>
                      </a:lnTo>
                      <a:lnTo>
                        <a:pt x="58" y="81"/>
                      </a:lnTo>
                      <a:lnTo>
                        <a:pt x="451" y="159"/>
                      </a:lnTo>
                      <a:lnTo>
                        <a:pt x="548" y="84"/>
                      </a:lnTo>
                      <a:lnTo>
                        <a:pt x="130" y="0"/>
                      </a:lnTo>
                    </a:path>
                  </a:pathLst>
                </a:custGeom>
                <a:solidFill>
                  <a:srgbClr val="DDDDDD"/>
                </a:solidFill>
                <a:ln w="12700" cap="rnd" cmpd="sng">
                  <a:solidFill>
                    <a:srgbClr val="EAEAEA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0" name="Freeform 186"/>
                <p:cNvSpPr>
                  <a:spLocks/>
                </p:cNvSpPr>
                <p:nvPr/>
              </p:nvSpPr>
              <p:spPr bwMode="auto">
                <a:xfrm>
                  <a:off x="1495" y="3396"/>
                  <a:ext cx="139" cy="69"/>
                </a:xfrm>
                <a:custGeom>
                  <a:avLst/>
                  <a:gdLst/>
                  <a:ahLst/>
                  <a:cxnLst>
                    <a:cxn ang="0">
                      <a:pos x="73" y="0"/>
                    </a:cxn>
                    <a:cxn ang="0">
                      <a:pos x="140" y="11"/>
                    </a:cxn>
                    <a:cxn ang="0">
                      <a:pos x="75" y="70"/>
                    </a:cxn>
                    <a:cxn ang="0">
                      <a:pos x="0" y="56"/>
                    </a:cxn>
                  </a:cxnLst>
                  <a:rect l="0" t="0" r="r" b="b"/>
                  <a:pathLst>
                    <a:path w="140" h="70">
                      <a:moveTo>
                        <a:pt x="73" y="0"/>
                      </a:moveTo>
                      <a:lnTo>
                        <a:pt x="140" y="11"/>
                      </a:lnTo>
                      <a:lnTo>
                        <a:pt x="75" y="70"/>
                      </a:lnTo>
                      <a:lnTo>
                        <a:pt x="0" y="56"/>
                      </a:lnTo>
                    </a:path>
                  </a:pathLst>
                </a:custGeom>
                <a:solidFill>
                  <a:srgbClr val="DDDDDD"/>
                </a:solidFill>
                <a:ln w="12700" cap="rnd" cmpd="sng">
                  <a:solidFill>
                    <a:srgbClr val="EAEAEA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" name="Freeform 187"/>
                <p:cNvSpPr>
                  <a:spLocks/>
                </p:cNvSpPr>
                <p:nvPr/>
              </p:nvSpPr>
              <p:spPr bwMode="auto">
                <a:xfrm>
                  <a:off x="1570" y="3412"/>
                  <a:ext cx="167" cy="100"/>
                </a:xfrm>
                <a:custGeom>
                  <a:avLst/>
                  <a:gdLst/>
                  <a:ahLst/>
                  <a:cxnLst>
                    <a:cxn ang="0">
                      <a:pos x="87" y="0"/>
                    </a:cxn>
                    <a:cxn ang="0">
                      <a:pos x="167" y="15"/>
                    </a:cxn>
                    <a:cxn ang="0">
                      <a:pos x="81" y="101"/>
                    </a:cxn>
                    <a:cxn ang="0">
                      <a:pos x="0" y="83"/>
                    </a:cxn>
                  </a:cxnLst>
                  <a:rect l="0" t="0" r="r" b="b"/>
                  <a:pathLst>
                    <a:path w="167" h="101">
                      <a:moveTo>
                        <a:pt x="87" y="0"/>
                      </a:moveTo>
                      <a:lnTo>
                        <a:pt x="167" y="15"/>
                      </a:lnTo>
                      <a:lnTo>
                        <a:pt x="81" y="101"/>
                      </a:lnTo>
                      <a:lnTo>
                        <a:pt x="0" y="83"/>
                      </a:lnTo>
                    </a:path>
                  </a:pathLst>
                </a:custGeom>
                <a:solidFill>
                  <a:srgbClr val="DDDDDD"/>
                </a:solidFill>
                <a:ln w="12700" cap="rnd" cmpd="sng">
                  <a:solidFill>
                    <a:srgbClr val="EAEAEA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15" name="Group 188"/>
              <p:cNvGrpSpPr>
                <a:grpSpLocks/>
              </p:cNvGrpSpPr>
              <p:nvPr/>
            </p:nvGrpSpPr>
            <p:grpSpPr bwMode="auto">
              <a:xfrm>
                <a:off x="1460" y="2079"/>
                <a:ext cx="724" cy="441"/>
                <a:chOff x="1460" y="2079"/>
                <a:chExt cx="724" cy="441"/>
              </a:xfrm>
            </p:grpSpPr>
            <p:sp>
              <p:nvSpPr>
                <p:cNvPr id="132" name="Freeform 189"/>
                <p:cNvSpPr>
                  <a:spLocks noChangeAspect="1"/>
                </p:cNvSpPr>
                <p:nvPr/>
              </p:nvSpPr>
              <p:spPr bwMode="auto">
                <a:xfrm>
                  <a:off x="1460" y="2143"/>
                  <a:ext cx="168" cy="377"/>
                </a:xfrm>
                <a:custGeom>
                  <a:avLst/>
                  <a:gdLst/>
                  <a:ahLst/>
                  <a:cxnLst>
                    <a:cxn ang="0">
                      <a:pos x="169" y="246"/>
                    </a:cxn>
                    <a:cxn ang="0">
                      <a:pos x="1" y="0"/>
                    </a:cxn>
                    <a:cxn ang="0">
                      <a:pos x="0" y="123"/>
                    </a:cxn>
                    <a:cxn ang="0">
                      <a:pos x="165" y="377"/>
                    </a:cxn>
                  </a:cxnLst>
                  <a:rect l="0" t="0" r="r" b="b"/>
                  <a:pathLst>
                    <a:path w="169" h="377">
                      <a:moveTo>
                        <a:pt x="169" y="246"/>
                      </a:moveTo>
                      <a:lnTo>
                        <a:pt x="1" y="0"/>
                      </a:lnTo>
                      <a:lnTo>
                        <a:pt x="0" y="123"/>
                      </a:lnTo>
                      <a:lnTo>
                        <a:pt x="165" y="377"/>
                      </a:lnTo>
                    </a:path>
                  </a:pathLst>
                </a:custGeom>
                <a:gradFill rotWithShape="1">
                  <a:gsLst>
                    <a:gs pos="0">
                      <a:srgbClr val="EAEAEA"/>
                    </a:gs>
                    <a:gs pos="100000">
                      <a:srgbClr val="EAEAEA">
                        <a:gamma/>
                        <a:tint val="60784"/>
                        <a:invGamma/>
                      </a:srgbClr>
                    </a:gs>
                  </a:gsLst>
                  <a:lin ang="0" scaled="1"/>
                </a:gradFill>
                <a:ln w="6350" cap="rnd" cmpd="sng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" name="Freeform 190"/>
                <p:cNvSpPr>
                  <a:spLocks noChangeAspect="1"/>
                </p:cNvSpPr>
                <p:nvPr/>
              </p:nvSpPr>
              <p:spPr bwMode="auto">
                <a:xfrm>
                  <a:off x="1464" y="2079"/>
                  <a:ext cx="720" cy="309"/>
                </a:xfrm>
                <a:custGeom>
                  <a:avLst/>
                  <a:gdLst/>
                  <a:ahLst/>
                  <a:cxnLst>
                    <a:cxn ang="0">
                      <a:pos x="166" y="310"/>
                    </a:cxn>
                    <a:cxn ang="0">
                      <a:pos x="718" y="211"/>
                    </a:cxn>
                    <a:cxn ang="0">
                      <a:pos x="444" y="0"/>
                    </a:cxn>
                    <a:cxn ang="0">
                      <a:pos x="0" y="64"/>
                    </a:cxn>
                    <a:cxn ang="0">
                      <a:pos x="166" y="310"/>
                    </a:cxn>
                  </a:cxnLst>
                  <a:rect l="0" t="0" r="r" b="b"/>
                  <a:pathLst>
                    <a:path w="718" h="310">
                      <a:moveTo>
                        <a:pt x="166" y="310"/>
                      </a:moveTo>
                      <a:lnTo>
                        <a:pt x="718" y="211"/>
                      </a:lnTo>
                      <a:lnTo>
                        <a:pt x="444" y="0"/>
                      </a:lnTo>
                      <a:lnTo>
                        <a:pt x="0" y="64"/>
                      </a:lnTo>
                      <a:lnTo>
                        <a:pt x="166" y="31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350" cap="rnd" cmpd="sng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" name="Freeform 191"/>
                <p:cNvSpPr>
                  <a:spLocks/>
                </p:cNvSpPr>
                <p:nvPr/>
              </p:nvSpPr>
              <p:spPr bwMode="auto">
                <a:xfrm>
                  <a:off x="1622" y="2288"/>
                  <a:ext cx="544" cy="228"/>
                </a:xfrm>
                <a:custGeom>
                  <a:avLst/>
                  <a:gdLst/>
                  <a:ahLst/>
                  <a:cxnLst>
                    <a:cxn ang="0">
                      <a:pos x="6" y="99"/>
                    </a:cxn>
                    <a:cxn ang="0">
                      <a:pos x="557" y="0"/>
                    </a:cxn>
                    <a:cxn ang="0">
                      <a:pos x="549" y="121"/>
                    </a:cxn>
                    <a:cxn ang="0">
                      <a:pos x="0" y="228"/>
                    </a:cxn>
                    <a:cxn ang="0">
                      <a:pos x="6" y="99"/>
                    </a:cxn>
                  </a:cxnLst>
                  <a:rect l="0" t="0" r="r" b="b"/>
                  <a:pathLst>
                    <a:path w="557" h="228">
                      <a:moveTo>
                        <a:pt x="6" y="99"/>
                      </a:moveTo>
                      <a:lnTo>
                        <a:pt x="557" y="0"/>
                      </a:lnTo>
                      <a:lnTo>
                        <a:pt x="549" y="121"/>
                      </a:lnTo>
                      <a:lnTo>
                        <a:pt x="0" y="228"/>
                      </a:lnTo>
                      <a:lnTo>
                        <a:pt x="6" y="99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EAEAEA"/>
                    </a:gs>
                    <a:gs pos="50000">
                      <a:srgbClr val="EAEAEA">
                        <a:gamma/>
                        <a:tint val="0"/>
                        <a:invGamma/>
                      </a:srgbClr>
                    </a:gs>
                    <a:gs pos="100000">
                      <a:srgbClr val="EAEAEA"/>
                    </a:gs>
                  </a:gsLst>
                  <a:lin ang="0" scaled="1"/>
                </a:gra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" name="Freeform 192"/>
                <p:cNvSpPr>
                  <a:spLocks/>
                </p:cNvSpPr>
                <p:nvPr/>
              </p:nvSpPr>
              <p:spPr bwMode="auto">
                <a:xfrm>
                  <a:off x="1644" y="2425"/>
                  <a:ext cx="168" cy="64"/>
                </a:xfrm>
                <a:custGeom>
                  <a:avLst/>
                  <a:gdLst/>
                  <a:ahLst/>
                  <a:cxnLst>
                    <a:cxn ang="0">
                      <a:pos x="0" y="32"/>
                    </a:cxn>
                    <a:cxn ang="0">
                      <a:pos x="0" y="63"/>
                    </a:cxn>
                    <a:cxn ang="0">
                      <a:pos x="164" y="33"/>
                    </a:cxn>
                    <a:cxn ang="0">
                      <a:pos x="167" y="0"/>
                    </a:cxn>
                    <a:cxn ang="0">
                      <a:pos x="0" y="32"/>
                    </a:cxn>
                  </a:cxnLst>
                  <a:rect l="0" t="0" r="r" b="b"/>
                  <a:pathLst>
                    <a:path w="167" h="63">
                      <a:moveTo>
                        <a:pt x="0" y="32"/>
                      </a:moveTo>
                      <a:lnTo>
                        <a:pt x="0" y="63"/>
                      </a:lnTo>
                      <a:lnTo>
                        <a:pt x="164" y="33"/>
                      </a:lnTo>
                      <a:lnTo>
                        <a:pt x="167" y="0"/>
                      </a:lnTo>
                      <a:lnTo>
                        <a:pt x="0" y="32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C0C0C0">
                        <a:gamma/>
                        <a:tint val="60784"/>
                        <a:invGamma/>
                      </a:srgbClr>
                    </a:gs>
                    <a:gs pos="100000">
                      <a:srgbClr val="C0C0C0"/>
                    </a:gs>
                  </a:gsLst>
                  <a:lin ang="0" scaled="1"/>
                </a:gradFill>
                <a:ln w="9525">
                  <a:noFill/>
                  <a:round/>
                  <a:headEnd type="none" w="med" len="med"/>
                  <a:tailEnd type="none" w="med" len="med"/>
                </a:ln>
                <a:effectLst>
                  <a:prstShdw prst="shdw17" dist="17961" dir="13500000">
                    <a:srgbClr val="969696"/>
                  </a:prstShdw>
                </a:effectLst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" name="Oval 193"/>
                <p:cNvSpPr>
                  <a:spLocks noChangeArrowheads="1"/>
                </p:cNvSpPr>
                <p:nvPr/>
              </p:nvSpPr>
              <p:spPr bwMode="auto">
                <a:xfrm>
                  <a:off x="1783" y="2433"/>
                  <a:ext cx="17" cy="23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" name="Line 194"/>
                <p:cNvSpPr>
                  <a:spLocks noChangeShapeType="1"/>
                </p:cNvSpPr>
                <p:nvPr/>
              </p:nvSpPr>
              <p:spPr bwMode="auto">
                <a:xfrm flipH="1">
                  <a:off x="2042" y="2338"/>
                  <a:ext cx="4" cy="81"/>
                </a:xfrm>
                <a:prstGeom prst="line">
                  <a:avLst/>
                </a:prstGeom>
                <a:noFill/>
                <a:ln w="9525">
                  <a:solidFill>
                    <a:srgbClr val="808080"/>
                  </a:solidFill>
                  <a:round/>
                  <a:headEnd/>
                  <a:tailEnd/>
                </a:ln>
                <a:effectLst>
                  <a:outerShdw dist="17961" dir="18900000" algn="ctr" rotWithShape="0">
                    <a:srgbClr val="969696">
                      <a:alpha val="50000"/>
                    </a:srgbClr>
                  </a:outerShdw>
                </a:effectLst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" name="Line 195"/>
                <p:cNvSpPr>
                  <a:spLocks noChangeShapeType="1"/>
                </p:cNvSpPr>
                <p:nvPr/>
              </p:nvSpPr>
              <p:spPr bwMode="auto">
                <a:xfrm flipH="1">
                  <a:off x="2029" y="2340"/>
                  <a:ext cx="2" cy="85"/>
                </a:xfrm>
                <a:prstGeom prst="line">
                  <a:avLst/>
                </a:prstGeom>
                <a:noFill/>
                <a:ln w="9525">
                  <a:solidFill>
                    <a:srgbClr val="808080"/>
                  </a:solidFill>
                  <a:round/>
                  <a:headEnd/>
                  <a:tailEnd/>
                </a:ln>
                <a:effectLst>
                  <a:outerShdw dist="17961" dir="18900000" algn="ctr" rotWithShape="0">
                    <a:srgbClr val="969696">
                      <a:alpha val="50000"/>
                    </a:srgbClr>
                  </a:outerShdw>
                </a:effectLst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" name="Line 196"/>
                <p:cNvSpPr>
                  <a:spLocks noChangeShapeType="1"/>
                </p:cNvSpPr>
                <p:nvPr/>
              </p:nvSpPr>
              <p:spPr bwMode="auto">
                <a:xfrm flipH="1">
                  <a:off x="2056" y="2336"/>
                  <a:ext cx="4" cy="81"/>
                </a:xfrm>
                <a:prstGeom prst="line">
                  <a:avLst/>
                </a:prstGeom>
                <a:noFill/>
                <a:ln w="9525">
                  <a:solidFill>
                    <a:srgbClr val="808080"/>
                  </a:solidFill>
                  <a:round/>
                  <a:headEnd/>
                  <a:tailEnd/>
                </a:ln>
                <a:effectLst>
                  <a:outerShdw dist="17961" dir="18900000" algn="ctr" rotWithShape="0">
                    <a:srgbClr val="969696">
                      <a:alpha val="50000"/>
                    </a:srgbClr>
                  </a:outerShdw>
                </a:effectLst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" name="Line 197"/>
                <p:cNvSpPr>
                  <a:spLocks noChangeShapeType="1"/>
                </p:cNvSpPr>
                <p:nvPr/>
              </p:nvSpPr>
              <p:spPr bwMode="auto">
                <a:xfrm flipH="1">
                  <a:off x="2069" y="2334"/>
                  <a:ext cx="2" cy="81"/>
                </a:xfrm>
                <a:prstGeom prst="line">
                  <a:avLst/>
                </a:prstGeom>
                <a:noFill/>
                <a:ln w="9525">
                  <a:solidFill>
                    <a:srgbClr val="808080"/>
                  </a:solidFill>
                  <a:round/>
                  <a:headEnd/>
                  <a:tailEnd/>
                </a:ln>
                <a:effectLst>
                  <a:outerShdw dist="17961" dir="18900000" algn="ctr" rotWithShape="0">
                    <a:srgbClr val="969696">
                      <a:alpha val="50000"/>
                    </a:srgbClr>
                  </a:outerShdw>
                </a:effectLst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" name="Line 198"/>
                <p:cNvSpPr>
                  <a:spLocks noChangeShapeType="1"/>
                </p:cNvSpPr>
                <p:nvPr/>
              </p:nvSpPr>
              <p:spPr bwMode="auto">
                <a:xfrm flipH="1">
                  <a:off x="2081" y="2332"/>
                  <a:ext cx="4" cy="81"/>
                </a:xfrm>
                <a:prstGeom prst="line">
                  <a:avLst/>
                </a:prstGeom>
                <a:noFill/>
                <a:ln w="9525">
                  <a:solidFill>
                    <a:srgbClr val="808080"/>
                  </a:solidFill>
                  <a:round/>
                  <a:headEnd/>
                  <a:tailEnd/>
                </a:ln>
                <a:effectLst>
                  <a:outerShdw dist="17961" dir="18900000" algn="ctr" rotWithShape="0">
                    <a:srgbClr val="969696">
                      <a:alpha val="50000"/>
                    </a:srgbClr>
                  </a:outerShdw>
                </a:effectLst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" name="Line 199"/>
                <p:cNvSpPr>
                  <a:spLocks noChangeShapeType="1"/>
                </p:cNvSpPr>
                <p:nvPr/>
              </p:nvSpPr>
              <p:spPr bwMode="auto">
                <a:xfrm flipH="1">
                  <a:off x="2094" y="2329"/>
                  <a:ext cx="4" cy="83"/>
                </a:xfrm>
                <a:prstGeom prst="line">
                  <a:avLst/>
                </a:prstGeom>
                <a:noFill/>
                <a:ln w="9525">
                  <a:solidFill>
                    <a:srgbClr val="808080"/>
                  </a:solidFill>
                  <a:round/>
                  <a:headEnd/>
                  <a:tailEnd/>
                </a:ln>
                <a:effectLst>
                  <a:outerShdw dist="17961" dir="18900000" algn="ctr" rotWithShape="0">
                    <a:srgbClr val="969696">
                      <a:alpha val="50000"/>
                    </a:srgbClr>
                  </a:outerShdw>
                </a:effectLst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" name="Line 200"/>
                <p:cNvSpPr>
                  <a:spLocks noChangeShapeType="1"/>
                </p:cNvSpPr>
                <p:nvPr/>
              </p:nvSpPr>
              <p:spPr bwMode="auto">
                <a:xfrm flipH="1">
                  <a:off x="2106" y="2329"/>
                  <a:ext cx="2" cy="81"/>
                </a:xfrm>
                <a:prstGeom prst="line">
                  <a:avLst/>
                </a:prstGeom>
                <a:noFill/>
                <a:ln w="9525">
                  <a:solidFill>
                    <a:srgbClr val="808080"/>
                  </a:solidFill>
                  <a:round/>
                  <a:headEnd/>
                  <a:tailEnd/>
                </a:ln>
                <a:effectLst>
                  <a:outerShdw dist="17961" dir="18900000" algn="ctr" rotWithShape="0">
                    <a:srgbClr val="969696">
                      <a:alpha val="50000"/>
                    </a:srgbClr>
                  </a:outerShdw>
                </a:effectLst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" name="Line 201"/>
                <p:cNvSpPr>
                  <a:spLocks noChangeShapeType="1"/>
                </p:cNvSpPr>
                <p:nvPr/>
              </p:nvSpPr>
              <p:spPr bwMode="auto">
                <a:xfrm flipH="1">
                  <a:off x="2118" y="2323"/>
                  <a:ext cx="2" cy="83"/>
                </a:xfrm>
                <a:prstGeom prst="line">
                  <a:avLst/>
                </a:prstGeom>
                <a:noFill/>
                <a:ln w="9525">
                  <a:solidFill>
                    <a:srgbClr val="808080"/>
                  </a:solidFill>
                  <a:round/>
                  <a:headEnd/>
                  <a:tailEnd/>
                </a:ln>
                <a:effectLst>
                  <a:outerShdw dist="17961" dir="18900000" algn="ctr" rotWithShape="0">
                    <a:srgbClr val="969696">
                      <a:alpha val="50000"/>
                    </a:srgbClr>
                  </a:outerShdw>
                </a:effectLst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" name="Line 202"/>
                <p:cNvSpPr>
                  <a:spLocks noChangeShapeType="1"/>
                </p:cNvSpPr>
                <p:nvPr/>
              </p:nvSpPr>
              <p:spPr bwMode="auto">
                <a:xfrm flipH="1">
                  <a:off x="2129" y="2323"/>
                  <a:ext cx="2" cy="81"/>
                </a:xfrm>
                <a:prstGeom prst="line">
                  <a:avLst/>
                </a:prstGeom>
                <a:noFill/>
                <a:ln w="9525">
                  <a:solidFill>
                    <a:srgbClr val="808080"/>
                  </a:solidFill>
                  <a:round/>
                  <a:headEnd/>
                  <a:tailEnd/>
                </a:ln>
                <a:effectLst>
                  <a:outerShdw dist="17961" dir="18900000" algn="ctr" rotWithShape="0">
                    <a:srgbClr val="969696">
                      <a:alpha val="50000"/>
                    </a:srgbClr>
                  </a:outerShdw>
                </a:effectLst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" name="Line 203"/>
                <p:cNvSpPr>
                  <a:spLocks noChangeShapeType="1"/>
                </p:cNvSpPr>
                <p:nvPr/>
              </p:nvSpPr>
              <p:spPr bwMode="auto">
                <a:xfrm flipH="1">
                  <a:off x="2141" y="2321"/>
                  <a:ext cx="2" cy="83"/>
                </a:xfrm>
                <a:prstGeom prst="line">
                  <a:avLst/>
                </a:prstGeom>
                <a:noFill/>
                <a:ln w="9525">
                  <a:solidFill>
                    <a:srgbClr val="808080"/>
                  </a:solidFill>
                  <a:round/>
                  <a:headEnd/>
                  <a:tailEnd/>
                </a:ln>
                <a:effectLst>
                  <a:outerShdw dist="17961" dir="18900000" algn="ctr" rotWithShape="0">
                    <a:srgbClr val="969696">
                      <a:alpha val="50000"/>
                    </a:srgbClr>
                  </a:outerShdw>
                </a:effectLst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" name="Line 204"/>
                <p:cNvSpPr>
                  <a:spLocks noChangeShapeType="1"/>
                </p:cNvSpPr>
                <p:nvPr/>
              </p:nvSpPr>
              <p:spPr bwMode="auto">
                <a:xfrm flipH="1">
                  <a:off x="2154" y="2319"/>
                  <a:ext cx="2" cy="81"/>
                </a:xfrm>
                <a:prstGeom prst="line">
                  <a:avLst/>
                </a:prstGeom>
                <a:noFill/>
                <a:ln w="9525">
                  <a:solidFill>
                    <a:srgbClr val="808080"/>
                  </a:solidFill>
                  <a:round/>
                  <a:headEnd/>
                  <a:tailEnd/>
                </a:ln>
                <a:effectLst>
                  <a:outerShdw dist="17961" dir="18900000" algn="ctr" rotWithShape="0">
                    <a:srgbClr val="969696">
                      <a:alpha val="50000"/>
                    </a:srgbClr>
                  </a:outerShdw>
                </a:effectLst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" name="Freeform 205"/>
                <p:cNvSpPr>
                  <a:spLocks/>
                </p:cNvSpPr>
                <p:nvPr/>
              </p:nvSpPr>
              <p:spPr bwMode="auto">
                <a:xfrm>
                  <a:off x="1862" y="2371"/>
                  <a:ext cx="93" cy="68"/>
                </a:xfrm>
                <a:custGeom>
                  <a:avLst/>
                  <a:gdLst/>
                  <a:ahLst/>
                  <a:cxnLst>
                    <a:cxn ang="0">
                      <a:pos x="2" y="33"/>
                    </a:cxn>
                    <a:cxn ang="0">
                      <a:pos x="0" y="138"/>
                    </a:cxn>
                    <a:cxn ang="0">
                      <a:pos x="186" y="104"/>
                    </a:cxn>
                    <a:cxn ang="0">
                      <a:pos x="186" y="0"/>
                    </a:cxn>
                    <a:cxn ang="0">
                      <a:pos x="2" y="33"/>
                    </a:cxn>
                  </a:cxnLst>
                  <a:rect l="0" t="0" r="r" b="b"/>
                  <a:pathLst>
                    <a:path w="186" h="138">
                      <a:moveTo>
                        <a:pt x="2" y="33"/>
                      </a:moveTo>
                      <a:lnTo>
                        <a:pt x="0" y="138"/>
                      </a:lnTo>
                      <a:lnTo>
                        <a:pt x="186" y="104"/>
                      </a:lnTo>
                      <a:lnTo>
                        <a:pt x="186" y="0"/>
                      </a:lnTo>
                      <a:lnTo>
                        <a:pt x="2" y="33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969696"/>
                    </a:gs>
                    <a:gs pos="100000">
                      <a:srgbClr val="969696">
                        <a:gamma/>
                        <a:shade val="75686"/>
                        <a:invGamma/>
                      </a:srgbClr>
                    </a:gs>
                  </a:gsLst>
                  <a:lin ang="0" scaled="1"/>
                </a:gradFill>
                <a:ln w="3175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7" dist="17961" dir="13500000">
                    <a:srgbClr val="969696">
                      <a:alpha val="50000"/>
                    </a:srgbClr>
                  </a:prstShdw>
                </a:effectLst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" name="Line 206"/>
                <p:cNvSpPr>
                  <a:spLocks noChangeShapeType="1"/>
                </p:cNvSpPr>
                <p:nvPr/>
              </p:nvSpPr>
              <p:spPr bwMode="auto">
                <a:xfrm flipH="1">
                  <a:off x="1874" y="2408"/>
                  <a:ext cx="0" cy="21"/>
                </a:xfrm>
                <a:prstGeom prst="line">
                  <a:avLst/>
                </a:prstGeom>
                <a:noFill/>
                <a:ln w="9525">
                  <a:solidFill>
                    <a:srgbClr val="3399FF">
                      <a:alpha val="55000"/>
                    </a:srgbClr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" name="Line 207"/>
                <p:cNvSpPr>
                  <a:spLocks noChangeShapeType="1"/>
                </p:cNvSpPr>
                <p:nvPr/>
              </p:nvSpPr>
              <p:spPr bwMode="auto">
                <a:xfrm flipH="1">
                  <a:off x="1947" y="2394"/>
                  <a:ext cx="0" cy="19"/>
                </a:xfrm>
                <a:prstGeom prst="line">
                  <a:avLst/>
                </a:prstGeom>
                <a:noFill/>
                <a:ln w="9525">
                  <a:solidFill>
                    <a:srgbClr val="3399FF">
                      <a:alpha val="55000"/>
                    </a:srgbClr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" name="Line 208"/>
                <p:cNvSpPr>
                  <a:spLocks noChangeShapeType="1"/>
                </p:cNvSpPr>
                <p:nvPr/>
              </p:nvSpPr>
              <p:spPr bwMode="auto">
                <a:xfrm flipH="1">
                  <a:off x="1938" y="2404"/>
                  <a:ext cx="0" cy="15"/>
                </a:xfrm>
                <a:prstGeom prst="line">
                  <a:avLst/>
                </a:prstGeom>
                <a:noFill/>
                <a:ln w="9525">
                  <a:solidFill>
                    <a:srgbClr val="3399FF">
                      <a:alpha val="55000"/>
                    </a:srgbClr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" name="Line 209"/>
                <p:cNvSpPr>
                  <a:spLocks noChangeShapeType="1"/>
                </p:cNvSpPr>
                <p:nvPr/>
              </p:nvSpPr>
              <p:spPr bwMode="auto">
                <a:xfrm flipH="1">
                  <a:off x="1886" y="2417"/>
                  <a:ext cx="0" cy="14"/>
                </a:xfrm>
                <a:prstGeom prst="line">
                  <a:avLst/>
                </a:prstGeom>
                <a:noFill/>
                <a:ln w="9525">
                  <a:solidFill>
                    <a:srgbClr val="3399FF">
                      <a:alpha val="55000"/>
                    </a:srgbClr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" name="Line 210"/>
                <p:cNvSpPr>
                  <a:spLocks noChangeShapeType="1"/>
                </p:cNvSpPr>
                <p:nvPr/>
              </p:nvSpPr>
              <p:spPr bwMode="auto">
                <a:xfrm flipV="1">
                  <a:off x="1897" y="2419"/>
                  <a:ext cx="29" cy="6"/>
                </a:xfrm>
                <a:prstGeom prst="line">
                  <a:avLst/>
                </a:prstGeom>
                <a:noFill/>
                <a:ln w="9525">
                  <a:solidFill>
                    <a:srgbClr val="FFFF99">
                      <a:alpha val="45000"/>
                    </a:srgbClr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" name="Freeform 211"/>
                <p:cNvSpPr>
                  <a:spLocks/>
                </p:cNvSpPr>
                <p:nvPr/>
              </p:nvSpPr>
              <p:spPr bwMode="auto">
                <a:xfrm>
                  <a:off x="1671" y="2387"/>
                  <a:ext cx="116" cy="39"/>
                </a:xfrm>
                <a:custGeom>
                  <a:avLst/>
                  <a:gdLst/>
                  <a:ahLst/>
                  <a:cxnLst>
                    <a:cxn ang="0">
                      <a:pos x="0" y="20"/>
                    </a:cxn>
                    <a:cxn ang="0">
                      <a:pos x="1" y="38"/>
                    </a:cxn>
                    <a:cxn ang="0">
                      <a:pos x="116" y="19"/>
                    </a:cxn>
                    <a:cxn ang="0">
                      <a:pos x="116" y="0"/>
                    </a:cxn>
                    <a:cxn ang="0">
                      <a:pos x="0" y="20"/>
                    </a:cxn>
                  </a:cxnLst>
                  <a:rect l="0" t="0" r="r" b="b"/>
                  <a:pathLst>
                    <a:path w="116" h="38">
                      <a:moveTo>
                        <a:pt x="0" y="20"/>
                      </a:moveTo>
                      <a:lnTo>
                        <a:pt x="1" y="38"/>
                      </a:lnTo>
                      <a:lnTo>
                        <a:pt x="116" y="19"/>
                      </a:lnTo>
                      <a:lnTo>
                        <a:pt x="116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C0C0C0">
                        <a:gamma/>
                        <a:tint val="60784"/>
                        <a:invGamma/>
                      </a:srgbClr>
                    </a:gs>
                    <a:gs pos="100000">
                      <a:srgbClr val="C0C0C0"/>
                    </a:gs>
                  </a:gsLst>
                  <a:lin ang="0" scaled="1"/>
                </a:gradFill>
                <a:ln w="9525">
                  <a:noFill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" name="Line 212"/>
                <p:cNvSpPr>
                  <a:spLocks noChangeShapeType="1"/>
                </p:cNvSpPr>
                <p:nvPr/>
              </p:nvSpPr>
              <p:spPr bwMode="auto">
                <a:xfrm flipV="1">
                  <a:off x="1661" y="2394"/>
                  <a:ext cx="133" cy="23"/>
                </a:xfrm>
                <a:prstGeom prst="line">
                  <a:avLst/>
                </a:prstGeom>
                <a:noFill/>
                <a:ln w="3175">
                  <a:solidFill>
                    <a:srgbClr val="5F5F5F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16" name="Group 213"/>
              <p:cNvGrpSpPr>
                <a:grpSpLocks/>
              </p:cNvGrpSpPr>
              <p:nvPr/>
            </p:nvGrpSpPr>
            <p:grpSpPr bwMode="auto">
              <a:xfrm flipH="1">
                <a:off x="1536" y="1680"/>
                <a:ext cx="585" cy="583"/>
                <a:chOff x="1829" y="1130"/>
                <a:chExt cx="1859" cy="1865"/>
              </a:xfrm>
            </p:grpSpPr>
            <p:grpSp>
              <p:nvGrpSpPr>
                <p:cNvPr id="117" name="Group 214"/>
                <p:cNvGrpSpPr>
                  <a:grpSpLocks/>
                </p:cNvGrpSpPr>
                <p:nvPr/>
              </p:nvGrpSpPr>
              <p:grpSpPr bwMode="auto">
                <a:xfrm>
                  <a:off x="2470" y="1323"/>
                  <a:ext cx="1218" cy="1259"/>
                  <a:chOff x="2601" y="1199"/>
                  <a:chExt cx="1218" cy="1408"/>
                </a:xfrm>
              </p:grpSpPr>
              <p:sp>
                <p:nvSpPr>
                  <p:cNvPr id="130" name="Freeform 215"/>
                  <p:cNvSpPr>
                    <a:spLocks/>
                  </p:cNvSpPr>
                  <p:nvPr/>
                </p:nvSpPr>
                <p:spPr bwMode="auto">
                  <a:xfrm>
                    <a:off x="2598" y="1201"/>
                    <a:ext cx="1217" cy="180"/>
                  </a:xfrm>
                  <a:custGeom>
                    <a:avLst/>
                    <a:gdLst/>
                    <a:ahLst/>
                    <a:cxnLst>
                      <a:cxn ang="0">
                        <a:pos x="1205" y="151"/>
                      </a:cxn>
                      <a:cxn ang="0">
                        <a:pos x="964" y="178"/>
                      </a:cxn>
                      <a:cxn ang="0">
                        <a:pos x="0" y="0"/>
                      </a:cxn>
                      <a:cxn ang="0">
                        <a:pos x="1205" y="151"/>
                      </a:cxn>
                    </a:cxnLst>
                    <a:rect l="0" t="0" r="r" b="b"/>
                    <a:pathLst>
                      <a:path w="1205" h="178">
                        <a:moveTo>
                          <a:pt x="1205" y="151"/>
                        </a:moveTo>
                        <a:lnTo>
                          <a:pt x="964" y="178"/>
                        </a:lnTo>
                        <a:lnTo>
                          <a:pt x="0" y="0"/>
                        </a:lnTo>
                        <a:lnTo>
                          <a:pt x="1205" y="151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 w="9525">
                    <a:solidFill>
                      <a:srgbClr val="969696"/>
                    </a:solidFill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latinLnBrk="0">
                      <a:defRPr/>
                    </a:pPr>
                    <a:endParaRPr lang="ko-KR" altLang="en-US" sz="1600" ker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1" name="Freeform 216"/>
                  <p:cNvSpPr>
                    <a:spLocks/>
                  </p:cNvSpPr>
                  <p:nvPr/>
                </p:nvSpPr>
                <p:spPr bwMode="auto">
                  <a:xfrm>
                    <a:off x="3415" y="1360"/>
                    <a:ext cx="406" cy="1245"/>
                  </a:xfrm>
                  <a:custGeom>
                    <a:avLst/>
                    <a:gdLst/>
                    <a:ahLst/>
                    <a:cxnLst>
                      <a:cxn ang="0">
                        <a:pos x="405" y="0"/>
                      </a:cxn>
                      <a:cxn ang="0">
                        <a:pos x="389" y="1000"/>
                      </a:cxn>
                      <a:cxn ang="0">
                        <a:pos x="133" y="1241"/>
                      </a:cxn>
                      <a:cxn ang="0">
                        <a:pos x="0" y="13"/>
                      </a:cxn>
                      <a:cxn ang="0">
                        <a:pos x="189" y="24"/>
                      </a:cxn>
                      <a:cxn ang="0">
                        <a:pos x="405" y="0"/>
                      </a:cxn>
                    </a:cxnLst>
                    <a:rect l="0" t="0" r="r" b="b"/>
                    <a:pathLst>
                      <a:path w="405" h="1241">
                        <a:moveTo>
                          <a:pt x="405" y="0"/>
                        </a:moveTo>
                        <a:lnTo>
                          <a:pt x="389" y="1000"/>
                        </a:lnTo>
                        <a:lnTo>
                          <a:pt x="133" y="1241"/>
                        </a:lnTo>
                        <a:lnTo>
                          <a:pt x="0" y="13"/>
                        </a:lnTo>
                        <a:lnTo>
                          <a:pt x="189" y="24"/>
                        </a:lnTo>
                        <a:lnTo>
                          <a:pt x="405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969696">
                          <a:gamma/>
                          <a:tint val="48627"/>
                          <a:invGamma/>
                        </a:srgbClr>
                      </a:gs>
                      <a:gs pos="100000">
                        <a:srgbClr val="969696"/>
                      </a:gs>
                    </a:gsLst>
                    <a:lin ang="0" scaled="1"/>
                  </a:gradFill>
                  <a:ln w="9525">
                    <a:solidFill>
                      <a:srgbClr val="969696"/>
                    </a:solidFill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latinLnBrk="0">
                      <a:defRPr/>
                    </a:pPr>
                    <a:endParaRPr lang="ko-KR" altLang="en-US" sz="1600" kern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8" name="Oval 217"/>
                <p:cNvSpPr>
                  <a:spLocks noChangeArrowheads="1"/>
                </p:cNvSpPr>
                <p:nvPr/>
              </p:nvSpPr>
              <p:spPr bwMode="auto">
                <a:xfrm flipH="1">
                  <a:off x="2270" y="2679"/>
                  <a:ext cx="1106" cy="315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" name="Oval 218"/>
                <p:cNvSpPr>
                  <a:spLocks noChangeArrowheads="1"/>
                </p:cNvSpPr>
                <p:nvPr/>
              </p:nvSpPr>
              <p:spPr bwMode="auto">
                <a:xfrm flipH="1">
                  <a:off x="2270" y="2654"/>
                  <a:ext cx="1106" cy="3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0C0C0"/>
                    </a:gs>
                    <a:gs pos="100000">
                      <a:srgbClr val="EAEAEA"/>
                    </a:gs>
                  </a:gsLst>
                  <a:lin ang="2700000" scaled="1"/>
                </a:gradFill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0" name="Freeform 219"/>
                <p:cNvSpPr>
                  <a:spLocks/>
                </p:cNvSpPr>
                <p:nvPr/>
              </p:nvSpPr>
              <p:spPr bwMode="auto">
                <a:xfrm>
                  <a:off x="1827" y="1139"/>
                  <a:ext cx="1623" cy="1732"/>
                </a:xfrm>
                <a:custGeom>
                  <a:avLst/>
                  <a:gdLst/>
                  <a:ahLst/>
                  <a:cxnLst>
                    <a:cxn ang="0">
                      <a:pos x="1602" y="204"/>
                    </a:cxn>
                    <a:cxn ang="0">
                      <a:pos x="5" y="0"/>
                    </a:cxn>
                    <a:cxn ang="0">
                      <a:pos x="0" y="1488"/>
                    </a:cxn>
                    <a:cxn ang="0">
                      <a:pos x="1597" y="1734"/>
                    </a:cxn>
                    <a:cxn ang="0">
                      <a:pos x="1602" y="204"/>
                    </a:cxn>
                  </a:cxnLst>
                  <a:rect l="0" t="0" r="r" b="b"/>
                  <a:pathLst>
                    <a:path w="1602" h="1734">
                      <a:moveTo>
                        <a:pt x="1602" y="204"/>
                      </a:moveTo>
                      <a:lnTo>
                        <a:pt x="5" y="0"/>
                      </a:lnTo>
                      <a:lnTo>
                        <a:pt x="0" y="1488"/>
                      </a:lnTo>
                      <a:lnTo>
                        <a:pt x="1597" y="1734"/>
                      </a:lnTo>
                      <a:lnTo>
                        <a:pt x="1602" y="204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FFFFFF"/>
                    </a:gs>
                    <a:gs pos="100000">
                      <a:srgbClr val="DDDDDD"/>
                    </a:gs>
                  </a:gsLst>
                  <a:lin ang="5400000" scaled="1"/>
                </a:gra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" name="Freeform 220"/>
                <p:cNvSpPr>
                  <a:spLocks/>
                </p:cNvSpPr>
                <p:nvPr/>
              </p:nvSpPr>
              <p:spPr bwMode="auto">
                <a:xfrm>
                  <a:off x="1895" y="2543"/>
                  <a:ext cx="1334" cy="328"/>
                </a:xfrm>
                <a:custGeom>
                  <a:avLst/>
                  <a:gdLst/>
                  <a:ahLst/>
                  <a:cxnLst>
                    <a:cxn ang="0">
                      <a:pos x="1327" y="200"/>
                    </a:cxn>
                    <a:cxn ang="0">
                      <a:pos x="0" y="0"/>
                    </a:cxn>
                    <a:cxn ang="0">
                      <a:pos x="0" y="115"/>
                    </a:cxn>
                    <a:cxn ang="0">
                      <a:pos x="1330" y="330"/>
                    </a:cxn>
                    <a:cxn ang="0">
                      <a:pos x="1327" y="200"/>
                    </a:cxn>
                  </a:cxnLst>
                  <a:rect l="0" t="0" r="r" b="b"/>
                  <a:pathLst>
                    <a:path w="1330" h="330">
                      <a:moveTo>
                        <a:pt x="1327" y="200"/>
                      </a:moveTo>
                      <a:lnTo>
                        <a:pt x="0" y="0"/>
                      </a:lnTo>
                      <a:lnTo>
                        <a:pt x="0" y="115"/>
                      </a:lnTo>
                      <a:lnTo>
                        <a:pt x="1330" y="330"/>
                      </a:lnTo>
                      <a:lnTo>
                        <a:pt x="1327" y="20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C0C0C0"/>
                    </a:gs>
                    <a:gs pos="50000">
                      <a:srgbClr val="FFFFFF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2" name="Freeform 221"/>
                <p:cNvSpPr>
                  <a:spLocks/>
                </p:cNvSpPr>
                <p:nvPr/>
              </p:nvSpPr>
              <p:spPr bwMode="auto">
                <a:xfrm>
                  <a:off x="3438" y="1337"/>
                  <a:ext cx="55" cy="1534"/>
                </a:xfrm>
                <a:custGeom>
                  <a:avLst/>
                  <a:gdLst/>
                  <a:ahLst/>
                  <a:cxnLst>
                    <a:cxn ang="0">
                      <a:pos x="4" y="16"/>
                    </a:cxn>
                    <a:cxn ang="0">
                      <a:pos x="56" y="0"/>
                    </a:cxn>
                    <a:cxn ang="0">
                      <a:pos x="46" y="1513"/>
                    </a:cxn>
                    <a:cxn ang="0">
                      <a:pos x="0" y="1536"/>
                    </a:cxn>
                    <a:cxn ang="0">
                      <a:pos x="4" y="16"/>
                    </a:cxn>
                  </a:cxnLst>
                  <a:rect l="0" t="0" r="r" b="b"/>
                  <a:pathLst>
                    <a:path w="56" h="1536">
                      <a:moveTo>
                        <a:pt x="4" y="16"/>
                      </a:moveTo>
                      <a:lnTo>
                        <a:pt x="56" y="0"/>
                      </a:lnTo>
                      <a:lnTo>
                        <a:pt x="46" y="1513"/>
                      </a:lnTo>
                      <a:lnTo>
                        <a:pt x="0" y="1536"/>
                      </a:lnTo>
                      <a:lnTo>
                        <a:pt x="4" y="16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777777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" name="Oval 222"/>
                <p:cNvSpPr>
                  <a:spLocks noChangeArrowheads="1"/>
                </p:cNvSpPr>
                <p:nvPr/>
              </p:nvSpPr>
              <p:spPr bwMode="auto">
                <a:xfrm flipH="1">
                  <a:off x="1969" y="2568"/>
                  <a:ext cx="49" cy="93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4" name="Oval 223"/>
                <p:cNvSpPr>
                  <a:spLocks noChangeArrowheads="1"/>
                </p:cNvSpPr>
                <p:nvPr/>
              </p:nvSpPr>
              <p:spPr bwMode="auto">
                <a:xfrm flipH="1">
                  <a:off x="2061" y="2592"/>
                  <a:ext cx="43" cy="74"/>
                </a:xfrm>
                <a:prstGeom prst="ellipse">
                  <a:avLst/>
                </a:prstGeom>
                <a:solidFill>
                  <a:srgbClr val="C0C0C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" name="Oval 224"/>
                <p:cNvSpPr>
                  <a:spLocks noChangeArrowheads="1"/>
                </p:cNvSpPr>
                <p:nvPr/>
              </p:nvSpPr>
              <p:spPr bwMode="auto">
                <a:xfrm flipH="1">
                  <a:off x="2356" y="2661"/>
                  <a:ext cx="55" cy="56"/>
                </a:xfrm>
                <a:prstGeom prst="ellipse">
                  <a:avLst/>
                </a:prstGeom>
                <a:solidFill>
                  <a:srgbClr val="C0C0C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" name="Oval 225"/>
                <p:cNvSpPr>
                  <a:spLocks noChangeArrowheads="1"/>
                </p:cNvSpPr>
                <p:nvPr/>
              </p:nvSpPr>
              <p:spPr bwMode="auto">
                <a:xfrm flipH="1">
                  <a:off x="2454" y="2679"/>
                  <a:ext cx="49" cy="56"/>
                </a:xfrm>
                <a:prstGeom prst="ellipse">
                  <a:avLst/>
                </a:prstGeom>
                <a:solidFill>
                  <a:srgbClr val="C0C0C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" name="Oval 226"/>
                <p:cNvSpPr>
                  <a:spLocks noChangeArrowheads="1"/>
                </p:cNvSpPr>
                <p:nvPr/>
              </p:nvSpPr>
              <p:spPr bwMode="auto">
                <a:xfrm flipH="1">
                  <a:off x="2553" y="2691"/>
                  <a:ext cx="55" cy="56"/>
                </a:xfrm>
                <a:prstGeom prst="ellipse">
                  <a:avLst/>
                </a:prstGeom>
                <a:solidFill>
                  <a:srgbClr val="C0C0C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" name="Freeform 227"/>
                <p:cNvSpPr>
                  <a:spLocks/>
                </p:cNvSpPr>
                <p:nvPr/>
              </p:nvSpPr>
              <p:spPr bwMode="auto">
                <a:xfrm>
                  <a:off x="1952" y="1310"/>
                  <a:ext cx="1342" cy="1363"/>
                </a:xfrm>
                <a:custGeom>
                  <a:avLst/>
                  <a:gdLst>
                    <a:gd name="T0" fmla="*/ 1312 w 1345"/>
                    <a:gd name="T1" fmla="*/ 167 h 1366"/>
                    <a:gd name="T2" fmla="*/ 0 w 1345"/>
                    <a:gd name="T3" fmla="*/ 0 h 1366"/>
                    <a:gd name="T4" fmla="*/ 0 w 1345"/>
                    <a:gd name="T5" fmla="*/ 1139 h 1366"/>
                    <a:gd name="T6" fmla="*/ 1327 w 1345"/>
                    <a:gd name="T7" fmla="*/ 1348 h 1366"/>
                    <a:gd name="T8" fmla="*/ 1312 w 1345"/>
                    <a:gd name="T9" fmla="*/ 167 h 13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45"/>
                    <a:gd name="T16" fmla="*/ 0 h 1366"/>
                    <a:gd name="T17" fmla="*/ 1345 w 1345"/>
                    <a:gd name="T18" fmla="*/ 1366 h 136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45" h="1366">
                      <a:moveTo>
                        <a:pt x="1330" y="167"/>
                      </a:moveTo>
                      <a:lnTo>
                        <a:pt x="0" y="0"/>
                      </a:lnTo>
                      <a:lnTo>
                        <a:pt x="0" y="1157"/>
                      </a:lnTo>
                      <a:lnTo>
                        <a:pt x="1345" y="1366"/>
                      </a:lnTo>
                      <a:lnTo>
                        <a:pt x="1330" y="167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C0C0C0"/>
                    </a:gs>
                    <a:gs pos="100000">
                      <a:srgbClr val="4D4D4D"/>
                    </a:gs>
                  </a:gsLst>
                  <a:lin ang="5400000" scaled="1"/>
                </a:gra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latinLnBrk="0"/>
                  <a:endParaRPr lang="ko-KR" alt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" name="Freeform 228"/>
                <p:cNvSpPr>
                  <a:spLocks/>
                </p:cNvSpPr>
                <p:nvPr/>
              </p:nvSpPr>
              <p:spPr bwMode="auto">
                <a:xfrm>
                  <a:off x="1833" y="1133"/>
                  <a:ext cx="1660" cy="216"/>
                </a:xfrm>
                <a:custGeom>
                  <a:avLst/>
                  <a:gdLst/>
                  <a:ahLst/>
                  <a:cxnLst>
                    <a:cxn ang="0">
                      <a:pos x="0" y="10"/>
                    </a:cxn>
                    <a:cxn ang="0">
                      <a:pos x="68" y="0"/>
                    </a:cxn>
                    <a:cxn ang="0">
                      <a:pos x="1660" y="199"/>
                    </a:cxn>
                    <a:cxn ang="0">
                      <a:pos x="1613" y="214"/>
                    </a:cxn>
                    <a:cxn ang="0">
                      <a:pos x="0" y="10"/>
                    </a:cxn>
                  </a:cxnLst>
                  <a:rect l="0" t="0" r="r" b="b"/>
                  <a:pathLst>
                    <a:path w="1660" h="214">
                      <a:moveTo>
                        <a:pt x="0" y="10"/>
                      </a:moveTo>
                      <a:lnTo>
                        <a:pt x="68" y="0"/>
                      </a:lnTo>
                      <a:lnTo>
                        <a:pt x="1660" y="199"/>
                      </a:lnTo>
                      <a:lnTo>
                        <a:pt x="1613" y="214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169" name="Picture 2" descr="C:\Users\Toshiba\AppData\Local\Microsoft\Windows\Temporary Internet Files\Content.IE5\TBE21NJN\MC900428971[1].wmf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590982" y="4406644"/>
              <a:ext cx="594785" cy="952938"/>
            </a:xfrm>
            <a:prstGeom prst="rect">
              <a:avLst/>
            </a:prstGeom>
            <a:noFill/>
          </p:spPr>
        </p:pic>
        <p:grpSp>
          <p:nvGrpSpPr>
            <p:cNvPr id="170" name="그룹 169"/>
            <p:cNvGrpSpPr/>
            <p:nvPr/>
          </p:nvGrpSpPr>
          <p:grpSpPr>
            <a:xfrm>
              <a:off x="3233715" y="4704797"/>
              <a:ext cx="594318" cy="301505"/>
              <a:chOff x="1993293" y="2564030"/>
              <a:chExt cx="807572" cy="288942"/>
            </a:xfrm>
          </p:grpSpPr>
          <p:sp>
            <p:nvSpPr>
              <p:cNvPr id="171" name="AutoShape 26"/>
              <p:cNvSpPr>
                <a:spLocks noChangeArrowheads="1"/>
              </p:cNvSpPr>
              <p:nvPr/>
            </p:nvSpPr>
            <p:spPr bwMode="auto">
              <a:xfrm>
                <a:off x="1993293" y="2564030"/>
                <a:ext cx="807572" cy="288942"/>
              </a:xfrm>
              <a:prstGeom prst="cube">
                <a:avLst>
                  <a:gd name="adj" fmla="val 55426"/>
                </a:avLst>
              </a:prstGeom>
              <a:gradFill rotWithShape="1">
                <a:gsLst>
                  <a:gs pos="0">
                    <a:srgbClr val="EAEAEA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77777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2" name="WordArt 2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009917" y="2728044"/>
                <a:ext cx="584994" cy="1249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ko-KR" sz="3600" kern="10" dirty="0">
                    <a:ln w="9525">
                      <a:solidFill>
                        <a:srgbClr val="808080"/>
                      </a:solidFill>
                      <a:round/>
                      <a:headEnd/>
                      <a:tailEnd/>
                    </a:ln>
                    <a:solidFill>
                      <a:srgbClr val="80808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</a:t>
                </a:r>
                <a:endParaRPr lang="ko-KR" altLang="en-US" sz="3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1981130" y="5277665"/>
              <a:ext cx="10214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192.168.1.10/24</a:t>
              </a:r>
              <a:endParaRPr lang="ko-KR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9307631" y="5358162"/>
              <a:ext cx="10214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192.168.2.20/24</a:t>
              </a:r>
              <a:endParaRPr lang="ko-KR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5" name="Group 19"/>
            <p:cNvGrpSpPr>
              <a:grpSpLocks/>
            </p:cNvGrpSpPr>
            <p:nvPr/>
          </p:nvGrpSpPr>
          <p:grpSpPr bwMode="auto">
            <a:xfrm>
              <a:off x="4371443" y="4749377"/>
              <a:ext cx="720590" cy="276802"/>
              <a:chOff x="3682" y="2312"/>
              <a:chExt cx="786" cy="497"/>
            </a:xfrm>
          </p:grpSpPr>
          <p:sp>
            <p:nvSpPr>
              <p:cNvPr id="176" name="AutoShape 20"/>
              <p:cNvSpPr>
                <a:spLocks noChangeArrowheads="1"/>
              </p:cNvSpPr>
              <p:nvPr/>
            </p:nvSpPr>
            <p:spPr bwMode="auto">
              <a:xfrm>
                <a:off x="3683" y="2317"/>
                <a:ext cx="785" cy="492"/>
              </a:xfrm>
              <a:prstGeom prst="can">
                <a:avLst>
                  <a:gd name="adj" fmla="val 50000"/>
                </a:avLst>
              </a:prstGeom>
              <a:gradFill rotWithShape="1">
                <a:gsLst>
                  <a:gs pos="0">
                    <a:srgbClr val="DDDDDD"/>
                  </a:gs>
                  <a:gs pos="50000">
                    <a:srgbClr val="DDDDDD">
                      <a:gamma/>
                      <a:tint val="9020"/>
                      <a:invGamma/>
                    </a:srgbClr>
                  </a:gs>
                  <a:gs pos="100000">
                    <a:srgbClr val="DDDDDD"/>
                  </a:gs>
                </a:gsLst>
                <a:lin ang="0" scaled="1"/>
              </a:gradFill>
              <a:ln w="9525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7" name="WordArt 2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19" y="2513"/>
                <a:ext cx="717" cy="24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altLang="ko-KR" sz="5400" kern="10" dirty="0">
                    <a:ln w="9525">
                      <a:solidFill>
                        <a:srgbClr val="808080"/>
                      </a:solidFill>
                      <a:round/>
                      <a:headEnd/>
                      <a:tailEnd/>
                    </a:ln>
                    <a:solidFill>
                      <a:srgbClr val="777777"/>
                    </a:solidFill>
                    <a:latin typeface="Times New Roman" pitchFamily="18" charset="0"/>
                    <a:ea typeface="Tahoma"/>
                    <a:cs typeface="Times New Roman" pitchFamily="18" charset="0"/>
                  </a:rPr>
                  <a:t>ROUTER</a:t>
                </a:r>
                <a:endParaRPr lang="ko-KR" altLang="en-US" sz="54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8" name="Oval 22"/>
              <p:cNvSpPr>
                <a:spLocks noChangeArrowheads="1"/>
              </p:cNvSpPr>
              <p:nvPr/>
            </p:nvSpPr>
            <p:spPr bwMode="auto">
              <a:xfrm>
                <a:off x="3682" y="2312"/>
                <a:ext cx="786" cy="249"/>
              </a:xfrm>
              <a:prstGeom prst="ellipse">
                <a:avLst/>
              </a:prstGeom>
              <a:gradFill rotWithShape="1">
                <a:gsLst>
                  <a:gs pos="0">
                    <a:srgbClr val="EAEAEA"/>
                  </a:gs>
                  <a:gs pos="100000">
                    <a:srgbClr val="EAEAEA">
                      <a:gamma/>
                      <a:tint val="33333"/>
                      <a:invGamma/>
                    </a:srgbClr>
                  </a:gs>
                </a:gsLst>
                <a:lin ang="18900000" scaled="1"/>
              </a:gradFill>
              <a:ln w="9525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9" name="AutoShape 23"/>
              <p:cNvSpPr>
                <a:spLocks noChangeArrowheads="1"/>
              </p:cNvSpPr>
              <p:nvPr/>
            </p:nvSpPr>
            <p:spPr bwMode="auto">
              <a:xfrm rot="5400000">
                <a:off x="4082" y="2198"/>
                <a:ext cx="115" cy="485"/>
              </a:xfrm>
              <a:custGeom>
                <a:avLst/>
                <a:gdLst>
                  <a:gd name="T0" fmla="*/ 38 w 21600"/>
                  <a:gd name="T1" fmla="*/ 14 h 21600"/>
                  <a:gd name="T2" fmla="*/ 19 w 21600"/>
                  <a:gd name="T3" fmla="*/ 353 h 21600"/>
                  <a:gd name="T4" fmla="*/ 46 w 21600"/>
                  <a:gd name="T5" fmla="*/ 103 h 21600"/>
                  <a:gd name="T6" fmla="*/ 129 w 21600"/>
                  <a:gd name="T7" fmla="*/ 217 h 21600"/>
                  <a:gd name="T8" fmla="*/ 106 w 21600"/>
                  <a:gd name="T9" fmla="*/ 333 h 21600"/>
                  <a:gd name="T10" fmla="*/ 78 w 21600"/>
                  <a:gd name="T11" fmla="*/ 235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3193 w 21600"/>
                  <a:gd name="T19" fmla="*/ 3162 h 21600"/>
                  <a:gd name="T20" fmla="*/ 18407 w 21600"/>
                  <a:gd name="T21" fmla="*/ 18438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17370" y="10242"/>
                    </a:moveTo>
                    <a:cubicBezTo>
                      <a:pt x="17080" y="6828"/>
                      <a:pt x="14225" y="4206"/>
                      <a:pt x="10800" y="4206"/>
                    </a:cubicBezTo>
                    <a:cubicBezTo>
                      <a:pt x="7158" y="4206"/>
                      <a:pt x="4206" y="7158"/>
                      <a:pt x="4206" y="10800"/>
                    </a:cubicBezTo>
                    <a:cubicBezTo>
                      <a:pt x="4205" y="12133"/>
                      <a:pt x="4610" y="13436"/>
                      <a:pt x="5366" y="14535"/>
                    </a:cubicBezTo>
                    <a:lnTo>
                      <a:pt x="1900" y="16918"/>
                    </a:lnTo>
                    <a:cubicBezTo>
                      <a:pt x="662" y="15117"/>
                      <a:pt x="0" y="12984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410" y="-1"/>
                      <a:pt x="21086" y="4295"/>
                      <a:pt x="21561" y="9886"/>
                    </a:cubicBezTo>
                    <a:lnTo>
                      <a:pt x="24251" y="9657"/>
                    </a:lnTo>
                    <a:lnTo>
                      <a:pt x="19871" y="14849"/>
                    </a:lnTo>
                    <a:lnTo>
                      <a:pt x="14680" y="10470"/>
                    </a:lnTo>
                    <a:lnTo>
                      <a:pt x="17370" y="1024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808080"/>
                </a:solidFill>
                <a:miter lim="800000"/>
                <a:headEnd/>
                <a:tailEnd/>
              </a:ln>
              <a:effectLst>
                <a:outerShdw dist="25400" dir="5400000" algn="ctr" rotWithShape="0">
                  <a:srgbClr val="1C1C1C">
                    <a:alpha val="50000"/>
                  </a:srgbClr>
                </a:outerShdw>
              </a:effectLst>
            </p:spPr>
            <p:txBody>
              <a:bodyPr rot="10800000" vert="eaVert" wrap="none" anchor="ctr"/>
              <a:lstStyle/>
              <a:p>
                <a:pPr latinLnBrk="0">
                  <a:defRPr/>
                </a:pPr>
                <a:endParaRPr lang="ko-KR" altLang="en-US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0" name="AutoShape 24"/>
              <p:cNvSpPr>
                <a:spLocks noChangeArrowheads="1"/>
              </p:cNvSpPr>
              <p:nvPr/>
            </p:nvSpPr>
            <p:spPr bwMode="auto">
              <a:xfrm rot="-5400000">
                <a:off x="3973" y="2157"/>
                <a:ext cx="113" cy="495"/>
              </a:xfrm>
              <a:custGeom>
                <a:avLst/>
                <a:gdLst>
                  <a:gd name="T0" fmla="*/ 37 w 21600"/>
                  <a:gd name="T1" fmla="*/ 14 h 21600"/>
                  <a:gd name="T2" fmla="*/ 19 w 21600"/>
                  <a:gd name="T3" fmla="*/ 360 h 21600"/>
                  <a:gd name="T4" fmla="*/ 45 w 21600"/>
                  <a:gd name="T5" fmla="*/ 105 h 21600"/>
                  <a:gd name="T6" fmla="*/ 127 w 21600"/>
                  <a:gd name="T7" fmla="*/ 221 h 21600"/>
                  <a:gd name="T8" fmla="*/ 104 w 21600"/>
                  <a:gd name="T9" fmla="*/ 340 h 21600"/>
                  <a:gd name="T10" fmla="*/ 77 w 21600"/>
                  <a:gd name="T11" fmla="*/ 24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3250 w 21600"/>
                  <a:gd name="T19" fmla="*/ 3142 h 21600"/>
                  <a:gd name="T20" fmla="*/ 18350 w 21600"/>
                  <a:gd name="T21" fmla="*/ 18458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17370" y="10242"/>
                    </a:moveTo>
                    <a:cubicBezTo>
                      <a:pt x="17080" y="6828"/>
                      <a:pt x="14225" y="4206"/>
                      <a:pt x="10800" y="4206"/>
                    </a:cubicBezTo>
                    <a:cubicBezTo>
                      <a:pt x="7158" y="4206"/>
                      <a:pt x="4206" y="7158"/>
                      <a:pt x="4206" y="10800"/>
                    </a:cubicBezTo>
                    <a:cubicBezTo>
                      <a:pt x="4205" y="12133"/>
                      <a:pt x="4610" y="13436"/>
                      <a:pt x="5366" y="14535"/>
                    </a:cubicBezTo>
                    <a:lnTo>
                      <a:pt x="1900" y="16918"/>
                    </a:lnTo>
                    <a:cubicBezTo>
                      <a:pt x="662" y="15117"/>
                      <a:pt x="0" y="12984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410" y="-1"/>
                      <a:pt x="21086" y="4295"/>
                      <a:pt x="21561" y="9886"/>
                    </a:cubicBezTo>
                    <a:lnTo>
                      <a:pt x="24251" y="9657"/>
                    </a:lnTo>
                    <a:lnTo>
                      <a:pt x="19871" y="14849"/>
                    </a:lnTo>
                    <a:lnTo>
                      <a:pt x="14680" y="10470"/>
                    </a:lnTo>
                    <a:lnTo>
                      <a:pt x="17370" y="1024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808080"/>
                </a:solidFill>
                <a:miter lim="800000"/>
                <a:headEnd/>
                <a:tailEnd/>
              </a:ln>
              <a:effectLst>
                <a:outerShdw dist="25400" dir="5400000" algn="ctr" rotWithShape="0">
                  <a:srgbClr val="1C1C1C">
                    <a:alpha val="50000"/>
                  </a:srgbClr>
                </a:outerShdw>
              </a:effectLst>
            </p:spPr>
            <p:txBody>
              <a:bodyPr vert="eaVert" wrap="none" anchor="ctr"/>
              <a:lstStyle/>
              <a:p>
                <a:pPr latinLnBrk="0">
                  <a:defRPr/>
                </a:pPr>
                <a:endParaRPr lang="ko-KR" altLang="en-US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181" name="Group 19"/>
            <p:cNvGrpSpPr>
              <a:grpSpLocks/>
            </p:cNvGrpSpPr>
            <p:nvPr/>
          </p:nvGrpSpPr>
          <p:grpSpPr bwMode="auto">
            <a:xfrm>
              <a:off x="7270989" y="4730523"/>
              <a:ext cx="720590" cy="276802"/>
              <a:chOff x="3682" y="2312"/>
              <a:chExt cx="786" cy="497"/>
            </a:xfrm>
          </p:grpSpPr>
          <p:sp>
            <p:nvSpPr>
              <p:cNvPr id="182" name="AutoShape 20"/>
              <p:cNvSpPr>
                <a:spLocks noChangeArrowheads="1"/>
              </p:cNvSpPr>
              <p:nvPr/>
            </p:nvSpPr>
            <p:spPr bwMode="auto">
              <a:xfrm>
                <a:off x="3683" y="2317"/>
                <a:ext cx="785" cy="492"/>
              </a:xfrm>
              <a:prstGeom prst="can">
                <a:avLst>
                  <a:gd name="adj" fmla="val 50000"/>
                </a:avLst>
              </a:prstGeom>
              <a:gradFill rotWithShape="1">
                <a:gsLst>
                  <a:gs pos="0">
                    <a:srgbClr val="DDDDDD"/>
                  </a:gs>
                  <a:gs pos="50000">
                    <a:srgbClr val="DDDDDD">
                      <a:gamma/>
                      <a:tint val="9020"/>
                      <a:invGamma/>
                    </a:srgbClr>
                  </a:gs>
                  <a:gs pos="100000">
                    <a:srgbClr val="DDDDDD"/>
                  </a:gs>
                </a:gsLst>
                <a:lin ang="0" scaled="1"/>
              </a:gradFill>
              <a:ln w="9525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3" name="WordArt 2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19" y="2513"/>
                <a:ext cx="717" cy="24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US" altLang="ko-KR" sz="5400" kern="10" dirty="0">
                    <a:ln w="9525">
                      <a:solidFill>
                        <a:srgbClr val="808080"/>
                      </a:solidFill>
                      <a:round/>
                      <a:headEnd/>
                      <a:tailEnd/>
                    </a:ln>
                    <a:solidFill>
                      <a:srgbClr val="777777"/>
                    </a:solidFill>
                    <a:latin typeface="Times New Roman" pitchFamily="18" charset="0"/>
                    <a:ea typeface="Tahoma"/>
                    <a:cs typeface="Times New Roman" pitchFamily="18" charset="0"/>
                  </a:rPr>
                  <a:t>ROUTER</a:t>
                </a:r>
                <a:endParaRPr lang="ko-KR" altLang="en-US" sz="54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4" name="Oval 22"/>
              <p:cNvSpPr>
                <a:spLocks noChangeArrowheads="1"/>
              </p:cNvSpPr>
              <p:nvPr/>
            </p:nvSpPr>
            <p:spPr bwMode="auto">
              <a:xfrm>
                <a:off x="3682" y="2312"/>
                <a:ext cx="786" cy="249"/>
              </a:xfrm>
              <a:prstGeom prst="ellipse">
                <a:avLst/>
              </a:prstGeom>
              <a:gradFill rotWithShape="1">
                <a:gsLst>
                  <a:gs pos="0">
                    <a:srgbClr val="EAEAEA"/>
                  </a:gs>
                  <a:gs pos="100000">
                    <a:srgbClr val="EAEAEA">
                      <a:gamma/>
                      <a:tint val="33333"/>
                      <a:invGamma/>
                    </a:srgbClr>
                  </a:gs>
                </a:gsLst>
                <a:lin ang="18900000" scaled="1"/>
              </a:gradFill>
              <a:ln w="9525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5" name="AutoShape 23"/>
              <p:cNvSpPr>
                <a:spLocks noChangeArrowheads="1"/>
              </p:cNvSpPr>
              <p:nvPr/>
            </p:nvSpPr>
            <p:spPr bwMode="auto">
              <a:xfrm rot="5400000">
                <a:off x="4082" y="2198"/>
                <a:ext cx="115" cy="485"/>
              </a:xfrm>
              <a:custGeom>
                <a:avLst/>
                <a:gdLst>
                  <a:gd name="T0" fmla="*/ 38 w 21600"/>
                  <a:gd name="T1" fmla="*/ 14 h 21600"/>
                  <a:gd name="T2" fmla="*/ 19 w 21600"/>
                  <a:gd name="T3" fmla="*/ 353 h 21600"/>
                  <a:gd name="T4" fmla="*/ 46 w 21600"/>
                  <a:gd name="T5" fmla="*/ 103 h 21600"/>
                  <a:gd name="T6" fmla="*/ 129 w 21600"/>
                  <a:gd name="T7" fmla="*/ 217 h 21600"/>
                  <a:gd name="T8" fmla="*/ 106 w 21600"/>
                  <a:gd name="T9" fmla="*/ 333 h 21600"/>
                  <a:gd name="T10" fmla="*/ 78 w 21600"/>
                  <a:gd name="T11" fmla="*/ 235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3193 w 21600"/>
                  <a:gd name="T19" fmla="*/ 3162 h 21600"/>
                  <a:gd name="T20" fmla="*/ 18407 w 21600"/>
                  <a:gd name="T21" fmla="*/ 18438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17370" y="10242"/>
                    </a:moveTo>
                    <a:cubicBezTo>
                      <a:pt x="17080" y="6828"/>
                      <a:pt x="14225" y="4206"/>
                      <a:pt x="10800" y="4206"/>
                    </a:cubicBezTo>
                    <a:cubicBezTo>
                      <a:pt x="7158" y="4206"/>
                      <a:pt x="4206" y="7158"/>
                      <a:pt x="4206" y="10800"/>
                    </a:cubicBezTo>
                    <a:cubicBezTo>
                      <a:pt x="4205" y="12133"/>
                      <a:pt x="4610" y="13436"/>
                      <a:pt x="5366" y="14535"/>
                    </a:cubicBezTo>
                    <a:lnTo>
                      <a:pt x="1900" y="16918"/>
                    </a:lnTo>
                    <a:cubicBezTo>
                      <a:pt x="662" y="15117"/>
                      <a:pt x="0" y="12984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410" y="-1"/>
                      <a:pt x="21086" y="4295"/>
                      <a:pt x="21561" y="9886"/>
                    </a:cubicBezTo>
                    <a:lnTo>
                      <a:pt x="24251" y="9657"/>
                    </a:lnTo>
                    <a:lnTo>
                      <a:pt x="19871" y="14849"/>
                    </a:lnTo>
                    <a:lnTo>
                      <a:pt x="14680" y="10470"/>
                    </a:lnTo>
                    <a:lnTo>
                      <a:pt x="17370" y="1024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808080"/>
                </a:solidFill>
                <a:miter lim="800000"/>
                <a:headEnd/>
                <a:tailEnd/>
              </a:ln>
              <a:effectLst>
                <a:outerShdw dist="25400" dir="5400000" algn="ctr" rotWithShape="0">
                  <a:srgbClr val="1C1C1C">
                    <a:alpha val="50000"/>
                  </a:srgbClr>
                </a:outerShdw>
              </a:effectLst>
            </p:spPr>
            <p:txBody>
              <a:bodyPr rot="10800000" vert="eaVert" wrap="none" anchor="ctr"/>
              <a:lstStyle/>
              <a:p>
                <a:pPr latinLnBrk="0">
                  <a:defRPr/>
                </a:pPr>
                <a:endParaRPr lang="ko-KR" altLang="en-US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6" name="AutoShape 24"/>
              <p:cNvSpPr>
                <a:spLocks noChangeArrowheads="1"/>
              </p:cNvSpPr>
              <p:nvPr/>
            </p:nvSpPr>
            <p:spPr bwMode="auto">
              <a:xfrm rot="-5400000">
                <a:off x="3973" y="2157"/>
                <a:ext cx="113" cy="495"/>
              </a:xfrm>
              <a:custGeom>
                <a:avLst/>
                <a:gdLst>
                  <a:gd name="T0" fmla="*/ 37 w 21600"/>
                  <a:gd name="T1" fmla="*/ 14 h 21600"/>
                  <a:gd name="T2" fmla="*/ 19 w 21600"/>
                  <a:gd name="T3" fmla="*/ 360 h 21600"/>
                  <a:gd name="T4" fmla="*/ 45 w 21600"/>
                  <a:gd name="T5" fmla="*/ 105 h 21600"/>
                  <a:gd name="T6" fmla="*/ 127 w 21600"/>
                  <a:gd name="T7" fmla="*/ 221 h 21600"/>
                  <a:gd name="T8" fmla="*/ 104 w 21600"/>
                  <a:gd name="T9" fmla="*/ 340 h 21600"/>
                  <a:gd name="T10" fmla="*/ 77 w 21600"/>
                  <a:gd name="T11" fmla="*/ 24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3250 w 21600"/>
                  <a:gd name="T19" fmla="*/ 3142 h 21600"/>
                  <a:gd name="T20" fmla="*/ 18350 w 21600"/>
                  <a:gd name="T21" fmla="*/ 18458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17370" y="10242"/>
                    </a:moveTo>
                    <a:cubicBezTo>
                      <a:pt x="17080" y="6828"/>
                      <a:pt x="14225" y="4206"/>
                      <a:pt x="10800" y="4206"/>
                    </a:cubicBezTo>
                    <a:cubicBezTo>
                      <a:pt x="7158" y="4206"/>
                      <a:pt x="4206" y="7158"/>
                      <a:pt x="4206" y="10800"/>
                    </a:cubicBezTo>
                    <a:cubicBezTo>
                      <a:pt x="4205" y="12133"/>
                      <a:pt x="4610" y="13436"/>
                      <a:pt x="5366" y="14535"/>
                    </a:cubicBezTo>
                    <a:lnTo>
                      <a:pt x="1900" y="16918"/>
                    </a:lnTo>
                    <a:cubicBezTo>
                      <a:pt x="662" y="15117"/>
                      <a:pt x="0" y="12984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410" y="-1"/>
                      <a:pt x="21086" y="4295"/>
                      <a:pt x="21561" y="9886"/>
                    </a:cubicBezTo>
                    <a:lnTo>
                      <a:pt x="24251" y="9657"/>
                    </a:lnTo>
                    <a:lnTo>
                      <a:pt x="19871" y="14849"/>
                    </a:lnTo>
                    <a:lnTo>
                      <a:pt x="14680" y="10470"/>
                    </a:lnTo>
                    <a:lnTo>
                      <a:pt x="17370" y="1024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808080"/>
                </a:solidFill>
                <a:miter lim="800000"/>
                <a:headEnd/>
                <a:tailEnd/>
              </a:ln>
              <a:effectLst>
                <a:outerShdw dist="25400" dir="5400000" algn="ctr" rotWithShape="0">
                  <a:srgbClr val="1C1C1C">
                    <a:alpha val="50000"/>
                  </a:srgbClr>
                </a:outerShdw>
              </a:effectLst>
            </p:spPr>
            <p:txBody>
              <a:bodyPr vert="eaVert" wrap="none" anchor="ctr"/>
              <a:lstStyle/>
              <a:p>
                <a:pPr latinLnBrk="0">
                  <a:defRPr/>
                </a:pPr>
                <a:endParaRPr lang="ko-KR" altLang="en-US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187" name="그룹 186"/>
            <p:cNvGrpSpPr/>
            <p:nvPr/>
          </p:nvGrpSpPr>
          <p:grpSpPr>
            <a:xfrm>
              <a:off x="8508202" y="4714779"/>
              <a:ext cx="594318" cy="301505"/>
              <a:chOff x="1993293" y="2564030"/>
              <a:chExt cx="807572" cy="288942"/>
            </a:xfrm>
          </p:grpSpPr>
          <p:sp>
            <p:nvSpPr>
              <p:cNvPr id="188" name="AutoShape 26"/>
              <p:cNvSpPr>
                <a:spLocks noChangeArrowheads="1"/>
              </p:cNvSpPr>
              <p:nvPr/>
            </p:nvSpPr>
            <p:spPr bwMode="auto">
              <a:xfrm>
                <a:off x="1993293" y="2564030"/>
                <a:ext cx="807572" cy="288942"/>
              </a:xfrm>
              <a:prstGeom prst="cube">
                <a:avLst>
                  <a:gd name="adj" fmla="val 55426"/>
                </a:avLst>
              </a:prstGeom>
              <a:gradFill rotWithShape="1">
                <a:gsLst>
                  <a:gs pos="0">
                    <a:srgbClr val="EAEAEA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77777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9" name="WordArt 2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009917" y="2728044"/>
                <a:ext cx="584994" cy="1249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ko-KR" sz="3600" kern="10" dirty="0">
                    <a:ln w="9525">
                      <a:solidFill>
                        <a:srgbClr val="808080"/>
                      </a:solidFill>
                      <a:round/>
                      <a:headEnd/>
                      <a:tailEnd/>
                    </a:ln>
                    <a:solidFill>
                      <a:srgbClr val="80808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</a:t>
                </a:r>
                <a:endParaRPr lang="ko-KR" altLang="en-US" sz="3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721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6</a:t>
            </a:fld>
            <a:endParaRPr lang="ko-KR" altLang="en-US"/>
          </a:p>
        </p:txBody>
      </p:sp>
      <p:cxnSp>
        <p:nvCxnSpPr>
          <p:cNvPr id="203" name="직선 화살표 연결선 202"/>
          <p:cNvCxnSpPr/>
          <p:nvPr/>
        </p:nvCxnSpPr>
        <p:spPr>
          <a:xfrm>
            <a:off x="1776178" y="1158074"/>
            <a:ext cx="8258706" cy="434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구름 203"/>
          <p:cNvSpPr/>
          <p:nvPr/>
        </p:nvSpPr>
        <p:spPr>
          <a:xfrm>
            <a:off x="5518286" y="845440"/>
            <a:ext cx="1381758" cy="63621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5" name="Group 172"/>
          <p:cNvGrpSpPr>
            <a:grpSpLocks/>
          </p:cNvGrpSpPr>
          <p:nvPr/>
        </p:nvGrpSpPr>
        <p:grpSpPr bwMode="auto">
          <a:xfrm>
            <a:off x="1723955" y="880819"/>
            <a:ext cx="672801" cy="697603"/>
            <a:chOff x="1460" y="1680"/>
            <a:chExt cx="971" cy="1145"/>
          </a:xfrm>
        </p:grpSpPr>
        <p:grpSp>
          <p:nvGrpSpPr>
            <p:cNvPr id="206" name="Group 173"/>
            <p:cNvGrpSpPr>
              <a:grpSpLocks/>
            </p:cNvGrpSpPr>
            <p:nvPr/>
          </p:nvGrpSpPr>
          <p:grpSpPr bwMode="auto">
            <a:xfrm rot="20775601" flipH="1">
              <a:off x="2221" y="2374"/>
              <a:ext cx="210" cy="162"/>
              <a:chOff x="3499" y="2336"/>
              <a:chExt cx="1848" cy="1427"/>
            </a:xfrm>
          </p:grpSpPr>
          <p:sp>
            <p:nvSpPr>
              <p:cNvPr id="255" name="Freeform 174"/>
              <p:cNvSpPr>
                <a:spLocks/>
              </p:cNvSpPr>
              <p:nvPr/>
            </p:nvSpPr>
            <p:spPr bwMode="auto">
              <a:xfrm rot="20419783" flipH="1">
                <a:off x="4677" y="2330"/>
                <a:ext cx="783" cy="460"/>
              </a:xfrm>
              <a:custGeom>
                <a:avLst/>
                <a:gdLst/>
                <a:ahLst/>
                <a:cxnLst>
                  <a:cxn ang="0">
                    <a:pos x="1224" y="755"/>
                  </a:cxn>
                  <a:cxn ang="0">
                    <a:pos x="1112" y="716"/>
                  </a:cxn>
                  <a:cxn ang="0">
                    <a:pos x="1051" y="693"/>
                  </a:cxn>
                  <a:cxn ang="0">
                    <a:pos x="1006" y="671"/>
                  </a:cxn>
                  <a:cxn ang="0">
                    <a:pos x="984" y="660"/>
                  </a:cxn>
                  <a:cxn ang="0">
                    <a:pos x="939" y="626"/>
                  </a:cxn>
                  <a:cxn ang="0">
                    <a:pos x="894" y="548"/>
                  </a:cxn>
                  <a:cxn ang="0">
                    <a:pos x="889" y="531"/>
                  </a:cxn>
                  <a:cxn ang="0">
                    <a:pos x="850" y="509"/>
                  </a:cxn>
                  <a:cxn ang="0">
                    <a:pos x="799" y="481"/>
                  </a:cxn>
                  <a:cxn ang="0">
                    <a:pos x="704" y="453"/>
                  </a:cxn>
                  <a:cxn ang="0">
                    <a:pos x="419" y="442"/>
                  </a:cxn>
                  <a:cxn ang="0">
                    <a:pos x="330" y="408"/>
                  </a:cxn>
                  <a:cxn ang="0">
                    <a:pos x="212" y="279"/>
                  </a:cxn>
                  <a:cxn ang="0">
                    <a:pos x="145" y="134"/>
                  </a:cxn>
                  <a:cxn ang="0">
                    <a:pos x="78" y="39"/>
                  </a:cxn>
                  <a:cxn ang="0">
                    <a:pos x="0" y="0"/>
                  </a:cxn>
                </a:cxnLst>
                <a:rect l="0" t="0" r="r" b="b"/>
                <a:pathLst>
                  <a:path w="1224" h="755">
                    <a:moveTo>
                      <a:pt x="1224" y="755"/>
                    </a:moveTo>
                    <a:cubicBezTo>
                      <a:pt x="1190" y="729"/>
                      <a:pt x="1154" y="724"/>
                      <a:pt x="1112" y="716"/>
                    </a:cubicBezTo>
                    <a:cubicBezTo>
                      <a:pt x="1091" y="705"/>
                      <a:pt x="1072" y="702"/>
                      <a:pt x="1051" y="693"/>
                    </a:cubicBezTo>
                    <a:cubicBezTo>
                      <a:pt x="1036" y="686"/>
                      <a:pt x="1021" y="678"/>
                      <a:pt x="1006" y="671"/>
                    </a:cubicBezTo>
                    <a:cubicBezTo>
                      <a:pt x="999" y="667"/>
                      <a:pt x="984" y="660"/>
                      <a:pt x="984" y="660"/>
                    </a:cubicBezTo>
                    <a:cubicBezTo>
                      <a:pt x="971" y="646"/>
                      <a:pt x="939" y="626"/>
                      <a:pt x="939" y="626"/>
                    </a:cubicBezTo>
                    <a:cubicBezTo>
                      <a:pt x="923" y="602"/>
                      <a:pt x="906" y="575"/>
                      <a:pt x="894" y="548"/>
                    </a:cubicBezTo>
                    <a:cubicBezTo>
                      <a:pt x="892" y="543"/>
                      <a:pt x="893" y="536"/>
                      <a:pt x="889" y="531"/>
                    </a:cubicBezTo>
                    <a:cubicBezTo>
                      <a:pt x="884" y="524"/>
                      <a:pt x="855" y="512"/>
                      <a:pt x="850" y="509"/>
                    </a:cubicBezTo>
                    <a:cubicBezTo>
                      <a:pt x="802" y="480"/>
                      <a:pt x="833" y="491"/>
                      <a:pt x="799" y="481"/>
                    </a:cubicBezTo>
                    <a:cubicBezTo>
                      <a:pt x="764" y="457"/>
                      <a:pt x="751" y="457"/>
                      <a:pt x="704" y="453"/>
                    </a:cubicBezTo>
                    <a:cubicBezTo>
                      <a:pt x="606" y="457"/>
                      <a:pt x="515" y="459"/>
                      <a:pt x="419" y="442"/>
                    </a:cubicBezTo>
                    <a:cubicBezTo>
                      <a:pt x="391" y="426"/>
                      <a:pt x="360" y="419"/>
                      <a:pt x="330" y="408"/>
                    </a:cubicBezTo>
                    <a:cubicBezTo>
                      <a:pt x="287" y="368"/>
                      <a:pt x="245" y="328"/>
                      <a:pt x="212" y="279"/>
                    </a:cubicBezTo>
                    <a:cubicBezTo>
                      <a:pt x="183" y="235"/>
                      <a:pt x="168" y="181"/>
                      <a:pt x="145" y="134"/>
                    </a:cubicBezTo>
                    <a:cubicBezTo>
                      <a:pt x="128" y="100"/>
                      <a:pt x="99" y="71"/>
                      <a:pt x="78" y="39"/>
                    </a:cubicBezTo>
                    <a:cubicBezTo>
                      <a:pt x="70" y="27"/>
                      <a:pt x="15" y="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6" name="Freeform 175"/>
              <p:cNvSpPr>
                <a:spLocks/>
              </p:cNvSpPr>
              <p:nvPr/>
            </p:nvSpPr>
            <p:spPr bwMode="auto">
              <a:xfrm rot="-1180217">
                <a:off x="3532" y="2934"/>
                <a:ext cx="1464" cy="698"/>
              </a:xfrm>
              <a:custGeom>
                <a:avLst/>
                <a:gdLst/>
                <a:ahLst/>
                <a:cxnLst>
                  <a:cxn ang="0">
                    <a:pos x="886" y="33"/>
                  </a:cxn>
                  <a:cxn ang="0">
                    <a:pos x="937" y="70"/>
                  </a:cxn>
                  <a:cxn ang="0">
                    <a:pos x="971" y="130"/>
                  </a:cxn>
                  <a:cxn ang="0">
                    <a:pos x="967" y="218"/>
                  </a:cxn>
                  <a:cxn ang="0">
                    <a:pos x="882" y="261"/>
                  </a:cxn>
                  <a:cxn ang="0">
                    <a:pos x="791" y="294"/>
                  </a:cxn>
                  <a:cxn ang="0">
                    <a:pos x="665" y="382"/>
                  </a:cxn>
                  <a:cxn ang="0">
                    <a:pos x="519" y="522"/>
                  </a:cxn>
                  <a:cxn ang="0">
                    <a:pos x="397" y="542"/>
                  </a:cxn>
                  <a:cxn ang="0">
                    <a:pos x="298" y="550"/>
                  </a:cxn>
                  <a:cxn ang="0">
                    <a:pos x="155" y="522"/>
                  </a:cxn>
                  <a:cxn ang="0">
                    <a:pos x="34" y="459"/>
                  </a:cxn>
                  <a:cxn ang="0">
                    <a:pos x="0" y="393"/>
                  </a:cxn>
                  <a:cxn ang="0">
                    <a:pos x="11" y="315"/>
                  </a:cxn>
                  <a:cxn ang="0">
                    <a:pos x="63" y="210"/>
                  </a:cxn>
                  <a:cxn ang="0">
                    <a:pos x="142" y="147"/>
                  </a:cxn>
                  <a:cxn ang="0">
                    <a:pos x="246" y="89"/>
                  </a:cxn>
                  <a:cxn ang="0">
                    <a:pos x="445" y="21"/>
                  </a:cxn>
                  <a:cxn ang="0">
                    <a:pos x="634" y="0"/>
                  </a:cxn>
                  <a:cxn ang="0">
                    <a:pos x="794" y="13"/>
                  </a:cxn>
                  <a:cxn ang="0">
                    <a:pos x="886" y="33"/>
                  </a:cxn>
                </a:cxnLst>
                <a:rect l="0" t="0" r="r" b="b"/>
                <a:pathLst>
                  <a:path w="971" h="550">
                    <a:moveTo>
                      <a:pt x="886" y="33"/>
                    </a:moveTo>
                    <a:lnTo>
                      <a:pt x="937" y="70"/>
                    </a:lnTo>
                    <a:lnTo>
                      <a:pt x="971" y="130"/>
                    </a:lnTo>
                    <a:lnTo>
                      <a:pt x="967" y="218"/>
                    </a:lnTo>
                    <a:lnTo>
                      <a:pt x="882" y="261"/>
                    </a:lnTo>
                    <a:lnTo>
                      <a:pt x="791" y="294"/>
                    </a:lnTo>
                    <a:lnTo>
                      <a:pt x="665" y="382"/>
                    </a:lnTo>
                    <a:lnTo>
                      <a:pt x="519" y="522"/>
                    </a:lnTo>
                    <a:lnTo>
                      <a:pt x="397" y="542"/>
                    </a:lnTo>
                    <a:lnTo>
                      <a:pt x="298" y="550"/>
                    </a:lnTo>
                    <a:lnTo>
                      <a:pt x="155" y="522"/>
                    </a:lnTo>
                    <a:lnTo>
                      <a:pt x="34" y="459"/>
                    </a:lnTo>
                    <a:lnTo>
                      <a:pt x="0" y="393"/>
                    </a:lnTo>
                    <a:lnTo>
                      <a:pt x="11" y="315"/>
                    </a:lnTo>
                    <a:lnTo>
                      <a:pt x="63" y="210"/>
                    </a:lnTo>
                    <a:lnTo>
                      <a:pt x="142" y="147"/>
                    </a:lnTo>
                    <a:lnTo>
                      <a:pt x="246" y="89"/>
                    </a:lnTo>
                    <a:lnTo>
                      <a:pt x="445" y="21"/>
                    </a:lnTo>
                    <a:lnTo>
                      <a:pt x="634" y="0"/>
                    </a:lnTo>
                    <a:lnTo>
                      <a:pt x="794" y="13"/>
                    </a:lnTo>
                    <a:lnTo>
                      <a:pt x="886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FFFFFF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7" name="Freeform 176"/>
              <p:cNvSpPr>
                <a:spLocks/>
              </p:cNvSpPr>
              <p:nvPr/>
            </p:nvSpPr>
            <p:spPr bwMode="auto">
              <a:xfrm rot="20419783" flipH="1">
                <a:off x="3661" y="3116"/>
                <a:ext cx="1413" cy="5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18"/>
                  </a:cxn>
                  <a:cxn ang="0">
                    <a:pos x="319" y="302"/>
                  </a:cxn>
                  <a:cxn ang="0">
                    <a:pos x="604" y="448"/>
                  </a:cxn>
                  <a:cxn ang="0">
                    <a:pos x="867" y="526"/>
                  </a:cxn>
                  <a:cxn ang="0">
                    <a:pos x="1091" y="504"/>
                  </a:cxn>
                  <a:cxn ang="0">
                    <a:pos x="1270" y="448"/>
                  </a:cxn>
                  <a:cxn ang="0">
                    <a:pos x="1432" y="353"/>
                  </a:cxn>
                  <a:cxn ang="0">
                    <a:pos x="1253" y="431"/>
                  </a:cxn>
                  <a:cxn ang="0">
                    <a:pos x="1108" y="470"/>
                  </a:cxn>
                  <a:cxn ang="0">
                    <a:pos x="951" y="470"/>
                  </a:cxn>
                  <a:cxn ang="0">
                    <a:pos x="789" y="453"/>
                  </a:cxn>
                  <a:cxn ang="0">
                    <a:pos x="699" y="420"/>
                  </a:cxn>
                  <a:cxn ang="0">
                    <a:pos x="560" y="330"/>
                  </a:cxn>
                  <a:cxn ang="0">
                    <a:pos x="437" y="213"/>
                  </a:cxn>
                  <a:cxn ang="0">
                    <a:pos x="274" y="129"/>
                  </a:cxn>
                  <a:cxn ang="0">
                    <a:pos x="140" y="73"/>
                  </a:cxn>
                  <a:cxn ang="0">
                    <a:pos x="0" y="0"/>
                  </a:cxn>
                </a:cxnLst>
                <a:rect l="0" t="0" r="r" b="b"/>
                <a:pathLst>
                  <a:path w="1432" h="526">
                    <a:moveTo>
                      <a:pt x="0" y="0"/>
                    </a:moveTo>
                    <a:lnTo>
                      <a:pt x="56" y="118"/>
                    </a:lnTo>
                    <a:lnTo>
                      <a:pt x="319" y="302"/>
                    </a:lnTo>
                    <a:lnTo>
                      <a:pt x="604" y="448"/>
                    </a:lnTo>
                    <a:lnTo>
                      <a:pt x="867" y="526"/>
                    </a:lnTo>
                    <a:lnTo>
                      <a:pt x="1091" y="504"/>
                    </a:lnTo>
                    <a:lnTo>
                      <a:pt x="1270" y="448"/>
                    </a:lnTo>
                    <a:lnTo>
                      <a:pt x="1432" y="353"/>
                    </a:lnTo>
                    <a:lnTo>
                      <a:pt x="1253" y="431"/>
                    </a:lnTo>
                    <a:lnTo>
                      <a:pt x="1108" y="470"/>
                    </a:lnTo>
                    <a:lnTo>
                      <a:pt x="951" y="470"/>
                    </a:lnTo>
                    <a:lnTo>
                      <a:pt x="789" y="453"/>
                    </a:lnTo>
                    <a:lnTo>
                      <a:pt x="699" y="420"/>
                    </a:lnTo>
                    <a:lnTo>
                      <a:pt x="560" y="330"/>
                    </a:lnTo>
                    <a:lnTo>
                      <a:pt x="437" y="213"/>
                    </a:lnTo>
                    <a:lnTo>
                      <a:pt x="274" y="129"/>
                    </a:lnTo>
                    <a:lnTo>
                      <a:pt x="140" y="7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8" name="Freeform 177"/>
              <p:cNvSpPr>
                <a:spLocks/>
              </p:cNvSpPr>
              <p:nvPr/>
            </p:nvSpPr>
            <p:spPr bwMode="auto">
              <a:xfrm rot="-1180217">
                <a:off x="4358" y="2814"/>
                <a:ext cx="323" cy="375"/>
              </a:xfrm>
              <a:custGeom>
                <a:avLst/>
                <a:gdLst/>
                <a:ahLst/>
                <a:cxnLst>
                  <a:cxn ang="0">
                    <a:pos x="229" y="261"/>
                  </a:cxn>
                  <a:cxn ang="0">
                    <a:pos x="115" y="57"/>
                  </a:cxn>
                  <a:cxn ang="0">
                    <a:pos x="0" y="0"/>
                  </a:cxn>
                </a:cxnLst>
                <a:rect l="0" t="0" r="r" b="b"/>
                <a:pathLst>
                  <a:path w="229" h="261">
                    <a:moveTo>
                      <a:pt x="229" y="261"/>
                    </a:moveTo>
                    <a:lnTo>
                      <a:pt x="115" y="57"/>
                    </a:ln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rgbClr val="B2B2B2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9" name="Freeform 178"/>
              <p:cNvSpPr>
                <a:spLocks/>
              </p:cNvSpPr>
              <p:nvPr/>
            </p:nvSpPr>
            <p:spPr bwMode="auto">
              <a:xfrm rot="20419783" flipH="1">
                <a:off x="4324" y="2821"/>
                <a:ext cx="443" cy="68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246" y="26"/>
                  </a:cxn>
                  <a:cxn ang="0">
                    <a:pos x="408" y="0"/>
                  </a:cxn>
                  <a:cxn ang="0">
                    <a:pos x="560" y="26"/>
                  </a:cxn>
                </a:cxnLst>
                <a:rect l="0" t="0" r="r" b="b"/>
                <a:pathLst>
                  <a:path w="560" h="79">
                    <a:moveTo>
                      <a:pt x="0" y="79"/>
                    </a:moveTo>
                    <a:lnTo>
                      <a:pt x="246" y="26"/>
                    </a:lnTo>
                    <a:lnTo>
                      <a:pt x="408" y="0"/>
                    </a:lnTo>
                    <a:lnTo>
                      <a:pt x="560" y="26"/>
                    </a:lnTo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0" name="Oval 179"/>
              <p:cNvSpPr>
                <a:spLocks noChangeArrowheads="1"/>
              </p:cNvSpPr>
              <p:nvPr/>
            </p:nvSpPr>
            <p:spPr bwMode="auto">
              <a:xfrm rot="21155849" flipH="1">
                <a:off x="4282" y="2827"/>
                <a:ext cx="187" cy="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1" name="Freeform 180"/>
              <p:cNvSpPr>
                <a:spLocks/>
              </p:cNvSpPr>
              <p:nvPr/>
            </p:nvSpPr>
            <p:spPr bwMode="auto">
              <a:xfrm rot="20419783" flipH="1">
                <a:off x="4481" y="2789"/>
                <a:ext cx="409" cy="272"/>
              </a:xfrm>
              <a:custGeom>
                <a:avLst/>
                <a:gdLst/>
                <a:ahLst/>
                <a:cxnLst>
                  <a:cxn ang="0">
                    <a:pos x="98" y="36"/>
                  </a:cxn>
                  <a:cxn ang="0">
                    <a:pos x="320" y="0"/>
                  </a:cxn>
                  <a:cxn ang="0">
                    <a:pos x="367" y="26"/>
                  </a:cxn>
                  <a:cxn ang="0">
                    <a:pos x="445" y="26"/>
                  </a:cxn>
                  <a:cxn ang="0">
                    <a:pos x="482" y="42"/>
                  </a:cxn>
                  <a:cxn ang="0">
                    <a:pos x="278" y="367"/>
                  </a:cxn>
                  <a:cxn ang="0">
                    <a:pos x="5" y="262"/>
                  </a:cxn>
                  <a:cxn ang="0">
                    <a:pos x="0" y="157"/>
                  </a:cxn>
                  <a:cxn ang="0">
                    <a:pos x="42" y="74"/>
                  </a:cxn>
                  <a:cxn ang="0">
                    <a:pos x="98" y="36"/>
                  </a:cxn>
                </a:cxnLst>
                <a:rect l="0" t="0" r="r" b="b"/>
                <a:pathLst>
                  <a:path w="482" h="367">
                    <a:moveTo>
                      <a:pt x="98" y="36"/>
                    </a:moveTo>
                    <a:lnTo>
                      <a:pt x="320" y="0"/>
                    </a:lnTo>
                    <a:lnTo>
                      <a:pt x="367" y="26"/>
                    </a:lnTo>
                    <a:lnTo>
                      <a:pt x="445" y="26"/>
                    </a:lnTo>
                    <a:lnTo>
                      <a:pt x="482" y="42"/>
                    </a:lnTo>
                    <a:lnTo>
                      <a:pt x="278" y="367"/>
                    </a:lnTo>
                    <a:lnTo>
                      <a:pt x="5" y="262"/>
                    </a:lnTo>
                    <a:lnTo>
                      <a:pt x="0" y="157"/>
                    </a:lnTo>
                    <a:lnTo>
                      <a:pt x="42" y="74"/>
                    </a:lnTo>
                    <a:lnTo>
                      <a:pt x="98" y="36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7" name="Group 181"/>
            <p:cNvGrpSpPr>
              <a:grpSpLocks/>
            </p:cNvGrpSpPr>
            <p:nvPr/>
          </p:nvGrpSpPr>
          <p:grpSpPr bwMode="auto">
            <a:xfrm flipH="1">
              <a:off x="1662" y="2315"/>
              <a:ext cx="664" cy="510"/>
              <a:chOff x="854" y="3072"/>
              <a:chExt cx="883" cy="678"/>
            </a:xfrm>
          </p:grpSpPr>
          <p:sp>
            <p:nvSpPr>
              <p:cNvPr id="249" name="Freeform 182"/>
              <p:cNvSpPr>
                <a:spLocks/>
              </p:cNvSpPr>
              <p:nvPr/>
            </p:nvSpPr>
            <p:spPr bwMode="auto">
              <a:xfrm>
                <a:off x="854" y="3092"/>
                <a:ext cx="354" cy="658"/>
              </a:xfrm>
              <a:custGeom>
                <a:avLst/>
                <a:gdLst/>
                <a:ahLst/>
                <a:cxnLst>
                  <a:cxn ang="0">
                    <a:pos x="933" y="135"/>
                  </a:cxn>
                  <a:cxn ang="0">
                    <a:pos x="932" y="171"/>
                  </a:cxn>
                  <a:cxn ang="0">
                    <a:pos x="762" y="352"/>
                  </a:cxn>
                  <a:cxn ang="0">
                    <a:pos x="4" y="195"/>
                  </a:cxn>
                  <a:cxn ang="0">
                    <a:pos x="0" y="148"/>
                  </a:cxn>
                  <a:cxn ang="0">
                    <a:pos x="244" y="0"/>
                  </a:cxn>
                  <a:cxn ang="0">
                    <a:pos x="933" y="135"/>
                  </a:cxn>
                </a:cxnLst>
                <a:rect l="0" t="0" r="r" b="b"/>
                <a:pathLst>
                  <a:path w="933" h="352">
                    <a:moveTo>
                      <a:pt x="933" y="135"/>
                    </a:moveTo>
                    <a:lnTo>
                      <a:pt x="932" y="171"/>
                    </a:lnTo>
                    <a:lnTo>
                      <a:pt x="762" y="352"/>
                    </a:lnTo>
                    <a:lnTo>
                      <a:pt x="4" y="195"/>
                    </a:lnTo>
                    <a:lnTo>
                      <a:pt x="0" y="148"/>
                    </a:lnTo>
                    <a:lnTo>
                      <a:pt x="244" y="0"/>
                    </a:lnTo>
                    <a:lnTo>
                      <a:pt x="933" y="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DDDDDD">
                      <a:gamma/>
                      <a:tint val="34118"/>
                      <a:invGamma/>
                    </a:srgbClr>
                  </a:gs>
                </a:gsLst>
                <a:lin ang="0" scaled="1"/>
              </a:gradFill>
              <a:ln w="6350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0" name="Freeform 183"/>
              <p:cNvSpPr>
                <a:spLocks/>
              </p:cNvSpPr>
              <p:nvPr/>
            </p:nvSpPr>
            <p:spPr bwMode="auto">
              <a:xfrm>
                <a:off x="878" y="3072"/>
                <a:ext cx="355" cy="658"/>
              </a:xfrm>
              <a:custGeom>
                <a:avLst/>
                <a:gdLst/>
                <a:ahLst/>
                <a:cxnLst>
                  <a:cxn ang="0">
                    <a:pos x="895" y="133"/>
                  </a:cxn>
                  <a:cxn ang="0">
                    <a:pos x="232" y="0"/>
                  </a:cxn>
                  <a:cxn ang="0">
                    <a:pos x="0" y="143"/>
                  </a:cxn>
                  <a:cxn ang="0">
                    <a:pos x="739" y="294"/>
                  </a:cxn>
                  <a:cxn ang="0">
                    <a:pos x="895" y="133"/>
                  </a:cxn>
                </a:cxnLst>
                <a:rect l="0" t="0" r="r" b="b"/>
                <a:pathLst>
                  <a:path w="895" h="294">
                    <a:moveTo>
                      <a:pt x="895" y="133"/>
                    </a:moveTo>
                    <a:lnTo>
                      <a:pt x="232" y="0"/>
                    </a:lnTo>
                    <a:lnTo>
                      <a:pt x="0" y="143"/>
                    </a:lnTo>
                    <a:lnTo>
                      <a:pt x="739" y="294"/>
                    </a:lnTo>
                    <a:lnTo>
                      <a:pt x="895" y="13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1" name="Freeform 184"/>
              <p:cNvSpPr>
                <a:spLocks/>
              </p:cNvSpPr>
              <p:nvPr/>
            </p:nvSpPr>
            <p:spPr bwMode="auto">
              <a:xfrm>
                <a:off x="1133" y="3276"/>
                <a:ext cx="535" cy="118"/>
              </a:xfrm>
              <a:custGeom>
                <a:avLst/>
                <a:gdLst/>
                <a:ahLst/>
                <a:cxnLst>
                  <a:cxn ang="0">
                    <a:pos x="0" y="15"/>
                  </a:cxn>
                  <a:cxn ang="0">
                    <a:pos x="508" y="118"/>
                  </a:cxn>
                  <a:cxn ang="0">
                    <a:pos x="531" y="103"/>
                  </a:cxn>
                  <a:cxn ang="0">
                    <a:pos x="23" y="0"/>
                  </a:cxn>
                </a:cxnLst>
                <a:rect l="0" t="0" r="r" b="b"/>
                <a:pathLst>
                  <a:path w="531" h="118">
                    <a:moveTo>
                      <a:pt x="0" y="15"/>
                    </a:moveTo>
                    <a:lnTo>
                      <a:pt x="508" y="118"/>
                    </a:lnTo>
                    <a:lnTo>
                      <a:pt x="531" y="103"/>
                    </a:lnTo>
                    <a:lnTo>
                      <a:pt x="23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2" name="Freeform 185"/>
              <p:cNvSpPr>
                <a:spLocks/>
              </p:cNvSpPr>
              <p:nvPr/>
            </p:nvSpPr>
            <p:spPr bwMode="auto">
              <a:xfrm>
                <a:off x="981" y="3306"/>
                <a:ext cx="550" cy="159"/>
              </a:xfrm>
              <a:custGeom>
                <a:avLst/>
                <a:gdLst/>
                <a:ahLst/>
                <a:cxnLst>
                  <a:cxn ang="0">
                    <a:pos x="0" y="74"/>
                  </a:cxn>
                  <a:cxn ang="0">
                    <a:pos x="31" y="78"/>
                  </a:cxn>
                  <a:cxn ang="0">
                    <a:pos x="57" y="66"/>
                  </a:cxn>
                  <a:cxn ang="0">
                    <a:pos x="76" y="71"/>
                  </a:cxn>
                  <a:cxn ang="0">
                    <a:pos x="58" y="81"/>
                  </a:cxn>
                  <a:cxn ang="0">
                    <a:pos x="451" y="159"/>
                  </a:cxn>
                  <a:cxn ang="0">
                    <a:pos x="548" y="84"/>
                  </a:cxn>
                  <a:cxn ang="0">
                    <a:pos x="130" y="0"/>
                  </a:cxn>
                </a:cxnLst>
                <a:rect l="0" t="0" r="r" b="b"/>
                <a:pathLst>
                  <a:path w="548" h="159">
                    <a:moveTo>
                      <a:pt x="0" y="74"/>
                    </a:moveTo>
                    <a:lnTo>
                      <a:pt x="31" y="78"/>
                    </a:lnTo>
                    <a:lnTo>
                      <a:pt x="57" y="66"/>
                    </a:lnTo>
                    <a:lnTo>
                      <a:pt x="76" y="71"/>
                    </a:lnTo>
                    <a:lnTo>
                      <a:pt x="58" y="81"/>
                    </a:lnTo>
                    <a:lnTo>
                      <a:pt x="451" y="159"/>
                    </a:lnTo>
                    <a:lnTo>
                      <a:pt x="548" y="84"/>
                    </a:lnTo>
                    <a:lnTo>
                      <a:pt x="130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3" name="Freeform 186"/>
              <p:cNvSpPr>
                <a:spLocks/>
              </p:cNvSpPr>
              <p:nvPr/>
            </p:nvSpPr>
            <p:spPr bwMode="auto">
              <a:xfrm>
                <a:off x="1495" y="3396"/>
                <a:ext cx="139" cy="69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140" y="11"/>
                  </a:cxn>
                  <a:cxn ang="0">
                    <a:pos x="75" y="70"/>
                  </a:cxn>
                  <a:cxn ang="0">
                    <a:pos x="0" y="56"/>
                  </a:cxn>
                </a:cxnLst>
                <a:rect l="0" t="0" r="r" b="b"/>
                <a:pathLst>
                  <a:path w="140" h="70">
                    <a:moveTo>
                      <a:pt x="73" y="0"/>
                    </a:moveTo>
                    <a:lnTo>
                      <a:pt x="140" y="11"/>
                    </a:lnTo>
                    <a:lnTo>
                      <a:pt x="75" y="70"/>
                    </a:lnTo>
                    <a:lnTo>
                      <a:pt x="0" y="56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4" name="Freeform 187"/>
              <p:cNvSpPr>
                <a:spLocks/>
              </p:cNvSpPr>
              <p:nvPr/>
            </p:nvSpPr>
            <p:spPr bwMode="auto">
              <a:xfrm>
                <a:off x="1570" y="3412"/>
                <a:ext cx="167" cy="100"/>
              </a:xfrm>
              <a:custGeom>
                <a:avLst/>
                <a:gdLst/>
                <a:ahLst/>
                <a:cxnLst>
                  <a:cxn ang="0">
                    <a:pos x="87" y="0"/>
                  </a:cxn>
                  <a:cxn ang="0">
                    <a:pos x="167" y="15"/>
                  </a:cxn>
                  <a:cxn ang="0">
                    <a:pos x="81" y="101"/>
                  </a:cxn>
                  <a:cxn ang="0">
                    <a:pos x="0" y="83"/>
                  </a:cxn>
                </a:cxnLst>
                <a:rect l="0" t="0" r="r" b="b"/>
                <a:pathLst>
                  <a:path w="167" h="101">
                    <a:moveTo>
                      <a:pt x="87" y="0"/>
                    </a:moveTo>
                    <a:lnTo>
                      <a:pt x="167" y="15"/>
                    </a:lnTo>
                    <a:lnTo>
                      <a:pt x="81" y="101"/>
                    </a:lnTo>
                    <a:lnTo>
                      <a:pt x="0" y="83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8" name="Group 188"/>
            <p:cNvGrpSpPr>
              <a:grpSpLocks/>
            </p:cNvGrpSpPr>
            <p:nvPr/>
          </p:nvGrpSpPr>
          <p:grpSpPr bwMode="auto">
            <a:xfrm>
              <a:off x="1460" y="2079"/>
              <a:ext cx="724" cy="441"/>
              <a:chOff x="1460" y="2079"/>
              <a:chExt cx="724" cy="441"/>
            </a:xfrm>
          </p:grpSpPr>
          <p:sp>
            <p:nvSpPr>
              <p:cNvPr id="225" name="Freeform 189"/>
              <p:cNvSpPr>
                <a:spLocks noChangeAspect="1"/>
              </p:cNvSpPr>
              <p:nvPr/>
            </p:nvSpPr>
            <p:spPr bwMode="auto">
              <a:xfrm>
                <a:off x="1460" y="2143"/>
                <a:ext cx="168" cy="377"/>
              </a:xfrm>
              <a:custGeom>
                <a:avLst/>
                <a:gdLst/>
                <a:ahLst/>
                <a:cxnLst>
                  <a:cxn ang="0">
                    <a:pos x="169" y="246"/>
                  </a:cxn>
                  <a:cxn ang="0">
                    <a:pos x="1" y="0"/>
                  </a:cxn>
                  <a:cxn ang="0">
                    <a:pos x="0" y="123"/>
                  </a:cxn>
                  <a:cxn ang="0">
                    <a:pos x="165" y="377"/>
                  </a:cxn>
                </a:cxnLst>
                <a:rect l="0" t="0" r="r" b="b"/>
                <a:pathLst>
                  <a:path w="169" h="377">
                    <a:moveTo>
                      <a:pt x="169" y="246"/>
                    </a:moveTo>
                    <a:lnTo>
                      <a:pt x="1" y="0"/>
                    </a:lnTo>
                    <a:lnTo>
                      <a:pt x="0" y="123"/>
                    </a:lnTo>
                    <a:lnTo>
                      <a:pt x="165" y="377"/>
                    </a:lnTo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100000">
                    <a:srgbClr val="EAEAEA">
                      <a:gamma/>
                      <a:tint val="60784"/>
                      <a:invGamma/>
                    </a:srgbClr>
                  </a:gs>
                </a:gsLst>
                <a:lin ang="0" scaled="1"/>
              </a:gra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6" name="Freeform 190"/>
              <p:cNvSpPr>
                <a:spLocks noChangeAspect="1"/>
              </p:cNvSpPr>
              <p:nvPr/>
            </p:nvSpPr>
            <p:spPr bwMode="auto">
              <a:xfrm>
                <a:off x="1464" y="2079"/>
                <a:ext cx="720" cy="309"/>
              </a:xfrm>
              <a:custGeom>
                <a:avLst/>
                <a:gdLst/>
                <a:ahLst/>
                <a:cxnLst>
                  <a:cxn ang="0">
                    <a:pos x="166" y="310"/>
                  </a:cxn>
                  <a:cxn ang="0">
                    <a:pos x="718" y="211"/>
                  </a:cxn>
                  <a:cxn ang="0">
                    <a:pos x="444" y="0"/>
                  </a:cxn>
                  <a:cxn ang="0">
                    <a:pos x="0" y="64"/>
                  </a:cxn>
                  <a:cxn ang="0">
                    <a:pos x="166" y="310"/>
                  </a:cxn>
                </a:cxnLst>
                <a:rect l="0" t="0" r="r" b="b"/>
                <a:pathLst>
                  <a:path w="718" h="310">
                    <a:moveTo>
                      <a:pt x="166" y="310"/>
                    </a:moveTo>
                    <a:lnTo>
                      <a:pt x="718" y="211"/>
                    </a:lnTo>
                    <a:lnTo>
                      <a:pt x="444" y="0"/>
                    </a:lnTo>
                    <a:lnTo>
                      <a:pt x="0" y="64"/>
                    </a:lnTo>
                    <a:lnTo>
                      <a:pt x="166" y="31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7" name="Freeform 191"/>
              <p:cNvSpPr>
                <a:spLocks/>
              </p:cNvSpPr>
              <p:nvPr/>
            </p:nvSpPr>
            <p:spPr bwMode="auto">
              <a:xfrm>
                <a:off x="1622" y="2288"/>
                <a:ext cx="544" cy="228"/>
              </a:xfrm>
              <a:custGeom>
                <a:avLst/>
                <a:gdLst/>
                <a:ahLst/>
                <a:cxnLst>
                  <a:cxn ang="0">
                    <a:pos x="6" y="99"/>
                  </a:cxn>
                  <a:cxn ang="0">
                    <a:pos x="557" y="0"/>
                  </a:cxn>
                  <a:cxn ang="0">
                    <a:pos x="549" y="121"/>
                  </a:cxn>
                  <a:cxn ang="0">
                    <a:pos x="0" y="228"/>
                  </a:cxn>
                  <a:cxn ang="0">
                    <a:pos x="6" y="99"/>
                  </a:cxn>
                </a:cxnLst>
                <a:rect l="0" t="0" r="r" b="b"/>
                <a:pathLst>
                  <a:path w="557" h="228">
                    <a:moveTo>
                      <a:pt x="6" y="99"/>
                    </a:moveTo>
                    <a:lnTo>
                      <a:pt x="557" y="0"/>
                    </a:lnTo>
                    <a:lnTo>
                      <a:pt x="549" y="121"/>
                    </a:lnTo>
                    <a:lnTo>
                      <a:pt x="0" y="228"/>
                    </a:lnTo>
                    <a:lnTo>
                      <a:pt x="6" y="9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EAEAEA">
                      <a:gamma/>
                      <a:tint val="0"/>
                      <a:invGamma/>
                    </a:srgbClr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8" name="Freeform 192"/>
              <p:cNvSpPr>
                <a:spLocks/>
              </p:cNvSpPr>
              <p:nvPr/>
            </p:nvSpPr>
            <p:spPr bwMode="auto">
              <a:xfrm>
                <a:off x="1644" y="2425"/>
                <a:ext cx="168" cy="6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63"/>
                  </a:cxn>
                  <a:cxn ang="0">
                    <a:pos x="164" y="33"/>
                  </a:cxn>
                  <a:cxn ang="0">
                    <a:pos x="167" y="0"/>
                  </a:cxn>
                  <a:cxn ang="0">
                    <a:pos x="0" y="32"/>
                  </a:cxn>
                </a:cxnLst>
                <a:rect l="0" t="0" r="r" b="b"/>
                <a:pathLst>
                  <a:path w="167" h="63">
                    <a:moveTo>
                      <a:pt x="0" y="32"/>
                    </a:moveTo>
                    <a:lnTo>
                      <a:pt x="0" y="63"/>
                    </a:lnTo>
                    <a:lnTo>
                      <a:pt x="164" y="33"/>
                    </a:lnTo>
                    <a:lnTo>
                      <a:pt x="167" y="0"/>
                    </a:lnTo>
                    <a:lnTo>
                      <a:pt x="0" y="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/>
                </a:prst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9" name="Oval 193"/>
              <p:cNvSpPr>
                <a:spLocks noChangeArrowheads="1"/>
              </p:cNvSpPr>
              <p:nvPr/>
            </p:nvSpPr>
            <p:spPr bwMode="auto">
              <a:xfrm>
                <a:off x="1783" y="2433"/>
                <a:ext cx="17" cy="23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0" name="Line 194"/>
              <p:cNvSpPr>
                <a:spLocks noChangeShapeType="1"/>
              </p:cNvSpPr>
              <p:nvPr/>
            </p:nvSpPr>
            <p:spPr bwMode="auto">
              <a:xfrm flipH="1">
                <a:off x="2042" y="2338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1" name="Line 195"/>
              <p:cNvSpPr>
                <a:spLocks noChangeShapeType="1"/>
              </p:cNvSpPr>
              <p:nvPr/>
            </p:nvSpPr>
            <p:spPr bwMode="auto">
              <a:xfrm flipH="1">
                <a:off x="2029" y="2340"/>
                <a:ext cx="2" cy="8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2" name="Line 196"/>
              <p:cNvSpPr>
                <a:spLocks noChangeShapeType="1"/>
              </p:cNvSpPr>
              <p:nvPr/>
            </p:nvSpPr>
            <p:spPr bwMode="auto">
              <a:xfrm flipH="1">
                <a:off x="2056" y="2336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3" name="Line 197"/>
              <p:cNvSpPr>
                <a:spLocks noChangeShapeType="1"/>
              </p:cNvSpPr>
              <p:nvPr/>
            </p:nvSpPr>
            <p:spPr bwMode="auto">
              <a:xfrm flipH="1">
                <a:off x="2069" y="2334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4" name="Line 198"/>
              <p:cNvSpPr>
                <a:spLocks noChangeShapeType="1"/>
              </p:cNvSpPr>
              <p:nvPr/>
            </p:nvSpPr>
            <p:spPr bwMode="auto">
              <a:xfrm flipH="1">
                <a:off x="2081" y="2332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" name="Line 199"/>
              <p:cNvSpPr>
                <a:spLocks noChangeShapeType="1"/>
              </p:cNvSpPr>
              <p:nvPr/>
            </p:nvSpPr>
            <p:spPr bwMode="auto">
              <a:xfrm flipH="1">
                <a:off x="2094" y="2329"/>
                <a:ext cx="4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6" name="Line 200"/>
              <p:cNvSpPr>
                <a:spLocks noChangeShapeType="1"/>
              </p:cNvSpPr>
              <p:nvPr/>
            </p:nvSpPr>
            <p:spPr bwMode="auto">
              <a:xfrm flipH="1">
                <a:off x="2106" y="232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7" name="Line 201"/>
              <p:cNvSpPr>
                <a:spLocks noChangeShapeType="1"/>
              </p:cNvSpPr>
              <p:nvPr/>
            </p:nvSpPr>
            <p:spPr bwMode="auto">
              <a:xfrm flipH="1">
                <a:off x="2118" y="2323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8" name="Line 202"/>
              <p:cNvSpPr>
                <a:spLocks noChangeShapeType="1"/>
              </p:cNvSpPr>
              <p:nvPr/>
            </p:nvSpPr>
            <p:spPr bwMode="auto">
              <a:xfrm flipH="1">
                <a:off x="2129" y="2323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9" name="Line 203"/>
              <p:cNvSpPr>
                <a:spLocks noChangeShapeType="1"/>
              </p:cNvSpPr>
              <p:nvPr/>
            </p:nvSpPr>
            <p:spPr bwMode="auto">
              <a:xfrm flipH="1">
                <a:off x="2141" y="2321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0" name="Line 204"/>
              <p:cNvSpPr>
                <a:spLocks noChangeShapeType="1"/>
              </p:cNvSpPr>
              <p:nvPr/>
            </p:nvSpPr>
            <p:spPr bwMode="auto">
              <a:xfrm flipH="1">
                <a:off x="2154" y="231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1" name="Freeform 205"/>
              <p:cNvSpPr>
                <a:spLocks/>
              </p:cNvSpPr>
              <p:nvPr/>
            </p:nvSpPr>
            <p:spPr bwMode="auto">
              <a:xfrm>
                <a:off x="1862" y="2371"/>
                <a:ext cx="93" cy="68"/>
              </a:xfrm>
              <a:custGeom>
                <a:avLst/>
                <a:gdLst/>
                <a:ahLst/>
                <a:cxnLst>
                  <a:cxn ang="0">
                    <a:pos x="2" y="33"/>
                  </a:cxn>
                  <a:cxn ang="0">
                    <a:pos x="0" y="138"/>
                  </a:cxn>
                  <a:cxn ang="0">
                    <a:pos x="186" y="104"/>
                  </a:cxn>
                  <a:cxn ang="0">
                    <a:pos x="186" y="0"/>
                  </a:cxn>
                  <a:cxn ang="0">
                    <a:pos x="2" y="33"/>
                  </a:cxn>
                </a:cxnLst>
                <a:rect l="0" t="0" r="r" b="b"/>
                <a:pathLst>
                  <a:path w="186" h="138">
                    <a:moveTo>
                      <a:pt x="2" y="33"/>
                    </a:moveTo>
                    <a:lnTo>
                      <a:pt x="0" y="138"/>
                    </a:lnTo>
                    <a:lnTo>
                      <a:pt x="186" y="104"/>
                    </a:lnTo>
                    <a:lnTo>
                      <a:pt x="186" y="0"/>
                    </a:lnTo>
                    <a:lnTo>
                      <a:pt x="2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969696">
                      <a:gamma/>
                      <a:shade val="75686"/>
                      <a:invGamma/>
                    </a:srgbClr>
                  </a:gs>
                </a:gsLst>
                <a:lin ang="0" scaled="1"/>
              </a:gradFill>
              <a:ln w="317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>
                    <a:alpha val="50000"/>
                  </a:srgbClr>
                </a:prst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2" name="Line 206"/>
              <p:cNvSpPr>
                <a:spLocks noChangeShapeType="1"/>
              </p:cNvSpPr>
              <p:nvPr/>
            </p:nvSpPr>
            <p:spPr bwMode="auto">
              <a:xfrm flipH="1">
                <a:off x="1874" y="2408"/>
                <a:ext cx="0" cy="21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3" name="Line 207"/>
              <p:cNvSpPr>
                <a:spLocks noChangeShapeType="1"/>
              </p:cNvSpPr>
              <p:nvPr/>
            </p:nvSpPr>
            <p:spPr bwMode="auto">
              <a:xfrm flipH="1">
                <a:off x="1947" y="2394"/>
                <a:ext cx="0" cy="19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4" name="Line 208"/>
              <p:cNvSpPr>
                <a:spLocks noChangeShapeType="1"/>
              </p:cNvSpPr>
              <p:nvPr/>
            </p:nvSpPr>
            <p:spPr bwMode="auto">
              <a:xfrm flipH="1">
                <a:off x="1938" y="2404"/>
                <a:ext cx="0" cy="15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5" name="Line 209"/>
              <p:cNvSpPr>
                <a:spLocks noChangeShapeType="1"/>
              </p:cNvSpPr>
              <p:nvPr/>
            </p:nvSpPr>
            <p:spPr bwMode="auto">
              <a:xfrm flipH="1">
                <a:off x="1886" y="2417"/>
                <a:ext cx="0" cy="14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" name="Line 210"/>
              <p:cNvSpPr>
                <a:spLocks noChangeShapeType="1"/>
              </p:cNvSpPr>
              <p:nvPr/>
            </p:nvSpPr>
            <p:spPr bwMode="auto">
              <a:xfrm flipV="1">
                <a:off x="1897" y="2419"/>
                <a:ext cx="29" cy="6"/>
              </a:xfrm>
              <a:prstGeom prst="line">
                <a:avLst/>
              </a:prstGeom>
              <a:noFill/>
              <a:ln w="9525">
                <a:solidFill>
                  <a:srgbClr val="FFFF99">
                    <a:alpha val="4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7" name="Freeform 211"/>
              <p:cNvSpPr>
                <a:spLocks/>
              </p:cNvSpPr>
              <p:nvPr/>
            </p:nvSpPr>
            <p:spPr bwMode="auto">
              <a:xfrm>
                <a:off x="1671" y="2387"/>
                <a:ext cx="116" cy="39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" y="38"/>
                  </a:cxn>
                  <a:cxn ang="0">
                    <a:pos x="116" y="19"/>
                  </a:cxn>
                  <a:cxn ang="0">
                    <a:pos x="116" y="0"/>
                  </a:cxn>
                  <a:cxn ang="0">
                    <a:pos x="0" y="20"/>
                  </a:cxn>
                </a:cxnLst>
                <a:rect l="0" t="0" r="r" b="b"/>
                <a:pathLst>
                  <a:path w="116" h="38">
                    <a:moveTo>
                      <a:pt x="0" y="20"/>
                    </a:moveTo>
                    <a:lnTo>
                      <a:pt x="1" y="38"/>
                    </a:lnTo>
                    <a:lnTo>
                      <a:pt x="116" y="19"/>
                    </a:lnTo>
                    <a:lnTo>
                      <a:pt x="116" y="0"/>
                    </a:lnTo>
                    <a:lnTo>
                      <a:pt x="0" y="2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8" name="Line 212"/>
              <p:cNvSpPr>
                <a:spLocks noChangeShapeType="1"/>
              </p:cNvSpPr>
              <p:nvPr/>
            </p:nvSpPr>
            <p:spPr bwMode="auto">
              <a:xfrm flipV="1">
                <a:off x="1661" y="2394"/>
                <a:ext cx="133" cy="23"/>
              </a:xfrm>
              <a:prstGeom prst="line">
                <a:avLst/>
              </a:prstGeom>
              <a:noFill/>
              <a:ln w="317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9" name="Group 213"/>
            <p:cNvGrpSpPr>
              <a:grpSpLocks/>
            </p:cNvGrpSpPr>
            <p:nvPr/>
          </p:nvGrpSpPr>
          <p:grpSpPr bwMode="auto">
            <a:xfrm flipH="1">
              <a:off x="1536" y="1680"/>
              <a:ext cx="585" cy="583"/>
              <a:chOff x="1829" y="1130"/>
              <a:chExt cx="1859" cy="1865"/>
            </a:xfrm>
          </p:grpSpPr>
          <p:grpSp>
            <p:nvGrpSpPr>
              <p:cNvPr id="210" name="Group 214"/>
              <p:cNvGrpSpPr>
                <a:grpSpLocks/>
              </p:cNvGrpSpPr>
              <p:nvPr/>
            </p:nvGrpSpPr>
            <p:grpSpPr bwMode="auto">
              <a:xfrm>
                <a:off x="2470" y="1323"/>
                <a:ext cx="1218" cy="1259"/>
                <a:chOff x="2601" y="1199"/>
                <a:chExt cx="1218" cy="1408"/>
              </a:xfrm>
            </p:grpSpPr>
            <p:sp>
              <p:nvSpPr>
                <p:cNvPr id="223" name="Freeform 215"/>
                <p:cNvSpPr>
                  <a:spLocks/>
                </p:cNvSpPr>
                <p:nvPr/>
              </p:nvSpPr>
              <p:spPr bwMode="auto">
                <a:xfrm>
                  <a:off x="2598" y="1201"/>
                  <a:ext cx="1217" cy="180"/>
                </a:xfrm>
                <a:custGeom>
                  <a:avLst/>
                  <a:gdLst/>
                  <a:ahLst/>
                  <a:cxnLst>
                    <a:cxn ang="0">
                      <a:pos x="1205" y="151"/>
                    </a:cxn>
                    <a:cxn ang="0">
                      <a:pos x="964" y="178"/>
                    </a:cxn>
                    <a:cxn ang="0">
                      <a:pos x="0" y="0"/>
                    </a:cxn>
                    <a:cxn ang="0">
                      <a:pos x="1205" y="151"/>
                    </a:cxn>
                  </a:cxnLst>
                  <a:rect l="0" t="0" r="r" b="b"/>
                  <a:pathLst>
                    <a:path w="1205" h="178">
                      <a:moveTo>
                        <a:pt x="1205" y="151"/>
                      </a:moveTo>
                      <a:lnTo>
                        <a:pt x="964" y="178"/>
                      </a:lnTo>
                      <a:lnTo>
                        <a:pt x="0" y="0"/>
                      </a:lnTo>
                      <a:lnTo>
                        <a:pt x="1205" y="151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4" name="Freeform 216"/>
                <p:cNvSpPr>
                  <a:spLocks/>
                </p:cNvSpPr>
                <p:nvPr/>
              </p:nvSpPr>
              <p:spPr bwMode="auto">
                <a:xfrm>
                  <a:off x="3415" y="1360"/>
                  <a:ext cx="406" cy="1245"/>
                </a:xfrm>
                <a:custGeom>
                  <a:avLst/>
                  <a:gdLst/>
                  <a:ahLst/>
                  <a:cxnLst>
                    <a:cxn ang="0">
                      <a:pos x="405" y="0"/>
                    </a:cxn>
                    <a:cxn ang="0">
                      <a:pos x="389" y="1000"/>
                    </a:cxn>
                    <a:cxn ang="0">
                      <a:pos x="133" y="1241"/>
                    </a:cxn>
                    <a:cxn ang="0">
                      <a:pos x="0" y="13"/>
                    </a:cxn>
                    <a:cxn ang="0">
                      <a:pos x="189" y="24"/>
                    </a:cxn>
                    <a:cxn ang="0">
                      <a:pos x="405" y="0"/>
                    </a:cxn>
                  </a:cxnLst>
                  <a:rect l="0" t="0" r="r" b="b"/>
                  <a:pathLst>
                    <a:path w="405" h="1241">
                      <a:moveTo>
                        <a:pt x="405" y="0"/>
                      </a:moveTo>
                      <a:lnTo>
                        <a:pt x="389" y="1000"/>
                      </a:lnTo>
                      <a:lnTo>
                        <a:pt x="133" y="1241"/>
                      </a:lnTo>
                      <a:lnTo>
                        <a:pt x="0" y="13"/>
                      </a:lnTo>
                      <a:lnTo>
                        <a:pt x="189" y="24"/>
                      </a:lnTo>
                      <a:lnTo>
                        <a:pt x="405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969696">
                        <a:gamma/>
                        <a:tint val="48627"/>
                        <a:invGamma/>
                      </a:srgbClr>
                    </a:gs>
                    <a:gs pos="100000">
                      <a:srgbClr val="969696"/>
                    </a:gs>
                  </a:gsLst>
                  <a:lin ang="0" scaled="1"/>
                </a:gra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11" name="Oval 217"/>
              <p:cNvSpPr>
                <a:spLocks noChangeArrowheads="1"/>
              </p:cNvSpPr>
              <p:nvPr/>
            </p:nvSpPr>
            <p:spPr bwMode="auto">
              <a:xfrm flipH="1">
                <a:off x="2270" y="2679"/>
                <a:ext cx="1106" cy="315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2" name="Oval 218"/>
              <p:cNvSpPr>
                <a:spLocks noChangeArrowheads="1"/>
              </p:cNvSpPr>
              <p:nvPr/>
            </p:nvSpPr>
            <p:spPr bwMode="auto">
              <a:xfrm flipH="1">
                <a:off x="2270" y="2654"/>
                <a:ext cx="1106" cy="315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3" name="Freeform 219"/>
              <p:cNvSpPr>
                <a:spLocks/>
              </p:cNvSpPr>
              <p:nvPr/>
            </p:nvSpPr>
            <p:spPr bwMode="auto">
              <a:xfrm>
                <a:off x="1827" y="1139"/>
                <a:ext cx="1623" cy="1732"/>
              </a:xfrm>
              <a:custGeom>
                <a:avLst/>
                <a:gdLst/>
                <a:ahLst/>
                <a:cxnLst>
                  <a:cxn ang="0">
                    <a:pos x="1602" y="204"/>
                  </a:cxn>
                  <a:cxn ang="0">
                    <a:pos x="5" y="0"/>
                  </a:cxn>
                  <a:cxn ang="0">
                    <a:pos x="0" y="1488"/>
                  </a:cxn>
                  <a:cxn ang="0">
                    <a:pos x="1597" y="1734"/>
                  </a:cxn>
                  <a:cxn ang="0">
                    <a:pos x="1602" y="204"/>
                  </a:cxn>
                </a:cxnLst>
                <a:rect l="0" t="0" r="r" b="b"/>
                <a:pathLst>
                  <a:path w="1602" h="1734">
                    <a:moveTo>
                      <a:pt x="1602" y="204"/>
                    </a:moveTo>
                    <a:lnTo>
                      <a:pt x="5" y="0"/>
                    </a:lnTo>
                    <a:lnTo>
                      <a:pt x="0" y="1488"/>
                    </a:lnTo>
                    <a:lnTo>
                      <a:pt x="1597" y="1734"/>
                    </a:lnTo>
                    <a:lnTo>
                      <a:pt x="1602" y="2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4" name="Freeform 220"/>
              <p:cNvSpPr>
                <a:spLocks/>
              </p:cNvSpPr>
              <p:nvPr/>
            </p:nvSpPr>
            <p:spPr bwMode="auto">
              <a:xfrm>
                <a:off x="1895" y="2543"/>
                <a:ext cx="1334" cy="328"/>
              </a:xfrm>
              <a:custGeom>
                <a:avLst/>
                <a:gdLst/>
                <a:ahLst/>
                <a:cxnLst>
                  <a:cxn ang="0">
                    <a:pos x="1327" y="200"/>
                  </a:cxn>
                  <a:cxn ang="0">
                    <a:pos x="0" y="0"/>
                  </a:cxn>
                  <a:cxn ang="0">
                    <a:pos x="0" y="115"/>
                  </a:cxn>
                  <a:cxn ang="0">
                    <a:pos x="1330" y="330"/>
                  </a:cxn>
                  <a:cxn ang="0">
                    <a:pos x="1327" y="200"/>
                  </a:cxn>
                </a:cxnLst>
                <a:rect l="0" t="0" r="r" b="b"/>
                <a:pathLst>
                  <a:path w="1330" h="330">
                    <a:moveTo>
                      <a:pt x="1327" y="200"/>
                    </a:moveTo>
                    <a:lnTo>
                      <a:pt x="0" y="0"/>
                    </a:lnTo>
                    <a:lnTo>
                      <a:pt x="0" y="115"/>
                    </a:lnTo>
                    <a:lnTo>
                      <a:pt x="1330" y="330"/>
                    </a:lnTo>
                    <a:lnTo>
                      <a:pt x="1327" y="2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5" name="Freeform 221"/>
              <p:cNvSpPr>
                <a:spLocks/>
              </p:cNvSpPr>
              <p:nvPr/>
            </p:nvSpPr>
            <p:spPr bwMode="auto">
              <a:xfrm>
                <a:off x="3438" y="1337"/>
                <a:ext cx="55" cy="1534"/>
              </a:xfrm>
              <a:custGeom>
                <a:avLst/>
                <a:gdLst/>
                <a:ahLst/>
                <a:cxnLst>
                  <a:cxn ang="0">
                    <a:pos x="4" y="16"/>
                  </a:cxn>
                  <a:cxn ang="0">
                    <a:pos x="56" y="0"/>
                  </a:cxn>
                  <a:cxn ang="0">
                    <a:pos x="46" y="1513"/>
                  </a:cxn>
                  <a:cxn ang="0">
                    <a:pos x="0" y="1536"/>
                  </a:cxn>
                  <a:cxn ang="0">
                    <a:pos x="4" y="16"/>
                  </a:cxn>
                </a:cxnLst>
                <a:rect l="0" t="0" r="r" b="b"/>
                <a:pathLst>
                  <a:path w="56" h="1536">
                    <a:moveTo>
                      <a:pt x="4" y="16"/>
                    </a:moveTo>
                    <a:lnTo>
                      <a:pt x="56" y="0"/>
                    </a:lnTo>
                    <a:lnTo>
                      <a:pt x="46" y="1513"/>
                    </a:lnTo>
                    <a:lnTo>
                      <a:pt x="0" y="1536"/>
                    </a:lnTo>
                    <a:lnTo>
                      <a:pt x="4" y="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6" name="Oval 222"/>
              <p:cNvSpPr>
                <a:spLocks noChangeArrowheads="1"/>
              </p:cNvSpPr>
              <p:nvPr/>
            </p:nvSpPr>
            <p:spPr bwMode="auto">
              <a:xfrm flipH="1">
                <a:off x="1969" y="2568"/>
                <a:ext cx="49" cy="93"/>
              </a:xfrm>
              <a:prstGeom prst="ellipse">
                <a:avLst/>
              </a:prstGeom>
              <a:solidFill>
                <a:srgbClr val="777777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7" name="Oval 223"/>
              <p:cNvSpPr>
                <a:spLocks noChangeArrowheads="1"/>
              </p:cNvSpPr>
              <p:nvPr/>
            </p:nvSpPr>
            <p:spPr bwMode="auto">
              <a:xfrm flipH="1">
                <a:off x="2061" y="2592"/>
                <a:ext cx="43" cy="7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8" name="Oval 224"/>
              <p:cNvSpPr>
                <a:spLocks noChangeArrowheads="1"/>
              </p:cNvSpPr>
              <p:nvPr/>
            </p:nvSpPr>
            <p:spPr bwMode="auto">
              <a:xfrm flipH="1">
                <a:off x="2356" y="266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9" name="Oval 225"/>
              <p:cNvSpPr>
                <a:spLocks noChangeArrowheads="1"/>
              </p:cNvSpPr>
              <p:nvPr/>
            </p:nvSpPr>
            <p:spPr bwMode="auto">
              <a:xfrm flipH="1">
                <a:off x="2454" y="2679"/>
                <a:ext cx="49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0" name="Oval 226"/>
              <p:cNvSpPr>
                <a:spLocks noChangeArrowheads="1"/>
              </p:cNvSpPr>
              <p:nvPr/>
            </p:nvSpPr>
            <p:spPr bwMode="auto">
              <a:xfrm flipH="1">
                <a:off x="2553" y="269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1" name="Freeform 227"/>
              <p:cNvSpPr>
                <a:spLocks/>
              </p:cNvSpPr>
              <p:nvPr/>
            </p:nvSpPr>
            <p:spPr bwMode="auto">
              <a:xfrm>
                <a:off x="1952" y="1310"/>
                <a:ext cx="1342" cy="1363"/>
              </a:xfrm>
              <a:custGeom>
                <a:avLst/>
                <a:gdLst>
                  <a:gd name="T0" fmla="*/ 1312 w 1345"/>
                  <a:gd name="T1" fmla="*/ 167 h 1366"/>
                  <a:gd name="T2" fmla="*/ 0 w 1345"/>
                  <a:gd name="T3" fmla="*/ 0 h 1366"/>
                  <a:gd name="T4" fmla="*/ 0 w 1345"/>
                  <a:gd name="T5" fmla="*/ 1139 h 1366"/>
                  <a:gd name="T6" fmla="*/ 1327 w 1345"/>
                  <a:gd name="T7" fmla="*/ 1348 h 1366"/>
                  <a:gd name="T8" fmla="*/ 1312 w 1345"/>
                  <a:gd name="T9" fmla="*/ 167 h 13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5"/>
                  <a:gd name="T16" fmla="*/ 0 h 1366"/>
                  <a:gd name="T17" fmla="*/ 1345 w 1345"/>
                  <a:gd name="T18" fmla="*/ 1366 h 13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5" h="1366">
                    <a:moveTo>
                      <a:pt x="1330" y="167"/>
                    </a:moveTo>
                    <a:lnTo>
                      <a:pt x="0" y="0"/>
                    </a:lnTo>
                    <a:lnTo>
                      <a:pt x="0" y="1157"/>
                    </a:lnTo>
                    <a:lnTo>
                      <a:pt x="1345" y="1366"/>
                    </a:lnTo>
                    <a:lnTo>
                      <a:pt x="1330" y="16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100000">
                    <a:srgbClr val="4D4D4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latinLnBrk="0"/>
                <a:endParaRPr lang="ko-KR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2" name="Freeform 228"/>
              <p:cNvSpPr>
                <a:spLocks/>
              </p:cNvSpPr>
              <p:nvPr/>
            </p:nvSpPr>
            <p:spPr bwMode="auto">
              <a:xfrm>
                <a:off x="1833" y="1133"/>
                <a:ext cx="1660" cy="21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68" y="0"/>
                  </a:cxn>
                  <a:cxn ang="0">
                    <a:pos x="1660" y="199"/>
                  </a:cxn>
                  <a:cxn ang="0">
                    <a:pos x="1613" y="214"/>
                  </a:cxn>
                  <a:cxn ang="0">
                    <a:pos x="0" y="10"/>
                  </a:cxn>
                </a:cxnLst>
                <a:rect l="0" t="0" r="r" b="b"/>
                <a:pathLst>
                  <a:path w="1660" h="214">
                    <a:moveTo>
                      <a:pt x="0" y="10"/>
                    </a:moveTo>
                    <a:lnTo>
                      <a:pt x="68" y="0"/>
                    </a:lnTo>
                    <a:lnTo>
                      <a:pt x="1660" y="199"/>
                    </a:lnTo>
                    <a:lnTo>
                      <a:pt x="1613" y="214"/>
                    </a:lnTo>
                    <a:lnTo>
                      <a:pt x="0" y="10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262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72898" y="701267"/>
            <a:ext cx="594785" cy="952938"/>
          </a:xfrm>
          <a:prstGeom prst="rect">
            <a:avLst/>
          </a:prstGeom>
          <a:noFill/>
        </p:spPr>
      </p:pic>
      <p:grpSp>
        <p:nvGrpSpPr>
          <p:cNvPr id="263" name="그룹 262"/>
          <p:cNvGrpSpPr/>
          <p:nvPr/>
        </p:nvGrpSpPr>
        <p:grpSpPr>
          <a:xfrm>
            <a:off x="2998288" y="1010059"/>
            <a:ext cx="594318" cy="301505"/>
            <a:chOff x="1993293" y="2564030"/>
            <a:chExt cx="807572" cy="288942"/>
          </a:xfrm>
        </p:grpSpPr>
        <p:sp>
          <p:nvSpPr>
            <p:cNvPr id="264" name="AutoShape 26"/>
            <p:cNvSpPr>
              <a:spLocks noChangeArrowheads="1"/>
            </p:cNvSpPr>
            <p:nvPr/>
          </p:nvSpPr>
          <p:spPr bwMode="auto">
            <a:xfrm>
              <a:off x="1993293" y="2564030"/>
              <a:ext cx="807572" cy="288942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5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009917" y="2728044"/>
              <a:ext cx="584994" cy="1249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3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</a:t>
              </a:r>
              <a:endParaRPr lang="ko-KR" altLang="en-US" sz="3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6" name="TextBox 265"/>
          <p:cNvSpPr txBox="1"/>
          <p:nvPr/>
        </p:nvSpPr>
        <p:spPr>
          <a:xfrm>
            <a:off x="1524001" y="1516857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192.168.1.10/24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TextBox 266"/>
          <p:cNvSpPr txBox="1"/>
          <p:nvPr/>
        </p:nvSpPr>
        <p:spPr>
          <a:xfrm>
            <a:off x="9589547" y="1706431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192.168.2.20/24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8" name="Group 19"/>
          <p:cNvGrpSpPr>
            <a:grpSpLocks/>
          </p:cNvGrpSpPr>
          <p:nvPr/>
        </p:nvGrpSpPr>
        <p:grpSpPr bwMode="auto">
          <a:xfrm>
            <a:off x="4262567" y="1052457"/>
            <a:ext cx="720590" cy="276802"/>
            <a:chOff x="3682" y="2312"/>
            <a:chExt cx="786" cy="497"/>
          </a:xfrm>
        </p:grpSpPr>
        <p:sp>
          <p:nvSpPr>
            <p:cNvPr id="269" name="AutoShape 20"/>
            <p:cNvSpPr>
              <a:spLocks noChangeArrowheads="1"/>
            </p:cNvSpPr>
            <p:nvPr/>
          </p:nvSpPr>
          <p:spPr bwMode="auto">
            <a:xfrm>
              <a:off x="3683" y="2317"/>
              <a:ext cx="785" cy="49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0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3719" y="2513"/>
              <a:ext cx="717" cy="24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1" name="Oval 22"/>
            <p:cNvSpPr>
              <a:spLocks noChangeArrowheads="1"/>
            </p:cNvSpPr>
            <p:nvPr/>
          </p:nvSpPr>
          <p:spPr bwMode="auto">
            <a:xfrm>
              <a:off x="3682" y="2312"/>
              <a:ext cx="786" cy="24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2" name="AutoShape 23"/>
            <p:cNvSpPr>
              <a:spLocks noChangeArrowheads="1"/>
            </p:cNvSpPr>
            <p:nvPr/>
          </p:nvSpPr>
          <p:spPr bwMode="auto">
            <a:xfrm rot="5400000">
              <a:off x="4082" y="2198"/>
              <a:ext cx="115" cy="485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3" name="AutoShape 24"/>
            <p:cNvSpPr>
              <a:spLocks noChangeArrowheads="1"/>
            </p:cNvSpPr>
            <p:nvPr/>
          </p:nvSpPr>
          <p:spPr bwMode="auto">
            <a:xfrm rot="-5400000">
              <a:off x="3973" y="2157"/>
              <a:ext cx="113" cy="495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74" name="Group 19"/>
          <p:cNvGrpSpPr>
            <a:grpSpLocks/>
          </p:cNvGrpSpPr>
          <p:nvPr/>
        </p:nvGrpSpPr>
        <p:grpSpPr bwMode="auto">
          <a:xfrm>
            <a:off x="7552905" y="1025146"/>
            <a:ext cx="720590" cy="276802"/>
            <a:chOff x="3682" y="2312"/>
            <a:chExt cx="786" cy="497"/>
          </a:xfrm>
        </p:grpSpPr>
        <p:sp>
          <p:nvSpPr>
            <p:cNvPr id="275" name="AutoShape 20"/>
            <p:cNvSpPr>
              <a:spLocks noChangeArrowheads="1"/>
            </p:cNvSpPr>
            <p:nvPr/>
          </p:nvSpPr>
          <p:spPr bwMode="auto">
            <a:xfrm>
              <a:off x="3683" y="2317"/>
              <a:ext cx="785" cy="49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6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3719" y="2513"/>
              <a:ext cx="717" cy="24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7" name="Oval 22"/>
            <p:cNvSpPr>
              <a:spLocks noChangeArrowheads="1"/>
            </p:cNvSpPr>
            <p:nvPr/>
          </p:nvSpPr>
          <p:spPr bwMode="auto">
            <a:xfrm>
              <a:off x="3682" y="2312"/>
              <a:ext cx="786" cy="24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8" name="AutoShape 23"/>
            <p:cNvSpPr>
              <a:spLocks noChangeArrowheads="1"/>
            </p:cNvSpPr>
            <p:nvPr/>
          </p:nvSpPr>
          <p:spPr bwMode="auto">
            <a:xfrm rot="5400000">
              <a:off x="4082" y="2198"/>
              <a:ext cx="115" cy="485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9" name="AutoShape 24"/>
            <p:cNvSpPr>
              <a:spLocks noChangeArrowheads="1"/>
            </p:cNvSpPr>
            <p:nvPr/>
          </p:nvSpPr>
          <p:spPr bwMode="auto">
            <a:xfrm rot="-5400000">
              <a:off x="3973" y="2157"/>
              <a:ext cx="113" cy="495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80" name="그룹 279"/>
          <p:cNvGrpSpPr/>
          <p:nvPr/>
        </p:nvGrpSpPr>
        <p:grpSpPr>
          <a:xfrm>
            <a:off x="8790118" y="1009402"/>
            <a:ext cx="594318" cy="301505"/>
            <a:chOff x="1993293" y="2564030"/>
            <a:chExt cx="807572" cy="288942"/>
          </a:xfrm>
        </p:grpSpPr>
        <p:sp>
          <p:nvSpPr>
            <p:cNvPr id="281" name="AutoShape 26"/>
            <p:cNvSpPr>
              <a:spLocks noChangeArrowheads="1"/>
            </p:cNvSpPr>
            <p:nvPr/>
          </p:nvSpPr>
          <p:spPr bwMode="auto">
            <a:xfrm>
              <a:off x="1993293" y="2564030"/>
              <a:ext cx="807572" cy="288942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2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009917" y="2728044"/>
              <a:ext cx="584994" cy="1249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3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</a:t>
              </a:r>
              <a:endParaRPr lang="ko-KR" altLang="en-US" sz="3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3" name="TextBox 282"/>
          <p:cNvSpPr txBox="1"/>
          <p:nvPr/>
        </p:nvSpPr>
        <p:spPr>
          <a:xfrm>
            <a:off x="8123923" y="630092"/>
            <a:ext cx="1659429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22.22.22.22 → 192.168.2.20</a:t>
            </a:r>
            <a:endParaRPr lang="ko-KR" altLang="en-US" sz="1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8552158" y="343697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 Table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직선 화살표 연결선 84"/>
          <p:cNvCxnSpPr/>
          <p:nvPr/>
        </p:nvCxnSpPr>
        <p:spPr>
          <a:xfrm>
            <a:off x="1732671" y="4731234"/>
            <a:ext cx="8424612" cy="1476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구름 85"/>
          <p:cNvSpPr/>
          <p:nvPr/>
        </p:nvSpPr>
        <p:spPr>
          <a:xfrm>
            <a:off x="5531862" y="4432789"/>
            <a:ext cx="1381758" cy="63621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7" name="Group 172"/>
          <p:cNvGrpSpPr>
            <a:grpSpLocks/>
          </p:cNvGrpSpPr>
          <p:nvPr/>
        </p:nvGrpSpPr>
        <p:grpSpPr bwMode="auto">
          <a:xfrm>
            <a:off x="1680448" y="4453980"/>
            <a:ext cx="672801" cy="697603"/>
            <a:chOff x="1460" y="1680"/>
            <a:chExt cx="971" cy="1145"/>
          </a:xfrm>
        </p:grpSpPr>
        <p:grpSp>
          <p:nvGrpSpPr>
            <p:cNvPr id="88" name="Group 173"/>
            <p:cNvGrpSpPr>
              <a:grpSpLocks/>
            </p:cNvGrpSpPr>
            <p:nvPr/>
          </p:nvGrpSpPr>
          <p:grpSpPr bwMode="auto">
            <a:xfrm rot="20775601" flipH="1">
              <a:off x="2221" y="2374"/>
              <a:ext cx="210" cy="162"/>
              <a:chOff x="3499" y="2336"/>
              <a:chExt cx="1848" cy="1427"/>
            </a:xfrm>
          </p:grpSpPr>
          <p:sp>
            <p:nvSpPr>
              <p:cNvPr id="137" name="Freeform 174"/>
              <p:cNvSpPr>
                <a:spLocks/>
              </p:cNvSpPr>
              <p:nvPr/>
            </p:nvSpPr>
            <p:spPr bwMode="auto">
              <a:xfrm rot="20419783" flipH="1">
                <a:off x="4677" y="2330"/>
                <a:ext cx="783" cy="460"/>
              </a:xfrm>
              <a:custGeom>
                <a:avLst/>
                <a:gdLst/>
                <a:ahLst/>
                <a:cxnLst>
                  <a:cxn ang="0">
                    <a:pos x="1224" y="755"/>
                  </a:cxn>
                  <a:cxn ang="0">
                    <a:pos x="1112" y="716"/>
                  </a:cxn>
                  <a:cxn ang="0">
                    <a:pos x="1051" y="693"/>
                  </a:cxn>
                  <a:cxn ang="0">
                    <a:pos x="1006" y="671"/>
                  </a:cxn>
                  <a:cxn ang="0">
                    <a:pos x="984" y="660"/>
                  </a:cxn>
                  <a:cxn ang="0">
                    <a:pos x="939" y="626"/>
                  </a:cxn>
                  <a:cxn ang="0">
                    <a:pos x="894" y="548"/>
                  </a:cxn>
                  <a:cxn ang="0">
                    <a:pos x="889" y="531"/>
                  </a:cxn>
                  <a:cxn ang="0">
                    <a:pos x="850" y="509"/>
                  </a:cxn>
                  <a:cxn ang="0">
                    <a:pos x="799" y="481"/>
                  </a:cxn>
                  <a:cxn ang="0">
                    <a:pos x="704" y="453"/>
                  </a:cxn>
                  <a:cxn ang="0">
                    <a:pos x="419" y="442"/>
                  </a:cxn>
                  <a:cxn ang="0">
                    <a:pos x="330" y="408"/>
                  </a:cxn>
                  <a:cxn ang="0">
                    <a:pos x="212" y="279"/>
                  </a:cxn>
                  <a:cxn ang="0">
                    <a:pos x="145" y="134"/>
                  </a:cxn>
                  <a:cxn ang="0">
                    <a:pos x="78" y="39"/>
                  </a:cxn>
                  <a:cxn ang="0">
                    <a:pos x="0" y="0"/>
                  </a:cxn>
                </a:cxnLst>
                <a:rect l="0" t="0" r="r" b="b"/>
                <a:pathLst>
                  <a:path w="1224" h="755">
                    <a:moveTo>
                      <a:pt x="1224" y="755"/>
                    </a:moveTo>
                    <a:cubicBezTo>
                      <a:pt x="1190" y="729"/>
                      <a:pt x="1154" y="724"/>
                      <a:pt x="1112" y="716"/>
                    </a:cubicBezTo>
                    <a:cubicBezTo>
                      <a:pt x="1091" y="705"/>
                      <a:pt x="1072" y="702"/>
                      <a:pt x="1051" y="693"/>
                    </a:cubicBezTo>
                    <a:cubicBezTo>
                      <a:pt x="1036" y="686"/>
                      <a:pt x="1021" y="678"/>
                      <a:pt x="1006" y="671"/>
                    </a:cubicBezTo>
                    <a:cubicBezTo>
                      <a:pt x="999" y="667"/>
                      <a:pt x="984" y="660"/>
                      <a:pt x="984" y="660"/>
                    </a:cubicBezTo>
                    <a:cubicBezTo>
                      <a:pt x="971" y="646"/>
                      <a:pt x="939" y="626"/>
                      <a:pt x="939" y="626"/>
                    </a:cubicBezTo>
                    <a:cubicBezTo>
                      <a:pt x="923" y="602"/>
                      <a:pt x="906" y="575"/>
                      <a:pt x="894" y="548"/>
                    </a:cubicBezTo>
                    <a:cubicBezTo>
                      <a:pt x="892" y="543"/>
                      <a:pt x="893" y="536"/>
                      <a:pt x="889" y="531"/>
                    </a:cubicBezTo>
                    <a:cubicBezTo>
                      <a:pt x="884" y="524"/>
                      <a:pt x="855" y="512"/>
                      <a:pt x="850" y="509"/>
                    </a:cubicBezTo>
                    <a:cubicBezTo>
                      <a:pt x="802" y="480"/>
                      <a:pt x="833" y="491"/>
                      <a:pt x="799" y="481"/>
                    </a:cubicBezTo>
                    <a:cubicBezTo>
                      <a:pt x="764" y="457"/>
                      <a:pt x="751" y="457"/>
                      <a:pt x="704" y="453"/>
                    </a:cubicBezTo>
                    <a:cubicBezTo>
                      <a:pt x="606" y="457"/>
                      <a:pt x="515" y="459"/>
                      <a:pt x="419" y="442"/>
                    </a:cubicBezTo>
                    <a:cubicBezTo>
                      <a:pt x="391" y="426"/>
                      <a:pt x="360" y="419"/>
                      <a:pt x="330" y="408"/>
                    </a:cubicBezTo>
                    <a:cubicBezTo>
                      <a:pt x="287" y="368"/>
                      <a:pt x="245" y="328"/>
                      <a:pt x="212" y="279"/>
                    </a:cubicBezTo>
                    <a:cubicBezTo>
                      <a:pt x="183" y="235"/>
                      <a:pt x="168" y="181"/>
                      <a:pt x="145" y="134"/>
                    </a:cubicBezTo>
                    <a:cubicBezTo>
                      <a:pt x="128" y="100"/>
                      <a:pt x="99" y="71"/>
                      <a:pt x="78" y="39"/>
                    </a:cubicBezTo>
                    <a:cubicBezTo>
                      <a:pt x="70" y="27"/>
                      <a:pt x="15" y="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Freeform 175"/>
              <p:cNvSpPr>
                <a:spLocks/>
              </p:cNvSpPr>
              <p:nvPr/>
            </p:nvSpPr>
            <p:spPr bwMode="auto">
              <a:xfrm rot="-1180217">
                <a:off x="3532" y="2934"/>
                <a:ext cx="1464" cy="698"/>
              </a:xfrm>
              <a:custGeom>
                <a:avLst/>
                <a:gdLst/>
                <a:ahLst/>
                <a:cxnLst>
                  <a:cxn ang="0">
                    <a:pos x="886" y="33"/>
                  </a:cxn>
                  <a:cxn ang="0">
                    <a:pos x="937" y="70"/>
                  </a:cxn>
                  <a:cxn ang="0">
                    <a:pos x="971" y="130"/>
                  </a:cxn>
                  <a:cxn ang="0">
                    <a:pos x="967" y="218"/>
                  </a:cxn>
                  <a:cxn ang="0">
                    <a:pos x="882" y="261"/>
                  </a:cxn>
                  <a:cxn ang="0">
                    <a:pos x="791" y="294"/>
                  </a:cxn>
                  <a:cxn ang="0">
                    <a:pos x="665" y="382"/>
                  </a:cxn>
                  <a:cxn ang="0">
                    <a:pos x="519" y="522"/>
                  </a:cxn>
                  <a:cxn ang="0">
                    <a:pos x="397" y="542"/>
                  </a:cxn>
                  <a:cxn ang="0">
                    <a:pos x="298" y="550"/>
                  </a:cxn>
                  <a:cxn ang="0">
                    <a:pos x="155" y="522"/>
                  </a:cxn>
                  <a:cxn ang="0">
                    <a:pos x="34" y="459"/>
                  </a:cxn>
                  <a:cxn ang="0">
                    <a:pos x="0" y="393"/>
                  </a:cxn>
                  <a:cxn ang="0">
                    <a:pos x="11" y="315"/>
                  </a:cxn>
                  <a:cxn ang="0">
                    <a:pos x="63" y="210"/>
                  </a:cxn>
                  <a:cxn ang="0">
                    <a:pos x="142" y="147"/>
                  </a:cxn>
                  <a:cxn ang="0">
                    <a:pos x="246" y="89"/>
                  </a:cxn>
                  <a:cxn ang="0">
                    <a:pos x="445" y="21"/>
                  </a:cxn>
                  <a:cxn ang="0">
                    <a:pos x="634" y="0"/>
                  </a:cxn>
                  <a:cxn ang="0">
                    <a:pos x="794" y="13"/>
                  </a:cxn>
                  <a:cxn ang="0">
                    <a:pos x="886" y="33"/>
                  </a:cxn>
                </a:cxnLst>
                <a:rect l="0" t="0" r="r" b="b"/>
                <a:pathLst>
                  <a:path w="971" h="550">
                    <a:moveTo>
                      <a:pt x="886" y="33"/>
                    </a:moveTo>
                    <a:lnTo>
                      <a:pt x="937" y="70"/>
                    </a:lnTo>
                    <a:lnTo>
                      <a:pt x="971" y="130"/>
                    </a:lnTo>
                    <a:lnTo>
                      <a:pt x="967" y="218"/>
                    </a:lnTo>
                    <a:lnTo>
                      <a:pt x="882" y="261"/>
                    </a:lnTo>
                    <a:lnTo>
                      <a:pt x="791" y="294"/>
                    </a:lnTo>
                    <a:lnTo>
                      <a:pt x="665" y="382"/>
                    </a:lnTo>
                    <a:lnTo>
                      <a:pt x="519" y="522"/>
                    </a:lnTo>
                    <a:lnTo>
                      <a:pt x="397" y="542"/>
                    </a:lnTo>
                    <a:lnTo>
                      <a:pt x="298" y="550"/>
                    </a:lnTo>
                    <a:lnTo>
                      <a:pt x="155" y="522"/>
                    </a:lnTo>
                    <a:lnTo>
                      <a:pt x="34" y="459"/>
                    </a:lnTo>
                    <a:lnTo>
                      <a:pt x="0" y="393"/>
                    </a:lnTo>
                    <a:lnTo>
                      <a:pt x="11" y="315"/>
                    </a:lnTo>
                    <a:lnTo>
                      <a:pt x="63" y="210"/>
                    </a:lnTo>
                    <a:lnTo>
                      <a:pt x="142" y="147"/>
                    </a:lnTo>
                    <a:lnTo>
                      <a:pt x="246" y="89"/>
                    </a:lnTo>
                    <a:lnTo>
                      <a:pt x="445" y="21"/>
                    </a:lnTo>
                    <a:lnTo>
                      <a:pt x="634" y="0"/>
                    </a:lnTo>
                    <a:lnTo>
                      <a:pt x="794" y="13"/>
                    </a:lnTo>
                    <a:lnTo>
                      <a:pt x="886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FFFFFF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Freeform 176"/>
              <p:cNvSpPr>
                <a:spLocks/>
              </p:cNvSpPr>
              <p:nvPr/>
            </p:nvSpPr>
            <p:spPr bwMode="auto">
              <a:xfrm rot="20419783" flipH="1">
                <a:off x="3661" y="3116"/>
                <a:ext cx="1413" cy="5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18"/>
                  </a:cxn>
                  <a:cxn ang="0">
                    <a:pos x="319" y="302"/>
                  </a:cxn>
                  <a:cxn ang="0">
                    <a:pos x="604" y="448"/>
                  </a:cxn>
                  <a:cxn ang="0">
                    <a:pos x="867" y="526"/>
                  </a:cxn>
                  <a:cxn ang="0">
                    <a:pos x="1091" y="504"/>
                  </a:cxn>
                  <a:cxn ang="0">
                    <a:pos x="1270" y="448"/>
                  </a:cxn>
                  <a:cxn ang="0">
                    <a:pos x="1432" y="353"/>
                  </a:cxn>
                  <a:cxn ang="0">
                    <a:pos x="1253" y="431"/>
                  </a:cxn>
                  <a:cxn ang="0">
                    <a:pos x="1108" y="470"/>
                  </a:cxn>
                  <a:cxn ang="0">
                    <a:pos x="951" y="470"/>
                  </a:cxn>
                  <a:cxn ang="0">
                    <a:pos x="789" y="453"/>
                  </a:cxn>
                  <a:cxn ang="0">
                    <a:pos x="699" y="420"/>
                  </a:cxn>
                  <a:cxn ang="0">
                    <a:pos x="560" y="330"/>
                  </a:cxn>
                  <a:cxn ang="0">
                    <a:pos x="437" y="213"/>
                  </a:cxn>
                  <a:cxn ang="0">
                    <a:pos x="274" y="129"/>
                  </a:cxn>
                  <a:cxn ang="0">
                    <a:pos x="140" y="73"/>
                  </a:cxn>
                  <a:cxn ang="0">
                    <a:pos x="0" y="0"/>
                  </a:cxn>
                </a:cxnLst>
                <a:rect l="0" t="0" r="r" b="b"/>
                <a:pathLst>
                  <a:path w="1432" h="526">
                    <a:moveTo>
                      <a:pt x="0" y="0"/>
                    </a:moveTo>
                    <a:lnTo>
                      <a:pt x="56" y="118"/>
                    </a:lnTo>
                    <a:lnTo>
                      <a:pt x="319" y="302"/>
                    </a:lnTo>
                    <a:lnTo>
                      <a:pt x="604" y="448"/>
                    </a:lnTo>
                    <a:lnTo>
                      <a:pt x="867" y="526"/>
                    </a:lnTo>
                    <a:lnTo>
                      <a:pt x="1091" y="504"/>
                    </a:lnTo>
                    <a:lnTo>
                      <a:pt x="1270" y="448"/>
                    </a:lnTo>
                    <a:lnTo>
                      <a:pt x="1432" y="353"/>
                    </a:lnTo>
                    <a:lnTo>
                      <a:pt x="1253" y="431"/>
                    </a:lnTo>
                    <a:lnTo>
                      <a:pt x="1108" y="470"/>
                    </a:lnTo>
                    <a:lnTo>
                      <a:pt x="951" y="470"/>
                    </a:lnTo>
                    <a:lnTo>
                      <a:pt x="789" y="453"/>
                    </a:lnTo>
                    <a:lnTo>
                      <a:pt x="699" y="420"/>
                    </a:lnTo>
                    <a:lnTo>
                      <a:pt x="560" y="330"/>
                    </a:lnTo>
                    <a:lnTo>
                      <a:pt x="437" y="213"/>
                    </a:lnTo>
                    <a:lnTo>
                      <a:pt x="274" y="129"/>
                    </a:lnTo>
                    <a:lnTo>
                      <a:pt x="140" y="7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" name="Freeform 177"/>
              <p:cNvSpPr>
                <a:spLocks/>
              </p:cNvSpPr>
              <p:nvPr/>
            </p:nvSpPr>
            <p:spPr bwMode="auto">
              <a:xfrm rot="-1180217">
                <a:off x="4358" y="2814"/>
                <a:ext cx="323" cy="375"/>
              </a:xfrm>
              <a:custGeom>
                <a:avLst/>
                <a:gdLst/>
                <a:ahLst/>
                <a:cxnLst>
                  <a:cxn ang="0">
                    <a:pos x="229" y="261"/>
                  </a:cxn>
                  <a:cxn ang="0">
                    <a:pos x="115" y="57"/>
                  </a:cxn>
                  <a:cxn ang="0">
                    <a:pos x="0" y="0"/>
                  </a:cxn>
                </a:cxnLst>
                <a:rect l="0" t="0" r="r" b="b"/>
                <a:pathLst>
                  <a:path w="229" h="261">
                    <a:moveTo>
                      <a:pt x="229" y="261"/>
                    </a:moveTo>
                    <a:lnTo>
                      <a:pt x="115" y="57"/>
                    </a:ln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rgbClr val="B2B2B2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" name="Freeform 178"/>
              <p:cNvSpPr>
                <a:spLocks/>
              </p:cNvSpPr>
              <p:nvPr/>
            </p:nvSpPr>
            <p:spPr bwMode="auto">
              <a:xfrm rot="20419783" flipH="1">
                <a:off x="4324" y="2821"/>
                <a:ext cx="443" cy="68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246" y="26"/>
                  </a:cxn>
                  <a:cxn ang="0">
                    <a:pos x="408" y="0"/>
                  </a:cxn>
                  <a:cxn ang="0">
                    <a:pos x="560" y="26"/>
                  </a:cxn>
                </a:cxnLst>
                <a:rect l="0" t="0" r="r" b="b"/>
                <a:pathLst>
                  <a:path w="560" h="79">
                    <a:moveTo>
                      <a:pt x="0" y="79"/>
                    </a:moveTo>
                    <a:lnTo>
                      <a:pt x="246" y="26"/>
                    </a:lnTo>
                    <a:lnTo>
                      <a:pt x="408" y="0"/>
                    </a:lnTo>
                    <a:lnTo>
                      <a:pt x="560" y="26"/>
                    </a:lnTo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" name="Oval 179"/>
              <p:cNvSpPr>
                <a:spLocks noChangeArrowheads="1"/>
              </p:cNvSpPr>
              <p:nvPr/>
            </p:nvSpPr>
            <p:spPr bwMode="auto">
              <a:xfrm rot="21155849" flipH="1">
                <a:off x="4282" y="2827"/>
                <a:ext cx="187" cy="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" name="Freeform 180"/>
              <p:cNvSpPr>
                <a:spLocks/>
              </p:cNvSpPr>
              <p:nvPr/>
            </p:nvSpPr>
            <p:spPr bwMode="auto">
              <a:xfrm rot="20419783" flipH="1">
                <a:off x="4481" y="2789"/>
                <a:ext cx="409" cy="272"/>
              </a:xfrm>
              <a:custGeom>
                <a:avLst/>
                <a:gdLst/>
                <a:ahLst/>
                <a:cxnLst>
                  <a:cxn ang="0">
                    <a:pos x="98" y="36"/>
                  </a:cxn>
                  <a:cxn ang="0">
                    <a:pos x="320" y="0"/>
                  </a:cxn>
                  <a:cxn ang="0">
                    <a:pos x="367" y="26"/>
                  </a:cxn>
                  <a:cxn ang="0">
                    <a:pos x="445" y="26"/>
                  </a:cxn>
                  <a:cxn ang="0">
                    <a:pos x="482" y="42"/>
                  </a:cxn>
                  <a:cxn ang="0">
                    <a:pos x="278" y="367"/>
                  </a:cxn>
                  <a:cxn ang="0">
                    <a:pos x="5" y="262"/>
                  </a:cxn>
                  <a:cxn ang="0">
                    <a:pos x="0" y="157"/>
                  </a:cxn>
                  <a:cxn ang="0">
                    <a:pos x="42" y="74"/>
                  </a:cxn>
                  <a:cxn ang="0">
                    <a:pos x="98" y="36"/>
                  </a:cxn>
                </a:cxnLst>
                <a:rect l="0" t="0" r="r" b="b"/>
                <a:pathLst>
                  <a:path w="482" h="367">
                    <a:moveTo>
                      <a:pt x="98" y="36"/>
                    </a:moveTo>
                    <a:lnTo>
                      <a:pt x="320" y="0"/>
                    </a:lnTo>
                    <a:lnTo>
                      <a:pt x="367" y="26"/>
                    </a:lnTo>
                    <a:lnTo>
                      <a:pt x="445" y="26"/>
                    </a:lnTo>
                    <a:lnTo>
                      <a:pt x="482" y="42"/>
                    </a:lnTo>
                    <a:lnTo>
                      <a:pt x="278" y="367"/>
                    </a:lnTo>
                    <a:lnTo>
                      <a:pt x="5" y="262"/>
                    </a:lnTo>
                    <a:lnTo>
                      <a:pt x="0" y="157"/>
                    </a:lnTo>
                    <a:lnTo>
                      <a:pt x="42" y="74"/>
                    </a:lnTo>
                    <a:lnTo>
                      <a:pt x="98" y="36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9" name="Group 181"/>
            <p:cNvGrpSpPr>
              <a:grpSpLocks/>
            </p:cNvGrpSpPr>
            <p:nvPr/>
          </p:nvGrpSpPr>
          <p:grpSpPr bwMode="auto">
            <a:xfrm flipH="1">
              <a:off x="1662" y="2315"/>
              <a:ext cx="664" cy="510"/>
              <a:chOff x="854" y="3072"/>
              <a:chExt cx="883" cy="678"/>
            </a:xfrm>
          </p:grpSpPr>
          <p:sp>
            <p:nvSpPr>
              <p:cNvPr id="131" name="Freeform 182"/>
              <p:cNvSpPr>
                <a:spLocks/>
              </p:cNvSpPr>
              <p:nvPr/>
            </p:nvSpPr>
            <p:spPr bwMode="auto">
              <a:xfrm>
                <a:off x="854" y="3092"/>
                <a:ext cx="354" cy="658"/>
              </a:xfrm>
              <a:custGeom>
                <a:avLst/>
                <a:gdLst/>
                <a:ahLst/>
                <a:cxnLst>
                  <a:cxn ang="0">
                    <a:pos x="933" y="135"/>
                  </a:cxn>
                  <a:cxn ang="0">
                    <a:pos x="932" y="171"/>
                  </a:cxn>
                  <a:cxn ang="0">
                    <a:pos x="762" y="352"/>
                  </a:cxn>
                  <a:cxn ang="0">
                    <a:pos x="4" y="195"/>
                  </a:cxn>
                  <a:cxn ang="0">
                    <a:pos x="0" y="148"/>
                  </a:cxn>
                  <a:cxn ang="0">
                    <a:pos x="244" y="0"/>
                  </a:cxn>
                  <a:cxn ang="0">
                    <a:pos x="933" y="135"/>
                  </a:cxn>
                </a:cxnLst>
                <a:rect l="0" t="0" r="r" b="b"/>
                <a:pathLst>
                  <a:path w="933" h="352">
                    <a:moveTo>
                      <a:pt x="933" y="135"/>
                    </a:moveTo>
                    <a:lnTo>
                      <a:pt x="932" y="171"/>
                    </a:lnTo>
                    <a:lnTo>
                      <a:pt x="762" y="352"/>
                    </a:lnTo>
                    <a:lnTo>
                      <a:pt x="4" y="195"/>
                    </a:lnTo>
                    <a:lnTo>
                      <a:pt x="0" y="148"/>
                    </a:lnTo>
                    <a:lnTo>
                      <a:pt x="244" y="0"/>
                    </a:lnTo>
                    <a:lnTo>
                      <a:pt x="933" y="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DDDDDD">
                      <a:gamma/>
                      <a:tint val="34118"/>
                      <a:invGamma/>
                    </a:srgbClr>
                  </a:gs>
                </a:gsLst>
                <a:lin ang="0" scaled="1"/>
              </a:gradFill>
              <a:ln w="6350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" name="Freeform 183"/>
              <p:cNvSpPr>
                <a:spLocks/>
              </p:cNvSpPr>
              <p:nvPr/>
            </p:nvSpPr>
            <p:spPr bwMode="auto">
              <a:xfrm>
                <a:off x="878" y="3072"/>
                <a:ext cx="355" cy="658"/>
              </a:xfrm>
              <a:custGeom>
                <a:avLst/>
                <a:gdLst/>
                <a:ahLst/>
                <a:cxnLst>
                  <a:cxn ang="0">
                    <a:pos x="895" y="133"/>
                  </a:cxn>
                  <a:cxn ang="0">
                    <a:pos x="232" y="0"/>
                  </a:cxn>
                  <a:cxn ang="0">
                    <a:pos x="0" y="143"/>
                  </a:cxn>
                  <a:cxn ang="0">
                    <a:pos x="739" y="294"/>
                  </a:cxn>
                  <a:cxn ang="0">
                    <a:pos x="895" y="133"/>
                  </a:cxn>
                </a:cxnLst>
                <a:rect l="0" t="0" r="r" b="b"/>
                <a:pathLst>
                  <a:path w="895" h="294">
                    <a:moveTo>
                      <a:pt x="895" y="133"/>
                    </a:moveTo>
                    <a:lnTo>
                      <a:pt x="232" y="0"/>
                    </a:lnTo>
                    <a:lnTo>
                      <a:pt x="0" y="143"/>
                    </a:lnTo>
                    <a:lnTo>
                      <a:pt x="739" y="294"/>
                    </a:lnTo>
                    <a:lnTo>
                      <a:pt x="895" y="13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" name="Freeform 184"/>
              <p:cNvSpPr>
                <a:spLocks/>
              </p:cNvSpPr>
              <p:nvPr/>
            </p:nvSpPr>
            <p:spPr bwMode="auto">
              <a:xfrm>
                <a:off x="1133" y="3276"/>
                <a:ext cx="535" cy="118"/>
              </a:xfrm>
              <a:custGeom>
                <a:avLst/>
                <a:gdLst/>
                <a:ahLst/>
                <a:cxnLst>
                  <a:cxn ang="0">
                    <a:pos x="0" y="15"/>
                  </a:cxn>
                  <a:cxn ang="0">
                    <a:pos x="508" y="118"/>
                  </a:cxn>
                  <a:cxn ang="0">
                    <a:pos x="531" y="103"/>
                  </a:cxn>
                  <a:cxn ang="0">
                    <a:pos x="23" y="0"/>
                  </a:cxn>
                </a:cxnLst>
                <a:rect l="0" t="0" r="r" b="b"/>
                <a:pathLst>
                  <a:path w="531" h="118">
                    <a:moveTo>
                      <a:pt x="0" y="15"/>
                    </a:moveTo>
                    <a:lnTo>
                      <a:pt x="508" y="118"/>
                    </a:lnTo>
                    <a:lnTo>
                      <a:pt x="531" y="103"/>
                    </a:lnTo>
                    <a:lnTo>
                      <a:pt x="23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" name="Freeform 185"/>
              <p:cNvSpPr>
                <a:spLocks/>
              </p:cNvSpPr>
              <p:nvPr/>
            </p:nvSpPr>
            <p:spPr bwMode="auto">
              <a:xfrm>
                <a:off x="981" y="3306"/>
                <a:ext cx="550" cy="159"/>
              </a:xfrm>
              <a:custGeom>
                <a:avLst/>
                <a:gdLst/>
                <a:ahLst/>
                <a:cxnLst>
                  <a:cxn ang="0">
                    <a:pos x="0" y="74"/>
                  </a:cxn>
                  <a:cxn ang="0">
                    <a:pos x="31" y="78"/>
                  </a:cxn>
                  <a:cxn ang="0">
                    <a:pos x="57" y="66"/>
                  </a:cxn>
                  <a:cxn ang="0">
                    <a:pos x="76" y="71"/>
                  </a:cxn>
                  <a:cxn ang="0">
                    <a:pos x="58" y="81"/>
                  </a:cxn>
                  <a:cxn ang="0">
                    <a:pos x="451" y="159"/>
                  </a:cxn>
                  <a:cxn ang="0">
                    <a:pos x="548" y="84"/>
                  </a:cxn>
                  <a:cxn ang="0">
                    <a:pos x="130" y="0"/>
                  </a:cxn>
                </a:cxnLst>
                <a:rect l="0" t="0" r="r" b="b"/>
                <a:pathLst>
                  <a:path w="548" h="159">
                    <a:moveTo>
                      <a:pt x="0" y="74"/>
                    </a:moveTo>
                    <a:lnTo>
                      <a:pt x="31" y="78"/>
                    </a:lnTo>
                    <a:lnTo>
                      <a:pt x="57" y="66"/>
                    </a:lnTo>
                    <a:lnTo>
                      <a:pt x="76" y="71"/>
                    </a:lnTo>
                    <a:lnTo>
                      <a:pt x="58" y="81"/>
                    </a:lnTo>
                    <a:lnTo>
                      <a:pt x="451" y="159"/>
                    </a:lnTo>
                    <a:lnTo>
                      <a:pt x="548" y="84"/>
                    </a:lnTo>
                    <a:lnTo>
                      <a:pt x="130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Freeform 186"/>
              <p:cNvSpPr>
                <a:spLocks/>
              </p:cNvSpPr>
              <p:nvPr/>
            </p:nvSpPr>
            <p:spPr bwMode="auto">
              <a:xfrm>
                <a:off x="1495" y="3396"/>
                <a:ext cx="139" cy="69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140" y="11"/>
                  </a:cxn>
                  <a:cxn ang="0">
                    <a:pos x="75" y="70"/>
                  </a:cxn>
                  <a:cxn ang="0">
                    <a:pos x="0" y="56"/>
                  </a:cxn>
                </a:cxnLst>
                <a:rect l="0" t="0" r="r" b="b"/>
                <a:pathLst>
                  <a:path w="140" h="70">
                    <a:moveTo>
                      <a:pt x="73" y="0"/>
                    </a:moveTo>
                    <a:lnTo>
                      <a:pt x="140" y="11"/>
                    </a:lnTo>
                    <a:lnTo>
                      <a:pt x="75" y="70"/>
                    </a:lnTo>
                    <a:lnTo>
                      <a:pt x="0" y="56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" name="Freeform 187"/>
              <p:cNvSpPr>
                <a:spLocks/>
              </p:cNvSpPr>
              <p:nvPr/>
            </p:nvSpPr>
            <p:spPr bwMode="auto">
              <a:xfrm>
                <a:off x="1570" y="3412"/>
                <a:ext cx="167" cy="100"/>
              </a:xfrm>
              <a:custGeom>
                <a:avLst/>
                <a:gdLst/>
                <a:ahLst/>
                <a:cxnLst>
                  <a:cxn ang="0">
                    <a:pos x="87" y="0"/>
                  </a:cxn>
                  <a:cxn ang="0">
                    <a:pos x="167" y="15"/>
                  </a:cxn>
                  <a:cxn ang="0">
                    <a:pos x="81" y="101"/>
                  </a:cxn>
                  <a:cxn ang="0">
                    <a:pos x="0" y="83"/>
                  </a:cxn>
                </a:cxnLst>
                <a:rect l="0" t="0" r="r" b="b"/>
                <a:pathLst>
                  <a:path w="167" h="101">
                    <a:moveTo>
                      <a:pt x="87" y="0"/>
                    </a:moveTo>
                    <a:lnTo>
                      <a:pt x="167" y="15"/>
                    </a:lnTo>
                    <a:lnTo>
                      <a:pt x="81" y="101"/>
                    </a:lnTo>
                    <a:lnTo>
                      <a:pt x="0" y="83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0" name="Group 188"/>
            <p:cNvGrpSpPr>
              <a:grpSpLocks/>
            </p:cNvGrpSpPr>
            <p:nvPr/>
          </p:nvGrpSpPr>
          <p:grpSpPr bwMode="auto">
            <a:xfrm>
              <a:off x="1460" y="2079"/>
              <a:ext cx="724" cy="441"/>
              <a:chOff x="1460" y="2079"/>
              <a:chExt cx="724" cy="441"/>
            </a:xfrm>
          </p:grpSpPr>
          <p:sp>
            <p:nvSpPr>
              <p:cNvPr id="107" name="Freeform 189"/>
              <p:cNvSpPr>
                <a:spLocks noChangeAspect="1"/>
              </p:cNvSpPr>
              <p:nvPr/>
            </p:nvSpPr>
            <p:spPr bwMode="auto">
              <a:xfrm>
                <a:off x="1460" y="2143"/>
                <a:ext cx="168" cy="377"/>
              </a:xfrm>
              <a:custGeom>
                <a:avLst/>
                <a:gdLst/>
                <a:ahLst/>
                <a:cxnLst>
                  <a:cxn ang="0">
                    <a:pos x="169" y="246"/>
                  </a:cxn>
                  <a:cxn ang="0">
                    <a:pos x="1" y="0"/>
                  </a:cxn>
                  <a:cxn ang="0">
                    <a:pos x="0" y="123"/>
                  </a:cxn>
                  <a:cxn ang="0">
                    <a:pos x="165" y="377"/>
                  </a:cxn>
                </a:cxnLst>
                <a:rect l="0" t="0" r="r" b="b"/>
                <a:pathLst>
                  <a:path w="169" h="377">
                    <a:moveTo>
                      <a:pt x="169" y="246"/>
                    </a:moveTo>
                    <a:lnTo>
                      <a:pt x="1" y="0"/>
                    </a:lnTo>
                    <a:lnTo>
                      <a:pt x="0" y="123"/>
                    </a:lnTo>
                    <a:lnTo>
                      <a:pt x="165" y="377"/>
                    </a:lnTo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100000">
                    <a:srgbClr val="EAEAEA">
                      <a:gamma/>
                      <a:tint val="60784"/>
                      <a:invGamma/>
                    </a:srgbClr>
                  </a:gs>
                </a:gsLst>
                <a:lin ang="0" scaled="1"/>
              </a:gra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Freeform 190"/>
              <p:cNvSpPr>
                <a:spLocks noChangeAspect="1"/>
              </p:cNvSpPr>
              <p:nvPr/>
            </p:nvSpPr>
            <p:spPr bwMode="auto">
              <a:xfrm>
                <a:off x="1464" y="2079"/>
                <a:ext cx="720" cy="309"/>
              </a:xfrm>
              <a:custGeom>
                <a:avLst/>
                <a:gdLst/>
                <a:ahLst/>
                <a:cxnLst>
                  <a:cxn ang="0">
                    <a:pos x="166" y="310"/>
                  </a:cxn>
                  <a:cxn ang="0">
                    <a:pos x="718" y="211"/>
                  </a:cxn>
                  <a:cxn ang="0">
                    <a:pos x="444" y="0"/>
                  </a:cxn>
                  <a:cxn ang="0">
                    <a:pos x="0" y="64"/>
                  </a:cxn>
                  <a:cxn ang="0">
                    <a:pos x="166" y="310"/>
                  </a:cxn>
                </a:cxnLst>
                <a:rect l="0" t="0" r="r" b="b"/>
                <a:pathLst>
                  <a:path w="718" h="310">
                    <a:moveTo>
                      <a:pt x="166" y="310"/>
                    </a:moveTo>
                    <a:lnTo>
                      <a:pt x="718" y="211"/>
                    </a:lnTo>
                    <a:lnTo>
                      <a:pt x="444" y="0"/>
                    </a:lnTo>
                    <a:lnTo>
                      <a:pt x="0" y="64"/>
                    </a:lnTo>
                    <a:lnTo>
                      <a:pt x="166" y="31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Freeform 191"/>
              <p:cNvSpPr>
                <a:spLocks/>
              </p:cNvSpPr>
              <p:nvPr/>
            </p:nvSpPr>
            <p:spPr bwMode="auto">
              <a:xfrm>
                <a:off x="1622" y="2288"/>
                <a:ext cx="544" cy="228"/>
              </a:xfrm>
              <a:custGeom>
                <a:avLst/>
                <a:gdLst/>
                <a:ahLst/>
                <a:cxnLst>
                  <a:cxn ang="0">
                    <a:pos x="6" y="99"/>
                  </a:cxn>
                  <a:cxn ang="0">
                    <a:pos x="557" y="0"/>
                  </a:cxn>
                  <a:cxn ang="0">
                    <a:pos x="549" y="121"/>
                  </a:cxn>
                  <a:cxn ang="0">
                    <a:pos x="0" y="228"/>
                  </a:cxn>
                  <a:cxn ang="0">
                    <a:pos x="6" y="99"/>
                  </a:cxn>
                </a:cxnLst>
                <a:rect l="0" t="0" r="r" b="b"/>
                <a:pathLst>
                  <a:path w="557" h="228">
                    <a:moveTo>
                      <a:pt x="6" y="99"/>
                    </a:moveTo>
                    <a:lnTo>
                      <a:pt x="557" y="0"/>
                    </a:lnTo>
                    <a:lnTo>
                      <a:pt x="549" y="121"/>
                    </a:lnTo>
                    <a:lnTo>
                      <a:pt x="0" y="228"/>
                    </a:lnTo>
                    <a:lnTo>
                      <a:pt x="6" y="9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EAEAEA">
                      <a:gamma/>
                      <a:tint val="0"/>
                      <a:invGamma/>
                    </a:srgbClr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0" name="Freeform 192"/>
              <p:cNvSpPr>
                <a:spLocks/>
              </p:cNvSpPr>
              <p:nvPr/>
            </p:nvSpPr>
            <p:spPr bwMode="auto">
              <a:xfrm>
                <a:off x="1644" y="2425"/>
                <a:ext cx="168" cy="6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63"/>
                  </a:cxn>
                  <a:cxn ang="0">
                    <a:pos x="164" y="33"/>
                  </a:cxn>
                  <a:cxn ang="0">
                    <a:pos x="167" y="0"/>
                  </a:cxn>
                  <a:cxn ang="0">
                    <a:pos x="0" y="32"/>
                  </a:cxn>
                </a:cxnLst>
                <a:rect l="0" t="0" r="r" b="b"/>
                <a:pathLst>
                  <a:path w="167" h="63">
                    <a:moveTo>
                      <a:pt x="0" y="32"/>
                    </a:moveTo>
                    <a:lnTo>
                      <a:pt x="0" y="63"/>
                    </a:lnTo>
                    <a:lnTo>
                      <a:pt x="164" y="33"/>
                    </a:lnTo>
                    <a:lnTo>
                      <a:pt x="167" y="0"/>
                    </a:lnTo>
                    <a:lnTo>
                      <a:pt x="0" y="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/>
                </a:prst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Oval 193"/>
              <p:cNvSpPr>
                <a:spLocks noChangeArrowheads="1"/>
              </p:cNvSpPr>
              <p:nvPr/>
            </p:nvSpPr>
            <p:spPr bwMode="auto">
              <a:xfrm>
                <a:off x="1783" y="2433"/>
                <a:ext cx="17" cy="23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" name="Line 194"/>
              <p:cNvSpPr>
                <a:spLocks noChangeShapeType="1"/>
              </p:cNvSpPr>
              <p:nvPr/>
            </p:nvSpPr>
            <p:spPr bwMode="auto">
              <a:xfrm flipH="1">
                <a:off x="2042" y="2338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Line 195"/>
              <p:cNvSpPr>
                <a:spLocks noChangeShapeType="1"/>
              </p:cNvSpPr>
              <p:nvPr/>
            </p:nvSpPr>
            <p:spPr bwMode="auto">
              <a:xfrm flipH="1">
                <a:off x="2029" y="2340"/>
                <a:ext cx="2" cy="8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Line 196"/>
              <p:cNvSpPr>
                <a:spLocks noChangeShapeType="1"/>
              </p:cNvSpPr>
              <p:nvPr/>
            </p:nvSpPr>
            <p:spPr bwMode="auto">
              <a:xfrm flipH="1">
                <a:off x="2056" y="2336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Line 197"/>
              <p:cNvSpPr>
                <a:spLocks noChangeShapeType="1"/>
              </p:cNvSpPr>
              <p:nvPr/>
            </p:nvSpPr>
            <p:spPr bwMode="auto">
              <a:xfrm flipH="1">
                <a:off x="2069" y="2334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Line 198"/>
              <p:cNvSpPr>
                <a:spLocks noChangeShapeType="1"/>
              </p:cNvSpPr>
              <p:nvPr/>
            </p:nvSpPr>
            <p:spPr bwMode="auto">
              <a:xfrm flipH="1">
                <a:off x="2081" y="2332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Line 199"/>
              <p:cNvSpPr>
                <a:spLocks noChangeShapeType="1"/>
              </p:cNvSpPr>
              <p:nvPr/>
            </p:nvSpPr>
            <p:spPr bwMode="auto">
              <a:xfrm flipH="1">
                <a:off x="2094" y="2329"/>
                <a:ext cx="4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Line 200"/>
              <p:cNvSpPr>
                <a:spLocks noChangeShapeType="1"/>
              </p:cNvSpPr>
              <p:nvPr/>
            </p:nvSpPr>
            <p:spPr bwMode="auto">
              <a:xfrm flipH="1">
                <a:off x="2106" y="232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Line 201"/>
              <p:cNvSpPr>
                <a:spLocks noChangeShapeType="1"/>
              </p:cNvSpPr>
              <p:nvPr/>
            </p:nvSpPr>
            <p:spPr bwMode="auto">
              <a:xfrm flipH="1">
                <a:off x="2118" y="2323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0" name="Line 202"/>
              <p:cNvSpPr>
                <a:spLocks noChangeShapeType="1"/>
              </p:cNvSpPr>
              <p:nvPr/>
            </p:nvSpPr>
            <p:spPr bwMode="auto">
              <a:xfrm flipH="1">
                <a:off x="2129" y="2323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Line 203"/>
              <p:cNvSpPr>
                <a:spLocks noChangeShapeType="1"/>
              </p:cNvSpPr>
              <p:nvPr/>
            </p:nvSpPr>
            <p:spPr bwMode="auto">
              <a:xfrm flipH="1">
                <a:off x="2141" y="2321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Line 204"/>
              <p:cNvSpPr>
                <a:spLocks noChangeShapeType="1"/>
              </p:cNvSpPr>
              <p:nvPr/>
            </p:nvSpPr>
            <p:spPr bwMode="auto">
              <a:xfrm flipH="1">
                <a:off x="2154" y="231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Freeform 205"/>
              <p:cNvSpPr>
                <a:spLocks/>
              </p:cNvSpPr>
              <p:nvPr/>
            </p:nvSpPr>
            <p:spPr bwMode="auto">
              <a:xfrm>
                <a:off x="1862" y="2371"/>
                <a:ext cx="93" cy="68"/>
              </a:xfrm>
              <a:custGeom>
                <a:avLst/>
                <a:gdLst/>
                <a:ahLst/>
                <a:cxnLst>
                  <a:cxn ang="0">
                    <a:pos x="2" y="33"/>
                  </a:cxn>
                  <a:cxn ang="0">
                    <a:pos x="0" y="138"/>
                  </a:cxn>
                  <a:cxn ang="0">
                    <a:pos x="186" y="104"/>
                  </a:cxn>
                  <a:cxn ang="0">
                    <a:pos x="186" y="0"/>
                  </a:cxn>
                  <a:cxn ang="0">
                    <a:pos x="2" y="33"/>
                  </a:cxn>
                </a:cxnLst>
                <a:rect l="0" t="0" r="r" b="b"/>
                <a:pathLst>
                  <a:path w="186" h="138">
                    <a:moveTo>
                      <a:pt x="2" y="33"/>
                    </a:moveTo>
                    <a:lnTo>
                      <a:pt x="0" y="138"/>
                    </a:lnTo>
                    <a:lnTo>
                      <a:pt x="186" y="104"/>
                    </a:lnTo>
                    <a:lnTo>
                      <a:pt x="186" y="0"/>
                    </a:lnTo>
                    <a:lnTo>
                      <a:pt x="2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969696">
                      <a:gamma/>
                      <a:shade val="75686"/>
                      <a:invGamma/>
                    </a:srgbClr>
                  </a:gs>
                </a:gsLst>
                <a:lin ang="0" scaled="1"/>
              </a:gradFill>
              <a:ln w="317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>
                    <a:alpha val="50000"/>
                  </a:srgbClr>
                </a:prst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4" name="Line 206"/>
              <p:cNvSpPr>
                <a:spLocks noChangeShapeType="1"/>
              </p:cNvSpPr>
              <p:nvPr/>
            </p:nvSpPr>
            <p:spPr bwMode="auto">
              <a:xfrm flipH="1">
                <a:off x="1874" y="2408"/>
                <a:ext cx="0" cy="21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Line 207"/>
              <p:cNvSpPr>
                <a:spLocks noChangeShapeType="1"/>
              </p:cNvSpPr>
              <p:nvPr/>
            </p:nvSpPr>
            <p:spPr bwMode="auto">
              <a:xfrm flipH="1">
                <a:off x="1947" y="2394"/>
                <a:ext cx="0" cy="19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" name="Line 208"/>
              <p:cNvSpPr>
                <a:spLocks noChangeShapeType="1"/>
              </p:cNvSpPr>
              <p:nvPr/>
            </p:nvSpPr>
            <p:spPr bwMode="auto">
              <a:xfrm flipH="1">
                <a:off x="1938" y="2404"/>
                <a:ext cx="0" cy="15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" name="Line 209"/>
              <p:cNvSpPr>
                <a:spLocks noChangeShapeType="1"/>
              </p:cNvSpPr>
              <p:nvPr/>
            </p:nvSpPr>
            <p:spPr bwMode="auto">
              <a:xfrm flipH="1">
                <a:off x="1886" y="2417"/>
                <a:ext cx="0" cy="14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8" name="Line 210"/>
              <p:cNvSpPr>
                <a:spLocks noChangeShapeType="1"/>
              </p:cNvSpPr>
              <p:nvPr/>
            </p:nvSpPr>
            <p:spPr bwMode="auto">
              <a:xfrm flipV="1">
                <a:off x="1897" y="2419"/>
                <a:ext cx="29" cy="6"/>
              </a:xfrm>
              <a:prstGeom prst="line">
                <a:avLst/>
              </a:prstGeom>
              <a:noFill/>
              <a:ln w="9525">
                <a:solidFill>
                  <a:srgbClr val="FFFF99">
                    <a:alpha val="4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9" name="Freeform 211"/>
              <p:cNvSpPr>
                <a:spLocks/>
              </p:cNvSpPr>
              <p:nvPr/>
            </p:nvSpPr>
            <p:spPr bwMode="auto">
              <a:xfrm>
                <a:off x="1671" y="2387"/>
                <a:ext cx="116" cy="39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" y="38"/>
                  </a:cxn>
                  <a:cxn ang="0">
                    <a:pos x="116" y="19"/>
                  </a:cxn>
                  <a:cxn ang="0">
                    <a:pos x="116" y="0"/>
                  </a:cxn>
                  <a:cxn ang="0">
                    <a:pos x="0" y="20"/>
                  </a:cxn>
                </a:cxnLst>
                <a:rect l="0" t="0" r="r" b="b"/>
                <a:pathLst>
                  <a:path w="116" h="38">
                    <a:moveTo>
                      <a:pt x="0" y="20"/>
                    </a:moveTo>
                    <a:lnTo>
                      <a:pt x="1" y="38"/>
                    </a:lnTo>
                    <a:lnTo>
                      <a:pt x="116" y="19"/>
                    </a:lnTo>
                    <a:lnTo>
                      <a:pt x="116" y="0"/>
                    </a:lnTo>
                    <a:lnTo>
                      <a:pt x="0" y="2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" name="Line 212"/>
              <p:cNvSpPr>
                <a:spLocks noChangeShapeType="1"/>
              </p:cNvSpPr>
              <p:nvPr/>
            </p:nvSpPr>
            <p:spPr bwMode="auto">
              <a:xfrm flipV="1">
                <a:off x="1661" y="2394"/>
                <a:ext cx="133" cy="23"/>
              </a:xfrm>
              <a:prstGeom prst="line">
                <a:avLst/>
              </a:prstGeom>
              <a:noFill/>
              <a:ln w="317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1" name="Group 213"/>
            <p:cNvGrpSpPr>
              <a:grpSpLocks/>
            </p:cNvGrpSpPr>
            <p:nvPr/>
          </p:nvGrpSpPr>
          <p:grpSpPr bwMode="auto">
            <a:xfrm flipH="1">
              <a:off x="1536" y="1680"/>
              <a:ext cx="585" cy="583"/>
              <a:chOff x="1829" y="1130"/>
              <a:chExt cx="1859" cy="1865"/>
            </a:xfrm>
          </p:grpSpPr>
          <p:grpSp>
            <p:nvGrpSpPr>
              <p:cNvPr id="92" name="Group 214"/>
              <p:cNvGrpSpPr>
                <a:grpSpLocks/>
              </p:cNvGrpSpPr>
              <p:nvPr/>
            </p:nvGrpSpPr>
            <p:grpSpPr bwMode="auto">
              <a:xfrm>
                <a:off x="2470" y="1323"/>
                <a:ext cx="1218" cy="1259"/>
                <a:chOff x="2601" y="1199"/>
                <a:chExt cx="1218" cy="1408"/>
              </a:xfrm>
            </p:grpSpPr>
            <p:sp>
              <p:nvSpPr>
                <p:cNvPr id="105" name="Freeform 215"/>
                <p:cNvSpPr>
                  <a:spLocks/>
                </p:cNvSpPr>
                <p:nvPr/>
              </p:nvSpPr>
              <p:spPr bwMode="auto">
                <a:xfrm>
                  <a:off x="2598" y="1201"/>
                  <a:ext cx="1217" cy="180"/>
                </a:xfrm>
                <a:custGeom>
                  <a:avLst/>
                  <a:gdLst/>
                  <a:ahLst/>
                  <a:cxnLst>
                    <a:cxn ang="0">
                      <a:pos x="1205" y="151"/>
                    </a:cxn>
                    <a:cxn ang="0">
                      <a:pos x="964" y="178"/>
                    </a:cxn>
                    <a:cxn ang="0">
                      <a:pos x="0" y="0"/>
                    </a:cxn>
                    <a:cxn ang="0">
                      <a:pos x="1205" y="151"/>
                    </a:cxn>
                  </a:cxnLst>
                  <a:rect l="0" t="0" r="r" b="b"/>
                  <a:pathLst>
                    <a:path w="1205" h="178">
                      <a:moveTo>
                        <a:pt x="1205" y="151"/>
                      </a:moveTo>
                      <a:lnTo>
                        <a:pt x="964" y="178"/>
                      </a:lnTo>
                      <a:lnTo>
                        <a:pt x="0" y="0"/>
                      </a:lnTo>
                      <a:lnTo>
                        <a:pt x="1205" y="151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" name="Freeform 216"/>
                <p:cNvSpPr>
                  <a:spLocks/>
                </p:cNvSpPr>
                <p:nvPr/>
              </p:nvSpPr>
              <p:spPr bwMode="auto">
                <a:xfrm>
                  <a:off x="3415" y="1360"/>
                  <a:ext cx="406" cy="1245"/>
                </a:xfrm>
                <a:custGeom>
                  <a:avLst/>
                  <a:gdLst/>
                  <a:ahLst/>
                  <a:cxnLst>
                    <a:cxn ang="0">
                      <a:pos x="405" y="0"/>
                    </a:cxn>
                    <a:cxn ang="0">
                      <a:pos x="389" y="1000"/>
                    </a:cxn>
                    <a:cxn ang="0">
                      <a:pos x="133" y="1241"/>
                    </a:cxn>
                    <a:cxn ang="0">
                      <a:pos x="0" y="13"/>
                    </a:cxn>
                    <a:cxn ang="0">
                      <a:pos x="189" y="24"/>
                    </a:cxn>
                    <a:cxn ang="0">
                      <a:pos x="405" y="0"/>
                    </a:cxn>
                  </a:cxnLst>
                  <a:rect l="0" t="0" r="r" b="b"/>
                  <a:pathLst>
                    <a:path w="405" h="1241">
                      <a:moveTo>
                        <a:pt x="405" y="0"/>
                      </a:moveTo>
                      <a:lnTo>
                        <a:pt x="389" y="1000"/>
                      </a:lnTo>
                      <a:lnTo>
                        <a:pt x="133" y="1241"/>
                      </a:lnTo>
                      <a:lnTo>
                        <a:pt x="0" y="13"/>
                      </a:lnTo>
                      <a:lnTo>
                        <a:pt x="189" y="24"/>
                      </a:lnTo>
                      <a:lnTo>
                        <a:pt x="405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969696">
                        <a:gamma/>
                        <a:tint val="48627"/>
                        <a:invGamma/>
                      </a:srgbClr>
                    </a:gs>
                    <a:gs pos="100000">
                      <a:srgbClr val="969696"/>
                    </a:gs>
                  </a:gsLst>
                  <a:lin ang="0" scaled="1"/>
                </a:gra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3" name="Oval 217"/>
              <p:cNvSpPr>
                <a:spLocks noChangeArrowheads="1"/>
              </p:cNvSpPr>
              <p:nvPr/>
            </p:nvSpPr>
            <p:spPr bwMode="auto">
              <a:xfrm flipH="1">
                <a:off x="2270" y="2679"/>
                <a:ext cx="1106" cy="315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Oval 218"/>
              <p:cNvSpPr>
                <a:spLocks noChangeArrowheads="1"/>
              </p:cNvSpPr>
              <p:nvPr/>
            </p:nvSpPr>
            <p:spPr bwMode="auto">
              <a:xfrm flipH="1">
                <a:off x="2270" y="2654"/>
                <a:ext cx="1106" cy="315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" name="Freeform 219"/>
              <p:cNvSpPr>
                <a:spLocks/>
              </p:cNvSpPr>
              <p:nvPr/>
            </p:nvSpPr>
            <p:spPr bwMode="auto">
              <a:xfrm>
                <a:off x="1827" y="1139"/>
                <a:ext cx="1623" cy="1732"/>
              </a:xfrm>
              <a:custGeom>
                <a:avLst/>
                <a:gdLst/>
                <a:ahLst/>
                <a:cxnLst>
                  <a:cxn ang="0">
                    <a:pos x="1602" y="204"/>
                  </a:cxn>
                  <a:cxn ang="0">
                    <a:pos x="5" y="0"/>
                  </a:cxn>
                  <a:cxn ang="0">
                    <a:pos x="0" y="1488"/>
                  </a:cxn>
                  <a:cxn ang="0">
                    <a:pos x="1597" y="1734"/>
                  </a:cxn>
                  <a:cxn ang="0">
                    <a:pos x="1602" y="204"/>
                  </a:cxn>
                </a:cxnLst>
                <a:rect l="0" t="0" r="r" b="b"/>
                <a:pathLst>
                  <a:path w="1602" h="1734">
                    <a:moveTo>
                      <a:pt x="1602" y="204"/>
                    </a:moveTo>
                    <a:lnTo>
                      <a:pt x="5" y="0"/>
                    </a:lnTo>
                    <a:lnTo>
                      <a:pt x="0" y="1488"/>
                    </a:lnTo>
                    <a:lnTo>
                      <a:pt x="1597" y="1734"/>
                    </a:lnTo>
                    <a:lnTo>
                      <a:pt x="1602" y="2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6" name="Freeform 220"/>
              <p:cNvSpPr>
                <a:spLocks/>
              </p:cNvSpPr>
              <p:nvPr/>
            </p:nvSpPr>
            <p:spPr bwMode="auto">
              <a:xfrm>
                <a:off x="1895" y="2543"/>
                <a:ext cx="1334" cy="328"/>
              </a:xfrm>
              <a:custGeom>
                <a:avLst/>
                <a:gdLst/>
                <a:ahLst/>
                <a:cxnLst>
                  <a:cxn ang="0">
                    <a:pos x="1327" y="200"/>
                  </a:cxn>
                  <a:cxn ang="0">
                    <a:pos x="0" y="0"/>
                  </a:cxn>
                  <a:cxn ang="0">
                    <a:pos x="0" y="115"/>
                  </a:cxn>
                  <a:cxn ang="0">
                    <a:pos x="1330" y="330"/>
                  </a:cxn>
                  <a:cxn ang="0">
                    <a:pos x="1327" y="200"/>
                  </a:cxn>
                </a:cxnLst>
                <a:rect l="0" t="0" r="r" b="b"/>
                <a:pathLst>
                  <a:path w="1330" h="330">
                    <a:moveTo>
                      <a:pt x="1327" y="200"/>
                    </a:moveTo>
                    <a:lnTo>
                      <a:pt x="0" y="0"/>
                    </a:lnTo>
                    <a:lnTo>
                      <a:pt x="0" y="115"/>
                    </a:lnTo>
                    <a:lnTo>
                      <a:pt x="1330" y="330"/>
                    </a:lnTo>
                    <a:lnTo>
                      <a:pt x="1327" y="2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7" name="Freeform 221"/>
              <p:cNvSpPr>
                <a:spLocks/>
              </p:cNvSpPr>
              <p:nvPr/>
            </p:nvSpPr>
            <p:spPr bwMode="auto">
              <a:xfrm>
                <a:off x="3438" y="1337"/>
                <a:ext cx="55" cy="1534"/>
              </a:xfrm>
              <a:custGeom>
                <a:avLst/>
                <a:gdLst/>
                <a:ahLst/>
                <a:cxnLst>
                  <a:cxn ang="0">
                    <a:pos x="4" y="16"/>
                  </a:cxn>
                  <a:cxn ang="0">
                    <a:pos x="56" y="0"/>
                  </a:cxn>
                  <a:cxn ang="0">
                    <a:pos x="46" y="1513"/>
                  </a:cxn>
                  <a:cxn ang="0">
                    <a:pos x="0" y="1536"/>
                  </a:cxn>
                  <a:cxn ang="0">
                    <a:pos x="4" y="16"/>
                  </a:cxn>
                </a:cxnLst>
                <a:rect l="0" t="0" r="r" b="b"/>
                <a:pathLst>
                  <a:path w="56" h="1536">
                    <a:moveTo>
                      <a:pt x="4" y="16"/>
                    </a:moveTo>
                    <a:lnTo>
                      <a:pt x="56" y="0"/>
                    </a:lnTo>
                    <a:lnTo>
                      <a:pt x="46" y="1513"/>
                    </a:lnTo>
                    <a:lnTo>
                      <a:pt x="0" y="1536"/>
                    </a:lnTo>
                    <a:lnTo>
                      <a:pt x="4" y="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Oval 222"/>
              <p:cNvSpPr>
                <a:spLocks noChangeArrowheads="1"/>
              </p:cNvSpPr>
              <p:nvPr/>
            </p:nvSpPr>
            <p:spPr bwMode="auto">
              <a:xfrm flipH="1">
                <a:off x="1969" y="2568"/>
                <a:ext cx="49" cy="93"/>
              </a:xfrm>
              <a:prstGeom prst="ellipse">
                <a:avLst/>
              </a:prstGeom>
              <a:solidFill>
                <a:srgbClr val="777777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Oval 223"/>
              <p:cNvSpPr>
                <a:spLocks noChangeArrowheads="1"/>
              </p:cNvSpPr>
              <p:nvPr/>
            </p:nvSpPr>
            <p:spPr bwMode="auto">
              <a:xfrm flipH="1">
                <a:off x="2061" y="2592"/>
                <a:ext cx="43" cy="7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Oval 224"/>
              <p:cNvSpPr>
                <a:spLocks noChangeArrowheads="1"/>
              </p:cNvSpPr>
              <p:nvPr/>
            </p:nvSpPr>
            <p:spPr bwMode="auto">
              <a:xfrm flipH="1">
                <a:off x="2356" y="266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Oval 225"/>
              <p:cNvSpPr>
                <a:spLocks noChangeArrowheads="1"/>
              </p:cNvSpPr>
              <p:nvPr/>
            </p:nvSpPr>
            <p:spPr bwMode="auto">
              <a:xfrm flipH="1">
                <a:off x="2454" y="2679"/>
                <a:ext cx="49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" name="Oval 226"/>
              <p:cNvSpPr>
                <a:spLocks noChangeArrowheads="1"/>
              </p:cNvSpPr>
              <p:nvPr/>
            </p:nvSpPr>
            <p:spPr bwMode="auto">
              <a:xfrm flipH="1">
                <a:off x="2553" y="269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3" name="Freeform 227"/>
              <p:cNvSpPr>
                <a:spLocks/>
              </p:cNvSpPr>
              <p:nvPr/>
            </p:nvSpPr>
            <p:spPr bwMode="auto">
              <a:xfrm>
                <a:off x="1952" y="1310"/>
                <a:ext cx="1342" cy="1363"/>
              </a:xfrm>
              <a:custGeom>
                <a:avLst/>
                <a:gdLst>
                  <a:gd name="T0" fmla="*/ 1312 w 1345"/>
                  <a:gd name="T1" fmla="*/ 167 h 1366"/>
                  <a:gd name="T2" fmla="*/ 0 w 1345"/>
                  <a:gd name="T3" fmla="*/ 0 h 1366"/>
                  <a:gd name="T4" fmla="*/ 0 w 1345"/>
                  <a:gd name="T5" fmla="*/ 1139 h 1366"/>
                  <a:gd name="T6" fmla="*/ 1327 w 1345"/>
                  <a:gd name="T7" fmla="*/ 1348 h 1366"/>
                  <a:gd name="T8" fmla="*/ 1312 w 1345"/>
                  <a:gd name="T9" fmla="*/ 167 h 13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5"/>
                  <a:gd name="T16" fmla="*/ 0 h 1366"/>
                  <a:gd name="T17" fmla="*/ 1345 w 1345"/>
                  <a:gd name="T18" fmla="*/ 1366 h 13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5" h="1366">
                    <a:moveTo>
                      <a:pt x="1330" y="167"/>
                    </a:moveTo>
                    <a:lnTo>
                      <a:pt x="0" y="0"/>
                    </a:lnTo>
                    <a:lnTo>
                      <a:pt x="0" y="1157"/>
                    </a:lnTo>
                    <a:lnTo>
                      <a:pt x="1345" y="1366"/>
                    </a:lnTo>
                    <a:lnTo>
                      <a:pt x="1330" y="16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100000">
                    <a:srgbClr val="4D4D4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latinLnBrk="0"/>
                <a:endParaRPr lang="ko-KR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Freeform 228"/>
              <p:cNvSpPr>
                <a:spLocks/>
              </p:cNvSpPr>
              <p:nvPr/>
            </p:nvSpPr>
            <p:spPr bwMode="auto">
              <a:xfrm>
                <a:off x="1833" y="1133"/>
                <a:ext cx="1660" cy="21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68" y="0"/>
                  </a:cxn>
                  <a:cxn ang="0">
                    <a:pos x="1660" y="199"/>
                  </a:cxn>
                  <a:cxn ang="0">
                    <a:pos x="1613" y="214"/>
                  </a:cxn>
                  <a:cxn ang="0">
                    <a:pos x="0" y="10"/>
                  </a:cxn>
                </a:cxnLst>
                <a:rect l="0" t="0" r="r" b="b"/>
                <a:pathLst>
                  <a:path w="1660" h="214">
                    <a:moveTo>
                      <a:pt x="0" y="10"/>
                    </a:moveTo>
                    <a:lnTo>
                      <a:pt x="68" y="0"/>
                    </a:lnTo>
                    <a:lnTo>
                      <a:pt x="1660" y="199"/>
                    </a:lnTo>
                    <a:lnTo>
                      <a:pt x="1613" y="214"/>
                    </a:lnTo>
                    <a:lnTo>
                      <a:pt x="0" y="10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144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33459" y="4302853"/>
            <a:ext cx="478201" cy="766152"/>
          </a:xfrm>
          <a:prstGeom prst="rect">
            <a:avLst/>
          </a:prstGeom>
          <a:noFill/>
        </p:spPr>
      </p:pic>
      <p:grpSp>
        <p:nvGrpSpPr>
          <p:cNvPr id="145" name="그룹 144"/>
          <p:cNvGrpSpPr/>
          <p:nvPr/>
        </p:nvGrpSpPr>
        <p:grpSpPr>
          <a:xfrm>
            <a:off x="2829931" y="4575556"/>
            <a:ext cx="594318" cy="301505"/>
            <a:chOff x="1993293" y="2564030"/>
            <a:chExt cx="807572" cy="288942"/>
          </a:xfrm>
        </p:grpSpPr>
        <p:sp>
          <p:nvSpPr>
            <p:cNvPr id="146" name="AutoShape 26"/>
            <p:cNvSpPr>
              <a:spLocks noChangeArrowheads="1"/>
            </p:cNvSpPr>
            <p:nvPr/>
          </p:nvSpPr>
          <p:spPr bwMode="auto">
            <a:xfrm>
              <a:off x="1993293" y="2564030"/>
              <a:ext cx="807572" cy="288942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009917" y="2728044"/>
              <a:ext cx="584994" cy="1249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3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</a:t>
              </a:r>
              <a:endParaRPr lang="ko-KR" altLang="en-US" sz="3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8" name="TextBox 147"/>
          <p:cNvSpPr txBox="1"/>
          <p:nvPr/>
        </p:nvSpPr>
        <p:spPr>
          <a:xfrm>
            <a:off x="1480494" y="5090018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192.168.1.10/24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9646568" y="4998016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192.168.2.20/24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0" name="Group 19"/>
          <p:cNvGrpSpPr>
            <a:grpSpLocks/>
          </p:cNvGrpSpPr>
          <p:nvPr/>
        </p:nvGrpSpPr>
        <p:grpSpPr bwMode="auto">
          <a:xfrm>
            <a:off x="4050167" y="4606234"/>
            <a:ext cx="720590" cy="276802"/>
            <a:chOff x="3682" y="2312"/>
            <a:chExt cx="786" cy="497"/>
          </a:xfrm>
        </p:grpSpPr>
        <p:sp>
          <p:nvSpPr>
            <p:cNvPr id="151" name="AutoShape 20"/>
            <p:cNvSpPr>
              <a:spLocks noChangeArrowheads="1"/>
            </p:cNvSpPr>
            <p:nvPr/>
          </p:nvSpPr>
          <p:spPr bwMode="auto">
            <a:xfrm>
              <a:off x="3683" y="2317"/>
              <a:ext cx="785" cy="49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3719" y="2513"/>
              <a:ext cx="717" cy="24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Oval 22"/>
            <p:cNvSpPr>
              <a:spLocks noChangeArrowheads="1"/>
            </p:cNvSpPr>
            <p:nvPr/>
          </p:nvSpPr>
          <p:spPr bwMode="auto">
            <a:xfrm>
              <a:off x="3682" y="2312"/>
              <a:ext cx="786" cy="24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AutoShape 23"/>
            <p:cNvSpPr>
              <a:spLocks noChangeArrowheads="1"/>
            </p:cNvSpPr>
            <p:nvPr/>
          </p:nvSpPr>
          <p:spPr bwMode="auto">
            <a:xfrm rot="5400000">
              <a:off x="4082" y="2198"/>
              <a:ext cx="115" cy="485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AutoShape 24"/>
            <p:cNvSpPr>
              <a:spLocks noChangeArrowheads="1"/>
            </p:cNvSpPr>
            <p:nvPr/>
          </p:nvSpPr>
          <p:spPr bwMode="auto">
            <a:xfrm rot="-5400000">
              <a:off x="3973" y="2157"/>
              <a:ext cx="113" cy="495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56" name="Group 19"/>
          <p:cNvGrpSpPr>
            <a:grpSpLocks/>
          </p:cNvGrpSpPr>
          <p:nvPr/>
        </p:nvGrpSpPr>
        <p:grpSpPr bwMode="auto">
          <a:xfrm>
            <a:off x="7469820" y="4597870"/>
            <a:ext cx="720590" cy="276802"/>
            <a:chOff x="3682" y="2312"/>
            <a:chExt cx="786" cy="497"/>
          </a:xfrm>
        </p:grpSpPr>
        <p:sp>
          <p:nvSpPr>
            <p:cNvPr id="157" name="AutoShape 20"/>
            <p:cNvSpPr>
              <a:spLocks noChangeArrowheads="1"/>
            </p:cNvSpPr>
            <p:nvPr/>
          </p:nvSpPr>
          <p:spPr bwMode="auto">
            <a:xfrm>
              <a:off x="3683" y="2317"/>
              <a:ext cx="785" cy="49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3719" y="2513"/>
              <a:ext cx="717" cy="24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Oval 22"/>
            <p:cNvSpPr>
              <a:spLocks noChangeArrowheads="1"/>
            </p:cNvSpPr>
            <p:nvPr/>
          </p:nvSpPr>
          <p:spPr bwMode="auto">
            <a:xfrm>
              <a:off x="3682" y="2312"/>
              <a:ext cx="786" cy="24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0" name="AutoShape 23"/>
            <p:cNvSpPr>
              <a:spLocks noChangeArrowheads="1"/>
            </p:cNvSpPr>
            <p:nvPr/>
          </p:nvSpPr>
          <p:spPr bwMode="auto">
            <a:xfrm rot="5400000">
              <a:off x="4082" y="2198"/>
              <a:ext cx="115" cy="485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1" name="AutoShape 24"/>
            <p:cNvSpPr>
              <a:spLocks noChangeArrowheads="1"/>
            </p:cNvSpPr>
            <p:nvPr/>
          </p:nvSpPr>
          <p:spPr bwMode="auto">
            <a:xfrm rot="-5400000">
              <a:off x="3973" y="2157"/>
              <a:ext cx="113" cy="495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62" name="그룹 161"/>
          <p:cNvGrpSpPr/>
          <p:nvPr/>
        </p:nvGrpSpPr>
        <p:grpSpPr>
          <a:xfrm>
            <a:off x="8746611" y="4582563"/>
            <a:ext cx="594318" cy="301505"/>
            <a:chOff x="1993293" y="2564030"/>
            <a:chExt cx="807572" cy="288942"/>
          </a:xfrm>
        </p:grpSpPr>
        <p:sp>
          <p:nvSpPr>
            <p:cNvPr id="163" name="AutoShape 26"/>
            <p:cNvSpPr>
              <a:spLocks noChangeArrowheads="1"/>
            </p:cNvSpPr>
            <p:nvPr/>
          </p:nvSpPr>
          <p:spPr bwMode="auto">
            <a:xfrm>
              <a:off x="1993293" y="2564030"/>
              <a:ext cx="807572" cy="288942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009917" y="2728044"/>
              <a:ext cx="584994" cy="1249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3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</a:t>
              </a:r>
              <a:endParaRPr lang="ko-KR" altLang="en-US" sz="3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5" name="TextBox 164"/>
          <p:cNvSpPr txBox="1"/>
          <p:nvPr/>
        </p:nvSpPr>
        <p:spPr>
          <a:xfrm>
            <a:off x="8197748" y="4263977"/>
            <a:ext cx="1659429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22.22.22.22 → 192.168.2.20</a:t>
            </a:r>
            <a:endParaRPr lang="ko-KR" altLang="en-US" sz="1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8625983" y="3977582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 Table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634274" y="4165156"/>
            <a:ext cx="1659429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 → 11.11.11.11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3062509" y="3878761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 Table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9" name="표 168"/>
          <p:cNvGraphicFramePr>
            <a:graphicFrameLocks noGrp="1"/>
          </p:cNvGraphicFramePr>
          <p:nvPr>
            <p:extLst/>
          </p:nvPr>
        </p:nvGraphicFramePr>
        <p:xfrm>
          <a:off x="3226823" y="5256647"/>
          <a:ext cx="2624862" cy="24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4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35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629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365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310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22.22.22.22</a:t>
                      </a:r>
                      <a:endParaRPr lang="ko-KR" altLang="en-US" sz="1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11.11.11.11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70" name="TextBox 169"/>
          <p:cNvSpPr txBox="1"/>
          <p:nvPr/>
        </p:nvSpPr>
        <p:spPr>
          <a:xfrm>
            <a:off x="3182531" y="5520950"/>
            <a:ext cx="2454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</a:t>
            </a:r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        </a:t>
            </a:r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             </a:t>
            </a:r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</a:t>
            </a:r>
            <a:endParaRPr lang="ko-KR" altLang="en-US" sz="1100" dirty="0">
              <a:latin typeface="Times New Roman" panose="02020603050405020304" pitchFamily="18" charset="0"/>
              <a:ea typeface="함초롬바탕" panose="02030504000101010101"/>
              <a:cs typeface="Times New Roman" panose="02020603050405020304" pitchFamily="18" charset="0"/>
            </a:endParaRPr>
          </a:p>
        </p:txBody>
      </p:sp>
      <p:graphicFrame>
        <p:nvGraphicFramePr>
          <p:cNvPr id="171" name="표 170"/>
          <p:cNvGraphicFramePr>
            <a:graphicFrameLocks noGrp="1"/>
          </p:cNvGraphicFramePr>
          <p:nvPr>
            <p:extLst/>
          </p:nvPr>
        </p:nvGraphicFramePr>
        <p:xfrm>
          <a:off x="7876930" y="5276876"/>
          <a:ext cx="2624862" cy="24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4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35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629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365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310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192.168.2.20</a:t>
                      </a:r>
                      <a:endParaRPr lang="ko-KR" altLang="en-US" sz="1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11.11.11.11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72" name="TextBox 171"/>
          <p:cNvSpPr txBox="1"/>
          <p:nvPr/>
        </p:nvSpPr>
        <p:spPr>
          <a:xfrm>
            <a:off x="7833539" y="5520950"/>
            <a:ext cx="2454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</a:t>
            </a:r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        </a:t>
            </a:r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             </a:t>
            </a:r>
            <a:r>
              <a:rPr lang="ko-KR" altLang="en-US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</a:t>
            </a:r>
            <a:endParaRPr lang="ko-KR" altLang="en-US" sz="1100" dirty="0">
              <a:latin typeface="Times New Roman" panose="02020603050405020304" pitchFamily="18" charset="0"/>
              <a:ea typeface="함초롬바탕" panose="02030504000101010101"/>
              <a:cs typeface="Times New Roman" panose="02020603050405020304" pitchFamily="18" charset="0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680447" y="3174460"/>
            <a:ext cx="26262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NAT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64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7</a:t>
            </a:fld>
            <a:endParaRPr lang="ko-KR" altLang="en-US"/>
          </a:p>
        </p:txBody>
      </p:sp>
      <p:cxnSp>
        <p:nvCxnSpPr>
          <p:cNvPr id="110" name="직선 화살표 연결선 109"/>
          <p:cNvCxnSpPr/>
          <p:nvPr/>
        </p:nvCxnSpPr>
        <p:spPr>
          <a:xfrm>
            <a:off x="1192036" y="3029762"/>
            <a:ext cx="8258706" cy="434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구름 110"/>
          <p:cNvSpPr/>
          <p:nvPr/>
        </p:nvSpPr>
        <p:spPr>
          <a:xfrm>
            <a:off x="4991227" y="2731316"/>
            <a:ext cx="1381758" cy="63621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2" name="Group 172"/>
          <p:cNvGrpSpPr>
            <a:grpSpLocks/>
          </p:cNvGrpSpPr>
          <p:nvPr/>
        </p:nvGrpSpPr>
        <p:grpSpPr bwMode="auto">
          <a:xfrm>
            <a:off x="1139813" y="2752507"/>
            <a:ext cx="672801" cy="697603"/>
            <a:chOff x="1460" y="1680"/>
            <a:chExt cx="971" cy="1145"/>
          </a:xfrm>
        </p:grpSpPr>
        <p:grpSp>
          <p:nvGrpSpPr>
            <p:cNvPr id="118" name="Group 173"/>
            <p:cNvGrpSpPr>
              <a:grpSpLocks/>
            </p:cNvGrpSpPr>
            <p:nvPr/>
          </p:nvGrpSpPr>
          <p:grpSpPr bwMode="auto">
            <a:xfrm rot="20775601" flipH="1">
              <a:off x="2221" y="2374"/>
              <a:ext cx="210" cy="162"/>
              <a:chOff x="3499" y="2336"/>
              <a:chExt cx="1848" cy="1427"/>
            </a:xfrm>
          </p:grpSpPr>
          <p:sp>
            <p:nvSpPr>
              <p:cNvPr id="171" name="Freeform 174"/>
              <p:cNvSpPr>
                <a:spLocks/>
              </p:cNvSpPr>
              <p:nvPr/>
            </p:nvSpPr>
            <p:spPr bwMode="auto">
              <a:xfrm rot="20419783" flipH="1">
                <a:off x="4677" y="2330"/>
                <a:ext cx="783" cy="460"/>
              </a:xfrm>
              <a:custGeom>
                <a:avLst/>
                <a:gdLst/>
                <a:ahLst/>
                <a:cxnLst>
                  <a:cxn ang="0">
                    <a:pos x="1224" y="755"/>
                  </a:cxn>
                  <a:cxn ang="0">
                    <a:pos x="1112" y="716"/>
                  </a:cxn>
                  <a:cxn ang="0">
                    <a:pos x="1051" y="693"/>
                  </a:cxn>
                  <a:cxn ang="0">
                    <a:pos x="1006" y="671"/>
                  </a:cxn>
                  <a:cxn ang="0">
                    <a:pos x="984" y="660"/>
                  </a:cxn>
                  <a:cxn ang="0">
                    <a:pos x="939" y="626"/>
                  </a:cxn>
                  <a:cxn ang="0">
                    <a:pos x="894" y="548"/>
                  </a:cxn>
                  <a:cxn ang="0">
                    <a:pos x="889" y="531"/>
                  </a:cxn>
                  <a:cxn ang="0">
                    <a:pos x="850" y="509"/>
                  </a:cxn>
                  <a:cxn ang="0">
                    <a:pos x="799" y="481"/>
                  </a:cxn>
                  <a:cxn ang="0">
                    <a:pos x="704" y="453"/>
                  </a:cxn>
                  <a:cxn ang="0">
                    <a:pos x="419" y="442"/>
                  </a:cxn>
                  <a:cxn ang="0">
                    <a:pos x="330" y="408"/>
                  </a:cxn>
                  <a:cxn ang="0">
                    <a:pos x="212" y="279"/>
                  </a:cxn>
                  <a:cxn ang="0">
                    <a:pos x="145" y="134"/>
                  </a:cxn>
                  <a:cxn ang="0">
                    <a:pos x="78" y="39"/>
                  </a:cxn>
                  <a:cxn ang="0">
                    <a:pos x="0" y="0"/>
                  </a:cxn>
                </a:cxnLst>
                <a:rect l="0" t="0" r="r" b="b"/>
                <a:pathLst>
                  <a:path w="1224" h="755">
                    <a:moveTo>
                      <a:pt x="1224" y="755"/>
                    </a:moveTo>
                    <a:cubicBezTo>
                      <a:pt x="1190" y="729"/>
                      <a:pt x="1154" y="724"/>
                      <a:pt x="1112" y="716"/>
                    </a:cubicBezTo>
                    <a:cubicBezTo>
                      <a:pt x="1091" y="705"/>
                      <a:pt x="1072" y="702"/>
                      <a:pt x="1051" y="693"/>
                    </a:cubicBezTo>
                    <a:cubicBezTo>
                      <a:pt x="1036" y="686"/>
                      <a:pt x="1021" y="678"/>
                      <a:pt x="1006" y="671"/>
                    </a:cubicBezTo>
                    <a:cubicBezTo>
                      <a:pt x="999" y="667"/>
                      <a:pt x="984" y="660"/>
                      <a:pt x="984" y="660"/>
                    </a:cubicBezTo>
                    <a:cubicBezTo>
                      <a:pt x="971" y="646"/>
                      <a:pt x="939" y="626"/>
                      <a:pt x="939" y="626"/>
                    </a:cubicBezTo>
                    <a:cubicBezTo>
                      <a:pt x="923" y="602"/>
                      <a:pt x="906" y="575"/>
                      <a:pt x="894" y="548"/>
                    </a:cubicBezTo>
                    <a:cubicBezTo>
                      <a:pt x="892" y="543"/>
                      <a:pt x="893" y="536"/>
                      <a:pt x="889" y="531"/>
                    </a:cubicBezTo>
                    <a:cubicBezTo>
                      <a:pt x="884" y="524"/>
                      <a:pt x="855" y="512"/>
                      <a:pt x="850" y="509"/>
                    </a:cubicBezTo>
                    <a:cubicBezTo>
                      <a:pt x="802" y="480"/>
                      <a:pt x="833" y="491"/>
                      <a:pt x="799" y="481"/>
                    </a:cubicBezTo>
                    <a:cubicBezTo>
                      <a:pt x="764" y="457"/>
                      <a:pt x="751" y="457"/>
                      <a:pt x="704" y="453"/>
                    </a:cubicBezTo>
                    <a:cubicBezTo>
                      <a:pt x="606" y="457"/>
                      <a:pt x="515" y="459"/>
                      <a:pt x="419" y="442"/>
                    </a:cubicBezTo>
                    <a:cubicBezTo>
                      <a:pt x="391" y="426"/>
                      <a:pt x="360" y="419"/>
                      <a:pt x="330" y="408"/>
                    </a:cubicBezTo>
                    <a:cubicBezTo>
                      <a:pt x="287" y="368"/>
                      <a:pt x="245" y="328"/>
                      <a:pt x="212" y="279"/>
                    </a:cubicBezTo>
                    <a:cubicBezTo>
                      <a:pt x="183" y="235"/>
                      <a:pt x="168" y="181"/>
                      <a:pt x="145" y="134"/>
                    </a:cubicBezTo>
                    <a:cubicBezTo>
                      <a:pt x="128" y="100"/>
                      <a:pt x="99" y="71"/>
                      <a:pt x="78" y="39"/>
                    </a:cubicBezTo>
                    <a:cubicBezTo>
                      <a:pt x="70" y="27"/>
                      <a:pt x="15" y="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2" name="Freeform 175"/>
              <p:cNvSpPr>
                <a:spLocks/>
              </p:cNvSpPr>
              <p:nvPr/>
            </p:nvSpPr>
            <p:spPr bwMode="auto">
              <a:xfrm rot="-1180217">
                <a:off x="3532" y="2934"/>
                <a:ext cx="1464" cy="698"/>
              </a:xfrm>
              <a:custGeom>
                <a:avLst/>
                <a:gdLst/>
                <a:ahLst/>
                <a:cxnLst>
                  <a:cxn ang="0">
                    <a:pos x="886" y="33"/>
                  </a:cxn>
                  <a:cxn ang="0">
                    <a:pos x="937" y="70"/>
                  </a:cxn>
                  <a:cxn ang="0">
                    <a:pos x="971" y="130"/>
                  </a:cxn>
                  <a:cxn ang="0">
                    <a:pos x="967" y="218"/>
                  </a:cxn>
                  <a:cxn ang="0">
                    <a:pos x="882" y="261"/>
                  </a:cxn>
                  <a:cxn ang="0">
                    <a:pos x="791" y="294"/>
                  </a:cxn>
                  <a:cxn ang="0">
                    <a:pos x="665" y="382"/>
                  </a:cxn>
                  <a:cxn ang="0">
                    <a:pos x="519" y="522"/>
                  </a:cxn>
                  <a:cxn ang="0">
                    <a:pos x="397" y="542"/>
                  </a:cxn>
                  <a:cxn ang="0">
                    <a:pos x="298" y="550"/>
                  </a:cxn>
                  <a:cxn ang="0">
                    <a:pos x="155" y="522"/>
                  </a:cxn>
                  <a:cxn ang="0">
                    <a:pos x="34" y="459"/>
                  </a:cxn>
                  <a:cxn ang="0">
                    <a:pos x="0" y="393"/>
                  </a:cxn>
                  <a:cxn ang="0">
                    <a:pos x="11" y="315"/>
                  </a:cxn>
                  <a:cxn ang="0">
                    <a:pos x="63" y="210"/>
                  </a:cxn>
                  <a:cxn ang="0">
                    <a:pos x="142" y="147"/>
                  </a:cxn>
                  <a:cxn ang="0">
                    <a:pos x="246" y="89"/>
                  </a:cxn>
                  <a:cxn ang="0">
                    <a:pos x="445" y="21"/>
                  </a:cxn>
                  <a:cxn ang="0">
                    <a:pos x="634" y="0"/>
                  </a:cxn>
                  <a:cxn ang="0">
                    <a:pos x="794" y="13"/>
                  </a:cxn>
                  <a:cxn ang="0">
                    <a:pos x="886" y="33"/>
                  </a:cxn>
                </a:cxnLst>
                <a:rect l="0" t="0" r="r" b="b"/>
                <a:pathLst>
                  <a:path w="971" h="550">
                    <a:moveTo>
                      <a:pt x="886" y="33"/>
                    </a:moveTo>
                    <a:lnTo>
                      <a:pt x="937" y="70"/>
                    </a:lnTo>
                    <a:lnTo>
                      <a:pt x="971" y="130"/>
                    </a:lnTo>
                    <a:lnTo>
                      <a:pt x="967" y="218"/>
                    </a:lnTo>
                    <a:lnTo>
                      <a:pt x="882" y="261"/>
                    </a:lnTo>
                    <a:lnTo>
                      <a:pt x="791" y="294"/>
                    </a:lnTo>
                    <a:lnTo>
                      <a:pt x="665" y="382"/>
                    </a:lnTo>
                    <a:lnTo>
                      <a:pt x="519" y="522"/>
                    </a:lnTo>
                    <a:lnTo>
                      <a:pt x="397" y="542"/>
                    </a:lnTo>
                    <a:lnTo>
                      <a:pt x="298" y="550"/>
                    </a:lnTo>
                    <a:lnTo>
                      <a:pt x="155" y="522"/>
                    </a:lnTo>
                    <a:lnTo>
                      <a:pt x="34" y="459"/>
                    </a:lnTo>
                    <a:lnTo>
                      <a:pt x="0" y="393"/>
                    </a:lnTo>
                    <a:lnTo>
                      <a:pt x="11" y="315"/>
                    </a:lnTo>
                    <a:lnTo>
                      <a:pt x="63" y="210"/>
                    </a:lnTo>
                    <a:lnTo>
                      <a:pt x="142" y="147"/>
                    </a:lnTo>
                    <a:lnTo>
                      <a:pt x="246" y="89"/>
                    </a:lnTo>
                    <a:lnTo>
                      <a:pt x="445" y="21"/>
                    </a:lnTo>
                    <a:lnTo>
                      <a:pt x="634" y="0"/>
                    </a:lnTo>
                    <a:lnTo>
                      <a:pt x="794" y="13"/>
                    </a:lnTo>
                    <a:lnTo>
                      <a:pt x="886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FFFFFF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3" name="Freeform 176"/>
              <p:cNvSpPr>
                <a:spLocks/>
              </p:cNvSpPr>
              <p:nvPr/>
            </p:nvSpPr>
            <p:spPr bwMode="auto">
              <a:xfrm rot="20419783" flipH="1">
                <a:off x="3661" y="3116"/>
                <a:ext cx="1413" cy="5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18"/>
                  </a:cxn>
                  <a:cxn ang="0">
                    <a:pos x="319" y="302"/>
                  </a:cxn>
                  <a:cxn ang="0">
                    <a:pos x="604" y="448"/>
                  </a:cxn>
                  <a:cxn ang="0">
                    <a:pos x="867" y="526"/>
                  </a:cxn>
                  <a:cxn ang="0">
                    <a:pos x="1091" y="504"/>
                  </a:cxn>
                  <a:cxn ang="0">
                    <a:pos x="1270" y="448"/>
                  </a:cxn>
                  <a:cxn ang="0">
                    <a:pos x="1432" y="353"/>
                  </a:cxn>
                  <a:cxn ang="0">
                    <a:pos x="1253" y="431"/>
                  </a:cxn>
                  <a:cxn ang="0">
                    <a:pos x="1108" y="470"/>
                  </a:cxn>
                  <a:cxn ang="0">
                    <a:pos x="951" y="470"/>
                  </a:cxn>
                  <a:cxn ang="0">
                    <a:pos x="789" y="453"/>
                  </a:cxn>
                  <a:cxn ang="0">
                    <a:pos x="699" y="420"/>
                  </a:cxn>
                  <a:cxn ang="0">
                    <a:pos x="560" y="330"/>
                  </a:cxn>
                  <a:cxn ang="0">
                    <a:pos x="437" y="213"/>
                  </a:cxn>
                  <a:cxn ang="0">
                    <a:pos x="274" y="129"/>
                  </a:cxn>
                  <a:cxn ang="0">
                    <a:pos x="140" y="73"/>
                  </a:cxn>
                  <a:cxn ang="0">
                    <a:pos x="0" y="0"/>
                  </a:cxn>
                </a:cxnLst>
                <a:rect l="0" t="0" r="r" b="b"/>
                <a:pathLst>
                  <a:path w="1432" h="526">
                    <a:moveTo>
                      <a:pt x="0" y="0"/>
                    </a:moveTo>
                    <a:lnTo>
                      <a:pt x="56" y="118"/>
                    </a:lnTo>
                    <a:lnTo>
                      <a:pt x="319" y="302"/>
                    </a:lnTo>
                    <a:lnTo>
                      <a:pt x="604" y="448"/>
                    </a:lnTo>
                    <a:lnTo>
                      <a:pt x="867" y="526"/>
                    </a:lnTo>
                    <a:lnTo>
                      <a:pt x="1091" y="504"/>
                    </a:lnTo>
                    <a:lnTo>
                      <a:pt x="1270" y="448"/>
                    </a:lnTo>
                    <a:lnTo>
                      <a:pt x="1432" y="353"/>
                    </a:lnTo>
                    <a:lnTo>
                      <a:pt x="1253" y="431"/>
                    </a:lnTo>
                    <a:lnTo>
                      <a:pt x="1108" y="470"/>
                    </a:lnTo>
                    <a:lnTo>
                      <a:pt x="951" y="470"/>
                    </a:lnTo>
                    <a:lnTo>
                      <a:pt x="789" y="453"/>
                    </a:lnTo>
                    <a:lnTo>
                      <a:pt x="699" y="420"/>
                    </a:lnTo>
                    <a:lnTo>
                      <a:pt x="560" y="330"/>
                    </a:lnTo>
                    <a:lnTo>
                      <a:pt x="437" y="213"/>
                    </a:lnTo>
                    <a:lnTo>
                      <a:pt x="274" y="129"/>
                    </a:lnTo>
                    <a:lnTo>
                      <a:pt x="140" y="7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" name="Freeform 177"/>
              <p:cNvSpPr>
                <a:spLocks/>
              </p:cNvSpPr>
              <p:nvPr/>
            </p:nvSpPr>
            <p:spPr bwMode="auto">
              <a:xfrm rot="-1180217">
                <a:off x="4358" y="2814"/>
                <a:ext cx="323" cy="375"/>
              </a:xfrm>
              <a:custGeom>
                <a:avLst/>
                <a:gdLst/>
                <a:ahLst/>
                <a:cxnLst>
                  <a:cxn ang="0">
                    <a:pos x="229" y="261"/>
                  </a:cxn>
                  <a:cxn ang="0">
                    <a:pos x="115" y="57"/>
                  </a:cxn>
                  <a:cxn ang="0">
                    <a:pos x="0" y="0"/>
                  </a:cxn>
                </a:cxnLst>
                <a:rect l="0" t="0" r="r" b="b"/>
                <a:pathLst>
                  <a:path w="229" h="261">
                    <a:moveTo>
                      <a:pt x="229" y="261"/>
                    </a:moveTo>
                    <a:lnTo>
                      <a:pt x="115" y="57"/>
                    </a:ln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rgbClr val="B2B2B2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5" name="Freeform 178"/>
              <p:cNvSpPr>
                <a:spLocks/>
              </p:cNvSpPr>
              <p:nvPr/>
            </p:nvSpPr>
            <p:spPr bwMode="auto">
              <a:xfrm rot="20419783" flipH="1">
                <a:off x="4324" y="2821"/>
                <a:ext cx="443" cy="68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246" y="26"/>
                  </a:cxn>
                  <a:cxn ang="0">
                    <a:pos x="408" y="0"/>
                  </a:cxn>
                  <a:cxn ang="0">
                    <a:pos x="560" y="26"/>
                  </a:cxn>
                </a:cxnLst>
                <a:rect l="0" t="0" r="r" b="b"/>
                <a:pathLst>
                  <a:path w="560" h="79">
                    <a:moveTo>
                      <a:pt x="0" y="79"/>
                    </a:moveTo>
                    <a:lnTo>
                      <a:pt x="246" y="26"/>
                    </a:lnTo>
                    <a:lnTo>
                      <a:pt x="408" y="0"/>
                    </a:lnTo>
                    <a:lnTo>
                      <a:pt x="560" y="26"/>
                    </a:lnTo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6" name="Oval 179"/>
              <p:cNvSpPr>
                <a:spLocks noChangeArrowheads="1"/>
              </p:cNvSpPr>
              <p:nvPr/>
            </p:nvSpPr>
            <p:spPr bwMode="auto">
              <a:xfrm rot="21155849" flipH="1">
                <a:off x="4282" y="2827"/>
                <a:ext cx="187" cy="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7" name="Freeform 180"/>
              <p:cNvSpPr>
                <a:spLocks/>
              </p:cNvSpPr>
              <p:nvPr/>
            </p:nvSpPr>
            <p:spPr bwMode="auto">
              <a:xfrm rot="20419783" flipH="1">
                <a:off x="4481" y="2789"/>
                <a:ext cx="409" cy="272"/>
              </a:xfrm>
              <a:custGeom>
                <a:avLst/>
                <a:gdLst/>
                <a:ahLst/>
                <a:cxnLst>
                  <a:cxn ang="0">
                    <a:pos x="98" y="36"/>
                  </a:cxn>
                  <a:cxn ang="0">
                    <a:pos x="320" y="0"/>
                  </a:cxn>
                  <a:cxn ang="0">
                    <a:pos x="367" y="26"/>
                  </a:cxn>
                  <a:cxn ang="0">
                    <a:pos x="445" y="26"/>
                  </a:cxn>
                  <a:cxn ang="0">
                    <a:pos x="482" y="42"/>
                  </a:cxn>
                  <a:cxn ang="0">
                    <a:pos x="278" y="367"/>
                  </a:cxn>
                  <a:cxn ang="0">
                    <a:pos x="5" y="262"/>
                  </a:cxn>
                  <a:cxn ang="0">
                    <a:pos x="0" y="157"/>
                  </a:cxn>
                  <a:cxn ang="0">
                    <a:pos x="42" y="74"/>
                  </a:cxn>
                  <a:cxn ang="0">
                    <a:pos x="98" y="36"/>
                  </a:cxn>
                </a:cxnLst>
                <a:rect l="0" t="0" r="r" b="b"/>
                <a:pathLst>
                  <a:path w="482" h="367">
                    <a:moveTo>
                      <a:pt x="98" y="36"/>
                    </a:moveTo>
                    <a:lnTo>
                      <a:pt x="320" y="0"/>
                    </a:lnTo>
                    <a:lnTo>
                      <a:pt x="367" y="26"/>
                    </a:lnTo>
                    <a:lnTo>
                      <a:pt x="445" y="26"/>
                    </a:lnTo>
                    <a:lnTo>
                      <a:pt x="482" y="42"/>
                    </a:lnTo>
                    <a:lnTo>
                      <a:pt x="278" y="367"/>
                    </a:lnTo>
                    <a:lnTo>
                      <a:pt x="5" y="262"/>
                    </a:lnTo>
                    <a:lnTo>
                      <a:pt x="0" y="157"/>
                    </a:lnTo>
                    <a:lnTo>
                      <a:pt x="42" y="74"/>
                    </a:lnTo>
                    <a:lnTo>
                      <a:pt x="98" y="36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3" name="Group 181"/>
            <p:cNvGrpSpPr>
              <a:grpSpLocks/>
            </p:cNvGrpSpPr>
            <p:nvPr/>
          </p:nvGrpSpPr>
          <p:grpSpPr bwMode="auto">
            <a:xfrm flipH="1">
              <a:off x="1662" y="2315"/>
              <a:ext cx="664" cy="510"/>
              <a:chOff x="854" y="3072"/>
              <a:chExt cx="883" cy="678"/>
            </a:xfrm>
          </p:grpSpPr>
          <p:sp>
            <p:nvSpPr>
              <p:cNvPr id="165" name="Freeform 182"/>
              <p:cNvSpPr>
                <a:spLocks/>
              </p:cNvSpPr>
              <p:nvPr/>
            </p:nvSpPr>
            <p:spPr bwMode="auto">
              <a:xfrm>
                <a:off x="854" y="3092"/>
                <a:ext cx="354" cy="658"/>
              </a:xfrm>
              <a:custGeom>
                <a:avLst/>
                <a:gdLst/>
                <a:ahLst/>
                <a:cxnLst>
                  <a:cxn ang="0">
                    <a:pos x="933" y="135"/>
                  </a:cxn>
                  <a:cxn ang="0">
                    <a:pos x="932" y="171"/>
                  </a:cxn>
                  <a:cxn ang="0">
                    <a:pos x="762" y="352"/>
                  </a:cxn>
                  <a:cxn ang="0">
                    <a:pos x="4" y="195"/>
                  </a:cxn>
                  <a:cxn ang="0">
                    <a:pos x="0" y="148"/>
                  </a:cxn>
                  <a:cxn ang="0">
                    <a:pos x="244" y="0"/>
                  </a:cxn>
                  <a:cxn ang="0">
                    <a:pos x="933" y="135"/>
                  </a:cxn>
                </a:cxnLst>
                <a:rect l="0" t="0" r="r" b="b"/>
                <a:pathLst>
                  <a:path w="933" h="352">
                    <a:moveTo>
                      <a:pt x="933" y="135"/>
                    </a:moveTo>
                    <a:lnTo>
                      <a:pt x="932" y="171"/>
                    </a:lnTo>
                    <a:lnTo>
                      <a:pt x="762" y="352"/>
                    </a:lnTo>
                    <a:lnTo>
                      <a:pt x="4" y="195"/>
                    </a:lnTo>
                    <a:lnTo>
                      <a:pt x="0" y="148"/>
                    </a:lnTo>
                    <a:lnTo>
                      <a:pt x="244" y="0"/>
                    </a:lnTo>
                    <a:lnTo>
                      <a:pt x="933" y="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DDDDDD">
                      <a:gamma/>
                      <a:tint val="34118"/>
                      <a:invGamma/>
                    </a:srgbClr>
                  </a:gs>
                </a:gsLst>
                <a:lin ang="0" scaled="1"/>
              </a:gradFill>
              <a:ln w="6350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" name="Freeform 183"/>
              <p:cNvSpPr>
                <a:spLocks/>
              </p:cNvSpPr>
              <p:nvPr/>
            </p:nvSpPr>
            <p:spPr bwMode="auto">
              <a:xfrm>
                <a:off x="878" y="3072"/>
                <a:ext cx="355" cy="658"/>
              </a:xfrm>
              <a:custGeom>
                <a:avLst/>
                <a:gdLst/>
                <a:ahLst/>
                <a:cxnLst>
                  <a:cxn ang="0">
                    <a:pos x="895" y="133"/>
                  </a:cxn>
                  <a:cxn ang="0">
                    <a:pos x="232" y="0"/>
                  </a:cxn>
                  <a:cxn ang="0">
                    <a:pos x="0" y="143"/>
                  </a:cxn>
                  <a:cxn ang="0">
                    <a:pos x="739" y="294"/>
                  </a:cxn>
                  <a:cxn ang="0">
                    <a:pos x="895" y="133"/>
                  </a:cxn>
                </a:cxnLst>
                <a:rect l="0" t="0" r="r" b="b"/>
                <a:pathLst>
                  <a:path w="895" h="294">
                    <a:moveTo>
                      <a:pt x="895" y="133"/>
                    </a:moveTo>
                    <a:lnTo>
                      <a:pt x="232" y="0"/>
                    </a:lnTo>
                    <a:lnTo>
                      <a:pt x="0" y="143"/>
                    </a:lnTo>
                    <a:lnTo>
                      <a:pt x="739" y="294"/>
                    </a:lnTo>
                    <a:lnTo>
                      <a:pt x="895" y="13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" name="Freeform 184"/>
              <p:cNvSpPr>
                <a:spLocks/>
              </p:cNvSpPr>
              <p:nvPr/>
            </p:nvSpPr>
            <p:spPr bwMode="auto">
              <a:xfrm>
                <a:off x="1133" y="3276"/>
                <a:ext cx="535" cy="118"/>
              </a:xfrm>
              <a:custGeom>
                <a:avLst/>
                <a:gdLst/>
                <a:ahLst/>
                <a:cxnLst>
                  <a:cxn ang="0">
                    <a:pos x="0" y="15"/>
                  </a:cxn>
                  <a:cxn ang="0">
                    <a:pos x="508" y="118"/>
                  </a:cxn>
                  <a:cxn ang="0">
                    <a:pos x="531" y="103"/>
                  </a:cxn>
                  <a:cxn ang="0">
                    <a:pos x="23" y="0"/>
                  </a:cxn>
                </a:cxnLst>
                <a:rect l="0" t="0" r="r" b="b"/>
                <a:pathLst>
                  <a:path w="531" h="118">
                    <a:moveTo>
                      <a:pt x="0" y="15"/>
                    </a:moveTo>
                    <a:lnTo>
                      <a:pt x="508" y="118"/>
                    </a:lnTo>
                    <a:lnTo>
                      <a:pt x="531" y="103"/>
                    </a:lnTo>
                    <a:lnTo>
                      <a:pt x="23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" name="Freeform 185"/>
              <p:cNvSpPr>
                <a:spLocks/>
              </p:cNvSpPr>
              <p:nvPr/>
            </p:nvSpPr>
            <p:spPr bwMode="auto">
              <a:xfrm>
                <a:off x="981" y="3306"/>
                <a:ext cx="550" cy="159"/>
              </a:xfrm>
              <a:custGeom>
                <a:avLst/>
                <a:gdLst/>
                <a:ahLst/>
                <a:cxnLst>
                  <a:cxn ang="0">
                    <a:pos x="0" y="74"/>
                  </a:cxn>
                  <a:cxn ang="0">
                    <a:pos x="31" y="78"/>
                  </a:cxn>
                  <a:cxn ang="0">
                    <a:pos x="57" y="66"/>
                  </a:cxn>
                  <a:cxn ang="0">
                    <a:pos x="76" y="71"/>
                  </a:cxn>
                  <a:cxn ang="0">
                    <a:pos x="58" y="81"/>
                  </a:cxn>
                  <a:cxn ang="0">
                    <a:pos x="451" y="159"/>
                  </a:cxn>
                  <a:cxn ang="0">
                    <a:pos x="548" y="84"/>
                  </a:cxn>
                  <a:cxn ang="0">
                    <a:pos x="130" y="0"/>
                  </a:cxn>
                </a:cxnLst>
                <a:rect l="0" t="0" r="r" b="b"/>
                <a:pathLst>
                  <a:path w="548" h="159">
                    <a:moveTo>
                      <a:pt x="0" y="74"/>
                    </a:moveTo>
                    <a:lnTo>
                      <a:pt x="31" y="78"/>
                    </a:lnTo>
                    <a:lnTo>
                      <a:pt x="57" y="66"/>
                    </a:lnTo>
                    <a:lnTo>
                      <a:pt x="76" y="71"/>
                    </a:lnTo>
                    <a:lnTo>
                      <a:pt x="58" y="81"/>
                    </a:lnTo>
                    <a:lnTo>
                      <a:pt x="451" y="159"/>
                    </a:lnTo>
                    <a:lnTo>
                      <a:pt x="548" y="84"/>
                    </a:lnTo>
                    <a:lnTo>
                      <a:pt x="130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9" name="Freeform 186"/>
              <p:cNvSpPr>
                <a:spLocks/>
              </p:cNvSpPr>
              <p:nvPr/>
            </p:nvSpPr>
            <p:spPr bwMode="auto">
              <a:xfrm>
                <a:off x="1495" y="3396"/>
                <a:ext cx="139" cy="69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140" y="11"/>
                  </a:cxn>
                  <a:cxn ang="0">
                    <a:pos x="75" y="70"/>
                  </a:cxn>
                  <a:cxn ang="0">
                    <a:pos x="0" y="56"/>
                  </a:cxn>
                </a:cxnLst>
                <a:rect l="0" t="0" r="r" b="b"/>
                <a:pathLst>
                  <a:path w="140" h="70">
                    <a:moveTo>
                      <a:pt x="73" y="0"/>
                    </a:moveTo>
                    <a:lnTo>
                      <a:pt x="140" y="11"/>
                    </a:lnTo>
                    <a:lnTo>
                      <a:pt x="75" y="70"/>
                    </a:lnTo>
                    <a:lnTo>
                      <a:pt x="0" y="56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0" name="Freeform 187"/>
              <p:cNvSpPr>
                <a:spLocks/>
              </p:cNvSpPr>
              <p:nvPr/>
            </p:nvSpPr>
            <p:spPr bwMode="auto">
              <a:xfrm>
                <a:off x="1570" y="3412"/>
                <a:ext cx="167" cy="100"/>
              </a:xfrm>
              <a:custGeom>
                <a:avLst/>
                <a:gdLst/>
                <a:ahLst/>
                <a:cxnLst>
                  <a:cxn ang="0">
                    <a:pos x="87" y="0"/>
                  </a:cxn>
                  <a:cxn ang="0">
                    <a:pos x="167" y="15"/>
                  </a:cxn>
                  <a:cxn ang="0">
                    <a:pos x="81" y="101"/>
                  </a:cxn>
                  <a:cxn ang="0">
                    <a:pos x="0" y="83"/>
                  </a:cxn>
                </a:cxnLst>
                <a:rect l="0" t="0" r="r" b="b"/>
                <a:pathLst>
                  <a:path w="167" h="101">
                    <a:moveTo>
                      <a:pt x="87" y="0"/>
                    </a:moveTo>
                    <a:lnTo>
                      <a:pt x="167" y="15"/>
                    </a:lnTo>
                    <a:lnTo>
                      <a:pt x="81" y="101"/>
                    </a:lnTo>
                    <a:lnTo>
                      <a:pt x="0" y="83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4" name="Group 188"/>
            <p:cNvGrpSpPr>
              <a:grpSpLocks/>
            </p:cNvGrpSpPr>
            <p:nvPr/>
          </p:nvGrpSpPr>
          <p:grpSpPr bwMode="auto">
            <a:xfrm>
              <a:off x="1460" y="2079"/>
              <a:ext cx="724" cy="441"/>
              <a:chOff x="1460" y="2079"/>
              <a:chExt cx="724" cy="441"/>
            </a:xfrm>
          </p:grpSpPr>
          <p:sp>
            <p:nvSpPr>
              <p:cNvPr id="141" name="Freeform 189"/>
              <p:cNvSpPr>
                <a:spLocks noChangeAspect="1"/>
              </p:cNvSpPr>
              <p:nvPr/>
            </p:nvSpPr>
            <p:spPr bwMode="auto">
              <a:xfrm>
                <a:off x="1460" y="2143"/>
                <a:ext cx="168" cy="377"/>
              </a:xfrm>
              <a:custGeom>
                <a:avLst/>
                <a:gdLst/>
                <a:ahLst/>
                <a:cxnLst>
                  <a:cxn ang="0">
                    <a:pos x="169" y="246"/>
                  </a:cxn>
                  <a:cxn ang="0">
                    <a:pos x="1" y="0"/>
                  </a:cxn>
                  <a:cxn ang="0">
                    <a:pos x="0" y="123"/>
                  </a:cxn>
                  <a:cxn ang="0">
                    <a:pos x="165" y="377"/>
                  </a:cxn>
                </a:cxnLst>
                <a:rect l="0" t="0" r="r" b="b"/>
                <a:pathLst>
                  <a:path w="169" h="377">
                    <a:moveTo>
                      <a:pt x="169" y="246"/>
                    </a:moveTo>
                    <a:lnTo>
                      <a:pt x="1" y="0"/>
                    </a:lnTo>
                    <a:lnTo>
                      <a:pt x="0" y="123"/>
                    </a:lnTo>
                    <a:lnTo>
                      <a:pt x="165" y="377"/>
                    </a:lnTo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100000">
                    <a:srgbClr val="EAEAEA">
                      <a:gamma/>
                      <a:tint val="60784"/>
                      <a:invGamma/>
                    </a:srgbClr>
                  </a:gs>
                </a:gsLst>
                <a:lin ang="0" scaled="1"/>
              </a:gra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" name="Freeform 190"/>
              <p:cNvSpPr>
                <a:spLocks noChangeAspect="1"/>
              </p:cNvSpPr>
              <p:nvPr/>
            </p:nvSpPr>
            <p:spPr bwMode="auto">
              <a:xfrm>
                <a:off x="1464" y="2079"/>
                <a:ext cx="720" cy="309"/>
              </a:xfrm>
              <a:custGeom>
                <a:avLst/>
                <a:gdLst/>
                <a:ahLst/>
                <a:cxnLst>
                  <a:cxn ang="0">
                    <a:pos x="166" y="310"/>
                  </a:cxn>
                  <a:cxn ang="0">
                    <a:pos x="718" y="211"/>
                  </a:cxn>
                  <a:cxn ang="0">
                    <a:pos x="444" y="0"/>
                  </a:cxn>
                  <a:cxn ang="0">
                    <a:pos x="0" y="64"/>
                  </a:cxn>
                  <a:cxn ang="0">
                    <a:pos x="166" y="310"/>
                  </a:cxn>
                </a:cxnLst>
                <a:rect l="0" t="0" r="r" b="b"/>
                <a:pathLst>
                  <a:path w="718" h="310">
                    <a:moveTo>
                      <a:pt x="166" y="310"/>
                    </a:moveTo>
                    <a:lnTo>
                      <a:pt x="718" y="211"/>
                    </a:lnTo>
                    <a:lnTo>
                      <a:pt x="444" y="0"/>
                    </a:lnTo>
                    <a:lnTo>
                      <a:pt x="0" y="64"/>
                    </a:lnTo>
                    <a:lnTo>
                      <a:pt x="166" y="31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" name="Freeform 191"/>
              <p:cNvSpPr>
                <a:spLocks/>
              </p:cNvSpPr>
              <p:nvPr/>
            </p:nvSpPr>
            <p:spPr bwMode="auto">
              <a:xfrm>
                <a:off x="1622" y="2288"/>
                <a:ext cx="544" cy="228"/>
              </a:xfrm>
              <a:custGeom>
                <a:avLst/>
                <a:gdLst/>
                <a:ahLst/>
                <a:cxnLst>
                  <a:cxn ang="0">
                    <a:pos x="6" y="99"/>
                  </a:cxn>
                  <a:cxn ang="0">
                    <a:pos x="557" y="0"/>
                  </a:cxn>
                  <a:cxn ang="0">
                    <a:pos x="549" y="121"/>
                  </a:cxn>
                  <a:cxn ang="0">
                    <a:pos x="0" y="228"/>
                  </a:cxn>
                  <a:cxn ang="0">
                    <a:pos x="6" y="99"/>
                  </a:cxn>
                </a:cxnLst>
                <a:rect l="0" t="0" r="r" b="b"/>
                <a:pathLst>
                  <a:path w="557" h="228">
                    <a:moveTo>
                      <a:pt x="6" y="99"/>
                    </a:moveTo>
                    <a:lnTo>
                      <a:pt x="557" y="0"/>
                    </a:lnTo>
                    <a:lnTo>
                      <a:pt x="549" y="121"/>
                    </a:lnTo>
                    <a:lnTo>
                      <a:pt x="0" y="228"/>
                    </a:lnTo>
                    <a:lnTo>
                      <a:pt x="6" y="9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EAEAEA">
                      <a:gamma/>
                      <a:tint val="0"/>
                      <a:invGamma/>
                    </a:srgbClr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" name="Freeform 192"/>
              <p:cNvSpPr>
                <a:spLocks/>
              </p:cNvSpPr>
              <p:nvPr/>
            </p:nvSpPr>
            <p:spPr bwMode="auto">
              <a:xfrm>
                <a:off x="1644" y="2425"/>
                <a:ext cx="168" cy="6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63"/>
                  </a:cxn>
                  <a:cxn ang="0">
                    <a:pos x="164" y="33"/>
                  </a:cxn>
                  <a:cxn ang="0">
                    <a:pos x="167" y="0"/>
                  </a:cxn>
                  <a:cxn ang="0">
                    <a:pos x="0" y="32"/>
                  </a:cxn>
                </a:cxnLst>
                <a:rect l="0" t="0" r="r" b="b"/>
                <a:pathLst>
                  <a:path w="167" h="63">
                    <a:moveTo>
                      <a:pt x="0" y="32"/>
                    </a:moveTo>
                    <a:lnTo>
                      <a:pt x="0" y="63"/>
                    </a:lnTo>
                    <a:lnTo>
                      <a:pt x="164" y="33"/>
                    </a:lnTo>
                    <a:lnTo>
                      <a:pt x="167" y="0"/>
                    </a:lnTo>
                    <a:lnTo>
                      <a:pt x="0" y="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/>
                </a:prst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" name="Oval 193"/>
              <p:cNvSpPr>
                <a:spLocks noChangeArrowheads="1"/>
              </p:cNvSpPr>
              <p:nvPr/>
            </p:nvSpPr>
            <p:spPr bwMode="auto">
              <a:xfrm>
                <a:off x="1783" y="2433"/>
                <a:ext cx="17" cy="23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" name="Line 194"/>
              <p:cNvSpPr>
                <a:spLocks noChangeShapeType="1"/>
              </p:cNvSpPr>
              <p:nvPr/>
            </p:nvSpPr>
            <p:spPr bwMode="auto">
              <a:xfrm flipH="1">
                <a:off x="2042" y="2338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" name="Line 195"/>
              <p:cNvSpPr>
                <a:spLocks noChangeShapeType="1"/>
              </p:cNvSpPr>
              <p:nvPr/>
            </p:nvSpPr>
            <p:spPr bwMode="auto">
              <a:xfrm flipH="1">
                <a:off x="2029" y="2340"/>
                <a:ext cx="2" cy="8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" name="Line 196"/>
              <p:cNvSpPr>
                <a:spLocks noChangeShapeType="1"/>
              </p:cNvSpPr>
              <p:nvPr/>
            </p:nvSpPr>
            <p:spPr bwMode="auto">
              <a:xfrm flipH="1">
                <a:off x="2056" y="2336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" name="Line 197"/>
              <p:cNvSpPr>
                <a:spLocks noChangeShapeType="1"/>
              </p:cNvSpPr>
              <p:nvPr/>
            </p:nvSpPr>
            <p:spPr bwMode="auto">
              <a:xfrm flipH="1">
                <a:off x="2069" y="2334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" name="Line 198"/>
              <p:cNvSpPr>
                <a:spLocks noChangeShapeType="1"/>
              </p:cNvSpPr>
              <p:nvPr/>
            </p:nvSpPr>
            <p:spPr bwMode="auto">
              <a:xfrm flipH="1">
                <a:off x="2081" y="2332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" name="Line 199"/>
              <p:cNvSpPr>
                <a:spLocks noChangeShapeType="1"/>
              </p:cNvSpPr>
              <p:nvPr/>
            </p:nvSpPr>
            <p:spPr bwMode="auto">
              <a:xfrm flipH="1">
                <a:off x="2094" y="2329"/>
                <a:ext cx="4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" name="Line 200"/>
              <p:cNvSpPr>
                <a:spLocks noChangeShapeType="1"/>
              </p:cNvSpPr>
              <p:nvPr/>
            </p:nvSpPr>
            <p:spPr bwMode="auto">
              <a:xfrm flipH="1">
                <a:off x="2106" y="232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Line 201"/>
              <p:cNvSpPr>
                <a:spLocks noChangeShapeType="1"/>
              </p:cNvSpPr>
              <p:nvPr/>
            </p:nvSpPr>
            <p:spPr bwMode="auto">
              <a:xfrm flipH="1">
                <a:off x="2118" y="2323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" name="Line 202"/>
              <p:cNvSpPr>
                <a:spLocks noChangeShapeType="1"/>
              </p:cNvSpPr>
              <p:nvPr/>
            </p:nvSpPr>
            <p:spPr bwMode="auto">
              <a:xfrm flipH="1">
                <a:off x="2129" y="2323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" name="Line 203"/>
              <p:cNvSpPr>
                <a:spLocks noChangeShapeType="1"/>
              </p:cNvSpPr>
              <p:nvPr/>
            </p:nvSpPr>
            <p:spPr bwMode="auto">
              <a:xfrm flipH="1">
                <a:off x="2141" y="2321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" name="Line 204"/>
              <p:cNvSpPr>
                <a:spLocks noChangeShapeType="1"/>
              </p:cNvSpPr>
              <p:nvPr/>
            </p:nvSpPr>
            <p:spPr bwMode="auto">
              <a:xfrm flipH="1">
                <a:off x="2154" y="231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" name="Freeform 205"/>
              <p:cNvSpPr>
                <a:spLocks/>
              </p:cNvSpPr>
              <p:nvPr/>
            </p:nvSpPr>
            <p:spPr bwMode="auto">
              <a:xfrm>
                <a:off x="1862" y="2371"/>
                <a:ext cx="93" cy="68"/>
              </a:xfrm>
              <a:custGeom>
                <a:avLst/>
                <a:gdLst/>
                <a:ahLst/>
                <a:cxnLst>
                  <a:cxn ang="0">
                    <a:pos x="2" y="33"/>
                  </a:cxn>
                  <a:cxn ang="0">
                    <a:pos x="0" y="138"/>
                  </a:cxn>
                  <a:cxn ang="0">
                    <a:pos x="186" y="104"/>
                  </a:cxn>
                  <a:cxn ang="0">
                    <a:pos x="186" y="0"/>
                  </a:cxn>
                  <a:cxn ang="0">
                    <a:pos x="2" y="33"/>
                  </a:cxn>
                </a:cxnLst>
                <a:rect l="0" t="0" r="r" b="b"/>
                <a:pathLst>
                  <a:path w="186" h="138">
                    <a:moveTo>
                      <a:pt x="2" y="33"/>
                    </a:moveTo>
                    <a:lnTo>
                      <a:pt x="0" y="138"/>
                    </a:lnTo>
                    <a:lnTo>
                      <a:pt x="186" y="104"/>
                    </a:lnTo>
                    <a:lnTo>
                      <a:pt x="186" y="0"/>
                    </a:lnTo>
                    <a:lnTo>
                      <a:pt x="2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969696">
                      <a:gamma/>
                      <a:shade val="75686"/>
                      <a:invGamma/>
                    </a:srgbClr>
                  </a:gs>
                </a:gsLst>
                <a:lin ang="0" scaled="1"/>
              </a:gradFill>
              <a:ln w="317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>
                    <a:alpha val="50000"/>
                  </a:srgbClr>
                </a:prstShdw>
              </a:effectLst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" name="Line 206"/>
              <p:cNvSpPr>
                <a:spLocks noChangeShapeType="1"/>
              </p:cNvSpPr>
              <p:nvPr/>
            </p:nvSpPr>
            <p:spPr bwMode="auto">
              <a:xfrm flipH="1">
                <a:off x="1874" y="2408"/>
                <a:ext cx="0" cy="21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" name="Line 207"/>
              <p:cNvSpPr>
                <a:spLocks noChangeShapeType="1"/>
              </p:cNvSpPr>
              <p:nvPr/>
            </p:nvSpPr>
            <p:spPr bwMode="auto">
              <a:xfrm flipH="1">
                <a:off x="1947" y="2394"/>
                <a:ext cx="0" cy="19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" name="Line 208"/>
              <p:cNvSpPr>
                <a:spLocks noChangeShapeType="1"/>
              </p:cNvSpPr>
              <p:nvPr/>
            </p:nvSpPr>
            <p:spPr bwMode="auto">
              <a:xfrm flipH="1">
                <a:off x="1938" y="2404"/>
                <a:ext cx="0" cy="15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" name="Line 209"/>
              <p:cNvSpPr>
                <a:spLocks noChangeShapeType="1"/>
              </p:cNvSpPr>
              <p:nvPr/>
            </p:nvSpPr>
            <p:spPr bwMode="auto">
              <a:xfrm flipH="1">
                <a:off x="1886" y="2417"/>
                <a:ext cx="0" cy="14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" name="Line 210"/>
              <p:cNvSpPr>
                <a:spLocks noChangeShapeType="1"/>
              </p:cNvSpPr>
              <p:nvPr/>
            </p:nvSpPr>
            <p:spPr bwMode="auto">
              <a:xfrm flipV="1">
                <a:off x="1897" y="2419"/>
                <a:ext cx="29" cy="6"/>
              </a:xfrm>
              <a:prstGeom prst="line">
                <a:avLst/>
              </a:prstGeom>
              <a:noFill/>
              <a:ln w="9525">
                <a:solidFill>
                  <a:srgbClr val="FFFF99">
                    <a:alpha val="4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" name="Freeform 211"/>
              <p:cNvSpPr>
                <a:spLocks/>
              </p:cNvSpPr>
              <p:nvPr/>
            </p:nvSpPr>
            <p:spPr bwMode="auto">
              <a:xfrm>
                <a:off x="1671" y="2387"/>
                <a:ext cx="116" cy="39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" y="38"/>
                  </a:cxn>
                  <a:cxn ang="0">
                    <a:pos x="116" y="19"/>
                  </a:cxn>
                  <a:cxn ang="0">
                    <a:pos x="116" y="0"/>
                  </a:cxn>
                  <a:cxn ang="0">
                    <a:pos x="0" y="20"/>
                  </a:cxn>
                </a:cxnLst>
                <a:rect l="0" t="0" r="r" b="b"/>
                <a:pathLst>
                  <a:path w="116" h="38">
                    <a:moveTo>
                      <a:pt x="0" y="20"/>
                    </a:moveTo>
                    <a:lnTo>
                      <a:pt x="1" y="38"/>
                    </a:lnTo>
                    <a:lnTo>
                      <a:pt x="116" y="19"/>
                    </a:lnTo>
                    <a:lnTo>
                      <a:pt x="116" y="0"/>
                    </a:lnTo>
                    <a:lnTo>
                      <a:pt x="0" y="2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" name="Line 212"/>
              <p:cNvSpPr>
                <a:spLocks noChangeShapeType="1"/>
              </p:cNvSpPr>
              <p:nvPr/>
            </p:nvSpPr>
            <p:spPr bwMode="auto">
              <a:xfrm flipV="1">
                <a:off x="1661" y="2394"/>
                <a:ext cx="133" cy="23"/>
              </a:xfrm>
              <a:prstGeom prst="line">
                <a:avLst/>
              </a:prstGeom>
              <a:noFill/>
              <a:ln w="317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5" name="Group 213"/>
            <p:cNvGrpSpPr>
              <a:grpSpLocks/>
            </p:cNvGrpSpPr>
            <p:nvPr/>
          </p:nvGrpSpPr>
          <p:grpSpPr bwMode="auto">
            <a:xfrm flipH="1">
              <a:off x="1536" y="1680"/>
              <a:ext cx="585" cy="583"/>
              <a:chOff x="1829" y="1130"/>
              <a:chExt cx="1859" cy="1865"/>
            </a:xfrm>
          </p:grpSpPr>
          <p:grpSp>
            <p:nvGrpSpPr>
              <p:cNvPr id="126" name="Group 214"/>
              <p:cNvGrpSpPr>
                <a:grpSpLocks/>
              </p:cNvGrpSpPr>
              <p:nvPr/>
            </p:nvGrpSpPr>
            <p:grpSpPr bwMode="auto">
              <a:xfrm>
                <a:off x="2470" y="1323"/>
                <a:ext cx="1218" cy="1259"/>
                <a:chOff x="2601" y="1199"/>
                <a:chExt cx="1218" cy="1408"/>
              </a:xfrm>
            </p:grpSpPr>
            <p:sp>
              <p:nvSpPr>
                <p:cNvPr id="139" name="Freeform 215"/>
                <p:cNvSpPr>
                  <a:spLocks/>
                </p:cNvSpPr>
                <p:nvPr/>
              </p:nvSpPr>
              <p:spPr bwMode="auto">
                <a:xfrm>
                  <a:off x="2598" y="1201"/>
                  <a:ext cx="1217" cy="180"/>
                </a:xfrm>
                <a:custGeom>
                  <a:avLst/>
                  <a:gdLst/>
                  <a:ahLst/>
                  <a:cxnLst>
                    <a:cxn ang="0">
                      <a:pos x="1205" y="151"/>
                    </a:cxn>
                    <a:cxn ang="0">
                      <a:pos x="964" y="178"/>
                    </a:cxn>
                    <a:cxn ang="0">
                      <a:pos x="0" y="0"/>
                    </a:cxn>
                    <a:cxn ang="0">
                      <a:pos x="1205" y="151"/>
                    </a:cxn>
                  </a:cxnLst>
                  <a:rect l="0" t="0" r="r" b="b"/>
                  <a:pathLst>
                    <a:path w="1205" h="178">
                      <a:moveTo>
                        <a:pt x="1205" y="151"/>
                      </a:moveTo>
                      <a:lnTo>
                        <a:pt x="964" y="178"/>
                      </a:lnTo>
                      <a:lnTo>
                        <a:pt x="0" y="0"/>
                      </a:lnTo>
                      <a:lnTo>
                        <a:pt x="1205" y="151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" name="Freeform 216"/>
                <p:cNvSpPr>
                  <a:spLocks/>
                </p:cNvSpPr>
                <p:nvPr/>
              </p:nvSpPr>
              <p:spPr bwMode="auto">
                <a:xfrm>
                  <a:off x="3415" y="1360"/>
                  <a:ext cx="406" cy="1245"/>
                </a:xfrm>
                <a:custGeom>
                  <a:avLst/>
                  <a:gdLst/>
                  <a:ahLst/>
                  <a:cxnLst>
                    <a:cxn ang="0">
                      <a:pos x="405" y="0"/>
                    </a:cxn>
                    <a:cxn ang="0">
                      <a:pos x="389" y="1000"/>
                    </a:cxn>
                    <a:cxn ang="0">
                      <a:pos x="133" y="1241"/>
                    </a:cxn>
                    <a:cxn ang="0">
                      <a:pos x="0" y="13"/>
                    </a:cxn>
                    <a:cxn ang="0">
                      <a:pos x="189" y="24"/>
                    </a:cxn>
                    <a:cxn ang="0">
                      <a:pos x="405" y="0"/>
                    </a:cxn>
                  </a:cxnLst>
                  <a:rect l="0" t="0" r="r" b="b"/>
                  <a:pathLst>
                    <a:path w="405" h="1241">
                      <a:moveTo>
                        <a:pt x="405" y="0"/>
                      </a:moveTo>
                      <a:lnTo>
                        <a:pt x="389" y="1000"/>
                      </a:lnTo>
                      <a:lnTo>
                        <a:pt x="133" y="1241"/>
                      </a:lnTo>
                      <a:lnTo>
                        <a:pt x="0" y="13"/>
                      </a:lnTo>
                      <a:lnTo>
                        <a:pt x="189" y="24"/>
                      </a:lnTo>
                      <a:lnTo>
                        <a:pt x="405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969696">
                        <a:gamma/>
                        <a:tint val="48627"/>
                        <a:invGamma/>
                      </a:srgbClr>
                    </a:gs>
                    <a:gs pos="100000">
                      <a:srgbClr val="969696"/>
                    </a:gs>
                  </a:gsLst>
                  <a:lin ang="0" scaled="1"/>
                </a:gra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latinLnBrk="0">
                    <a:defRPr/>
                  </a:pPr>
                  <a:endParaRPr lang="ko-KR" altLang="en-US" sz="160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7" name="Oval 217"/>
              <p:cNvSpPr>
                <a:spLocks noChangeArrowheads="1"/>
              </p:cNvSpPr>
              <p:nvPr/>
            </p:nvSpPr>
            <p:spPr bwMode="auto">
              <a:xfrm flipH="1">
                <a:off x="2270" y="2679"/>
                <a:ext cx="1106" cy="315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8" name="Oval 218"/>
              <p:cNvSpPr>
                <a:spLocks noChangeArrowheads="1"/>
              </p:cNvSpPr>
              <p:nvPr/>
            </p:nvSpPr>
            <p:spPr bwMode="auto">
              <a:xfrm flipH="1">
                <a:off x="2270" y="2654"/>
                <a:ext cx="1106" cy="315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9" name="Freeform 219"/>
              <p:cNvSpPr>
                <a:spLocks/>
              </p:cNvSpPr>
              <p:nvPr/>
            </p:nvSpPr>
            <p:spPr bwMode="auto">
              <a:xfrm>
                <a:off x="1827" y="1139"/>
                <a:ext cx="1623" cy="1732"/>
              </a:xfrm>
              <a:custGeom>
                <a:avLst/>
                <a:gdLst/>
                <a:ahLst/>
                <a:cxnLst>
                  <a:cxn ang="0">
                    <a:pos x="1602" y="204"/>
                  </a:cxn>
                  <a:cxn ang="0">
                    <a:pos x="5" y="0"/>
                  </a:cxn>
                  <a:cxn ang="0">
                    <a:pos x="0" y="1488"/>
                  </a:cxn>
                  <a:cxn ang="0">
                    <a:pos x="1597" y="1734"/>
                  </a:cxn>
                  <a:cxn ang="0">
                    <a:pos x="1602" y="204"/>
                  </a:cxn>
                </a:cxnLst>
                <a:rect l="0" t="0" r="r" b="b"/>
                <a:pathLst>
                  <a:path w="1602" h="1734">
                    <a:moveTo>
                      <a:pt x="1602" y="204"/>
                    </a:moveTo>
                    <a:lnTo>
                      <a:pt x="5" y="0"/>
                    </a:lnTo>
                    <a:lnTo>
                      <a:pt x="0" y="1488"/>
                    </a:lnTo>
                    <a:lnTo>
                      <a:pt x="1597" y="1734"/>
                    </a:lnTo>
                    <a:lnTo>
                      <a:pt x="1602" y="2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" name="Freeform 220"/>
              <p:cNvSpPr>
                <a:spLocks/>
              </p:cNvSpPr>
              <p:nvPr/>
            </p:nvSpPr>
            <p:spPr bwMode="auto">
              <a:xfrm>
                <a:off x="1895" y="2543"/>
                <a:ext cx="1334" cy="328"/>
              </a:xfrm>
              <a:custGeom>
                <a:avLst/>
                <a:gdLst/>
                <a:ahLst/>
                <a:cxnLst>
                  <a:cxn ang="0">
                    <a:pos x="1327" y="200"/>
                  </a:cxn>
                  <a:cxn ang="0">
                    <a:pos x="0" y="0"/>
                  </a:cxn>
                  <a:cxn ang="0">
                    <a:pos x="0" y="115"/>
                  </a:cxn>
                  <a:cxn ang="0">
                    <a:pos x="1330" y="330"/>
                  </a:cxn>
                  <a:cxn ang="0">
                    <a:pos x="1327" y="200"/>
                  </a:cxn>
                </a:cxnLst>
                <a:rect l="0" t="0" r="r" b="b"/>
                <a:pathLst>
                  <a:path w="1330" h="330">
                    <a:moveTo>
                      <a:pt x="1327" y="200"/>
                    </a:moveTo>
                    <a:lnTo>
                      <a:pt x="0" y="0"/>
                    </a:lnTo>
                    <a:lnTo>
                      <a:pt x="0" y="115"/>
                    </a:lnTo>
                    <a:lnTo>
                      <a:pt x="1330" y="330"/>
                    </a:lnTo>
                    <a:lnTo>
                      <a:pt x="1327" y="2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" name="Freeform 221"/>
              <p:cNvSpPr>
                <a:spLocks/>
              </p:cNvSpPr>
              <p:nvPr/>
            </p:nvSpPr>
            <p:spPr bwMode="auto">
              <a:xfrm>
                <a:off x="3438" y="1337"/>
                <a:ext cx="55" cy="1534"/>
              </a:xfrm>
              <a:custGeom>
                <a:avLst/>
                <a:gdLst/>
                <a:ahLst/>
                <a:cxnLst>
                  <a:cxn ang="0">
                    <a:pos x="4" y="16"/>
                  </a:cxn>
                  <a:cxn ang="0">
                    <a:pos x="56" y="0"/>
                  </a:cxn>
                  <a:cxn ang="0">
                    <a:pos x="46" y="1513"/>
                  </a:cxn>
                  <a:cxn ang="0">
                    <a:pos x="0" y="1536"/>
                  </a:cxn>
                  <a:cxn ang="0">
                    <a:pos x="4" y="16"/>
                  </a:cxn>
                </a:cxnLst>
                <a:rect l="0" t="0" r="r" b="b"/>
                <a:pathLst>
                  <a:path w="56" h="1536">
                    <a:moveTo>
                      <a:pt x="4" y="16"/>
                    </a:moveTo>
                    <a:lnTo>
                      <a:pt x="56" y="0"/>
                    </a:lnTo>
                    <a:lnTo>
                      <a:pt x="46" y="1513"/>
                    </a:lnTo>
                    <a:lnTo>
                      <a:pt x="0" y="1536"/>
                    </a:lnTo>
                    <a:lnTo>
                      <a:pt x="4" y="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" name="Oval 222"/>
              <p:cNvSpPr>
                <a:spLocks noChangeArrowheads="1"/>
              </p:cNvSpPr>
              <p:nvPr/>
            </p:nvSpPr>
            <p:spPr bwMode="auto">
              <a:xfrm flipH="1">
                <a:off x="1969" y="2568"/>
                <a:ext cx="49" cy="93"/>
              </a:xfrm>
              <a:prstGeom prst="ellipse">
                <a:avLst/>
              </a:prstGeom>
              <a:solidFill>
                <a:srgbClr val="777777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" name="Oval 223"/>
              <p:cNvSpPr>
                <a:spLocks noChangeArrowheads="1"/>
              </p:cNvSpPr>
              <p:nvPr/>
            </p:nvSpPr>
            <p:spPr bwMode="auto">
              <a:xfrm flipH="1">
                <a:off x="2061" y="2592"/>
                <a:ext cx="43" cy="7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" name="Oval 224"/>
              <p:cNvSpPr>
                <a:spLocks noChangeArrowheads="1"/>
              </p:cNvSpPr>
              <p:nvPr/>
            </p:nvSpPr>
            <p:spPr bwMode="auto">
              <a:xfrm flipH="1">
                <a:off x="2356" y="266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Oval 225"/>
              <p:cNvSpPr>
                <a:spLocks noChangeArrowheads="1"/>
              </p:cNvSpPr>
              <p:nvPr/>
            </p:nvSpPr>
            <p:spPr bwMode="auto">
              <a:xfrm flipH="1">
                <a:off x="2454" y="2679"/>
                <a:ext cx="49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" name="Oval 226"/>
              <p:cNvSpPr>
                <a:spLocks noChangeArrowheads="1"/>
              </p:cNvSpPr>
              <p:nvPr/>
            </p:nvSpPr>
            <p:spPr bwMode="auto">
              <a:xfrm flipH="1">
                <a:off x="2553" y="269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" name="Freeform 227"/>
              <p:cNvSpPr>
                <a:spLocks/>
              </p:cNvSpPr>
              <p:nvPr/>
            </p:nvSpPr>
            <p:spPr bwMode="auto">
              <a:xfrm>
                <a:off x="1952" y="1310"/>
                <a:ext cx="1342" cy="1363"/>
              </a:xfrm>
              <a:custGeom>
                <a:avLst/>
                <a:gdLst>
                  <a:gd name="T0" fmla="*/ 1312 w 1345"/>
                  <a:gd name="T1" fmla="*/ 167 h 1366"/>
                  <a:gd name="T2" fmla="*/ 0 w 1345"/>
                  <a:gd name="T3" fmla="*/ 0 h 1366"/>
                  <a:gd name="T4" fmla="*/ 0 w 1345"/>
                  <a:gd name="T5" fmla="*/ 1139 h 1366"/>
                  <a:gd name="T6" fmla="*/ 1327 w 1345"/>
                  <a:gd name="T7" fmla="*/ 1348 h 1366"/>
                  <a:gd name="T8" fmla="*/ 1312 w 1345"/>
                  <a:gd name="T9" fmla="*/ 167 h 13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5"/>
                  <a:gd name="T16" fmla="*/ 0 h 1366"/>
                  <a:gd name="T17" fmla="*/ 1345 w 1345"/>
                  <a:gd name="T18" fmla="*/ 1366 h 13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5" h="1366">
                    <a:moveTo>
                      <a:pt x="1330" y="167"/>
                    </a:moveTo>
                    <a:lnTo>
                      <a:pt x="0" y="0"/>
                    </a:lnTo>
                    <a:lnTo>
                      <a:pt x="0" y="1157"/>
                    </a:lnTo>
                    <a:lnTo>
                      <a:pt x="1345" y="1366"/>
                    </a:lnTo>
                    <a:lnTo>
                      <a:pt x="1330" y="16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100000">
                    <a:srgbClr val="4D4D4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latinLnBrk="0"/>
                <a:endParaRPr lang="ko-KR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Freeform 228"/>
              <p:cNvSpPr>
                <a:spLocks/>
              </p:cNvSpPr>
              <p:nvPr/>
            </p:nvSpPr>
            <p:spPr bwMode="auto">
              <a:xfrm>
                <a:off x="1833" y="1133"/>
                <a:ext cx="1660" cy="21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68" y="0"/>
                  </a:cxn>
                  <a:cxn ang="0">
                    <a:pos x="1660" y="199"/>
                  </a:cxn>
                  <a:cxn ang="0">
                    <a:pos x="1613" y="214"/>
                  </a:cxn>
                  <a:cxn ang="0">
                    <a:pos x="0" y="10"/>
                  </a:cxn>
                </a:cxnLst>
                <a:rect l="0" t="0" r="r" b="b"/>
                <a:pathLst>
                  <a:path w="1660" h="214">
                    <a:moveTo>
                      <a:pt x="0" y="10"/>
                    </a:moveTo>
                    <a:lnTo>
                      <a:pt x="68" y="0"/>
                    </a:lnTo>
                    <a:lnTo>
                      <a:pt x="1660" y="199"/>
                    </a:lnTo>
                    <a:lnTo>
                      <a:pt x="1613" y="214"/>
                    </a:lnTo>
                    <a:lnTo>
                      <a:pt x="0" y="10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latinLnBrk="0"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178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20622" y="2590847"/>
            <a:ext cx="465665" cy="746068"/>
          </a:xfrm>
          <a:prstGeom prst="rect">
            <a:avLst/>
          </a:prstGeom>
          <a:noFill/>
        </p:spPr>
      </p:pic>
      <p:grpSp>
        <p:nvGrpSpPr>
          <p:cNvPr id="179" name="그룹 178"/>
          <p:cNvGrpSpPr/>
          <p:nvPr/>
        </p:nvGrpSpPr>
        <p:grpSpPr>
          <a:xfrm>
            <a:off x="2289296" y="2874083"/>
            <a:ext cx="594318" cy="301505"/>
            <a:chOff x="1993293" y="2564030"/>
            <a:chExt cx="807572" cy="288942"/>
          </a:xfrm>
        </p:grpSpPr>
        <p:sp>
          <p:nvSpPr>
            <p:cNvPr id="180" name="AutoShape 26"/>
            <p:cNvSpPr>
              <a:spLocks noChangeArrowheads="1"/>
            </p:cNvSpPr>
            <p:nvPr/>
          </p:nvSpPr>
          <p:spPr bwMode="auto">
            <a:xfrm>
              <a:off x="1993293" y="2564030"/>
              <a:ext cx="807572" cy="288942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009917" y="2728044"/>
              <a:ext cx="584994" cy="1249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3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</a:t>
              </a:r>
              <a:endParaRPr lang="ko-KR" altLang="en-US" sz="3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2" name="TextBox 181"/>
          <p:cNvSpPr txBox="1"/>
          <p:nvPr/>
        </p:nvSpPr>
        <p:spPr>
          <a:xfrm>
            <a:off x="939859" y="3388545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192.168.1.10/24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9072999" y="3338585"/>
            <a:ext cx="10855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192.168.2.20:443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4" name="Group 19"/>
          <p:cNvGrpSpPr>
            <a:grpSpLocks/>
          </p:cNvGrpSpPr>
          <p:nvPr/>
        </p:nvGrpSpPr>
        <p:grpSpPr bwMode="auto">
          <a:xfrm>
            <a:off x="3509532" y="2904761"/>
            <a:ext cx="720590" cy="276802"/>
            <a:chOff x="3682" y="2312"/>
            <a:chExt cx="786" cy="497"/>
          </a:xfrm>
        </p:grpSpPr>
        <p:sp>
          <p:nvSpPr>
            <p:cNvPr id="185" name="AutoShape 20"/>
            <p:cNvSpPr>
              <a:spLocks noChangeArrowheads="1"/>
            </p:cNvSpPr>
            <p:nvPr/>
          </p:nvSpPr>
          <p:spPr bwMode="auto">
            <a:xfrm>
              <a:off x="3683" y="2317"/>
              <a:ext cx="785" cy="49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6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3719" y="2513"/>
              <a:ext cx="717" cy="24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7" name="Oval 22"/>
            <p:cNvSpPr>
              <a:spLocks noChangeArrowheads="1"/>
            </p:cNvSpPr>
            <p:nvPr/>
          </p:nvSpPr>
          <p:spPr bwMode="auto">
            <a:xfrm>
              <a:off x="3682" y="2312"/>
              <a:ext cx="786" cy="24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8" name="AutoShape 23"/>
            <p:cNvSpPr>
              <a:spLocks noChangeArrowheads="1"/>
            </p:cNvSpPr>
            <p:nvPr/>
          </p:nvSpPr>
          <p:spPr bwMode="auto">
            <a:xfrm rot="5400000">
              <a:off x="4082" y="2198"/>
              <a:ext cx="115" cy="485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9" name="AutoShape 24"/>
            <p:cNvSpPr>
              <a:spLocks noChangeArrowheads="1"/>
            </p:cNvSpPr>
            <p:nvPr/>
          </p:nvSpPr>
          <p:spPr bwMode="auto">
            <a:xfrm rot="-5400000">
              <a:off x="3973" y="2157"/>
              <a:ext cx="113" cy="495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90" name="Group 19"/>
          <p:cNvGrpSpPr>
            <a:grpSpLocks/>
          </p:cNvGrpSpPr>
          <p:nvPr/>
        </p:nvGrpSpPr>
        <p:grpSpPr bwMode="auto">
          <a:xfrm>
            <a:off x="6929185" y="2896397"/>
            <a:ext cx="720590" cy="276802"/>
            <a:chOff x="3682" y="2312"/>
            <a:chExt cx="786" cy="497"/>
          </a:xfrm>
        </p:grpSpPr>
        <p:sp>
          <p:nvSpPr>
            <p:cNvPr id="191" name="AutoShape 20"/>
            <p:cNvSpPr>
              <a:spLocks noChangeArrowheads="1"/>
            </p:cNvSpPr>
            <p:nvPr/>
          </p:nvSpPr>
          <p:spPr bwMode="auto">
            <a:xfrm>
              <a:off x="3683" y="2317"/>
              <a:ext cx="785" cy="49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2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3719" y="2513"/>
              <a:ext cx="717" cy="24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3" name="Oval 22"/>
            <p:cNvSpPr>
              <a:spLocks noChangeArrowheads="1"/>
            </p:cNvSpPr>
            <p:nvPr/>
          </p:nvSpPr>
          <p:spPr bwMode="auto">
            <a:xfrm>
              <a:off x="3682" y="2312"/>
              <a:ext cx="786" cy="24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" name="AutoShape 23"/>
            <p:cNvSpPr>
              <a:spLocks noChangeArrowheads="1"/>
            </p:cNvSpPr>
            <p:nvPr/>
          </p:nvSpPr>
          <p:spPr bwMode="auto">
            <a:xfrm rot="5400000">
              <a:off x="4082" y="2198"/>
              <a:ext cx="115" cy="485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" name="AutoShape 24"/>
            <p:cNvSpPr>
              <a:spLocks noChangeArrowheads="1"/>
            </p:cNvSpPr>
            <p:nvPr/>
          </p:nvSpPr>
          <p:spPr bwMode="auto">
            <a:xfrm rot="-5400000">
              <a:off x="3973" y="2157"/>
              <a:ext cx="113" cy="495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98" name="그룹 197"/>
          <p:cNvGrpSpPr/>
          <p:nvPr/>
        </p:nvGrpSpPr>
        <p:grpSpPr>
          <a:xfrm>
            <a:off x="8205976" y="2881090"/>
            <a:ext cx="594318" cy="301505"/>
            <a:chOff x="1993293" y="2564030"/>
            <a:chExt cx="807572" cy="288942"/>
          </a:xfrm>
        </p:grpSpPr>
        <p:sp>
          <p:nvSpPr>
            <p:cNvPr id="199" name="AutoShape 26"/>
            <p:cNvSpPr>
              <a:spLocks noChangeArrowheads="1"/>
            </p:cNvSpPr>
            <p:nvPr/>
          </p:nvSpPr>
          <p:spPr bwMode="auto">
            <a:xfrm>
              <a:off x="1993293" y="2564030"/>
              <a:ext cx="807572" cy="288942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0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009917" y="2728044"/>
              <a:ext cx="584994" cy="1249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3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</a:t>
              </a:r>
              <a:endParaRPr lang="ko-KR" altLang="en-US" sz="3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3" name="TextBox 202"/>
          <p:cNvSpPr txBox="1"/>
          <p:nvPr/>
        </p:nvSpPr>
        <p:spPr>
          <a:xfrm>
            <a:off x="7657112" y="2562504"/>
            <a:ext cx="1510350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  → 192.168.2.20 : 443</a:t>
            </a:r>
            <a:endParaRPr lang="ko-KR" altLang="en-US" sz="1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7618056" y="2285822"/>
            <a:ext cx="17027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 Table(Port Mapping)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2093639" y="2463683"/>
            <a:ext cx="1659429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 → 11.11.11.11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2521874" y="2177288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 Table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9" name="표 2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672796"/>
              </p:ext>
            </p:extLst>
          </p:nvPr>
        </p:nvGraphicFramePr>
        <p:xfrm>
          <a:off x="2671074" y="3559800"/>
          <a:ext cx="2624862" cy="24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4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35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629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365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310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22.22.22.22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11.11.11.11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10" name="TextBox 209"/>
          <p:cNvSpPr txBox="1"/>
          <p:nvPr/>
        </p:nvSpPr>
        <p:spPr>
          <a:xfrm>
            <a:off x="2586933" y="3863348"/>
            <a:ext cx="23455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</a:t>
            </a:r>
            <a:r>
              <a:rPr lang="ko-KR" altLang="en-US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            </a:t>
            </a:r>
            <a:r>
              <a:rPr lang="ko-KR" altLang="en-US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             </a:t>
            </a:r>
            <a:r>
              <a:rPr lang="ko-KR" altLang="en-US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</a:t>
            </a:r>
            <a:endParaRPr lang="ko-KR" altLang="en-US" sz="1000" dirty="0">
              <a:latin typeface="Times New Roman" panose="02020603050405020304" pitchFamily="18" charset="0"/>
              <a:ea typeface="함초롬바탕" panose="02030504000101010101"/>
              <a:cs typeface="Times New Roman" panose="02020603050405020304" pitchFamily="18" charset="0"/>
            </a:endParaRPr>
          </a:p>
        </p:txBody>
      </p:sp>
      <p:graphicFrame>
        <p:nvGraphicFramePr>
          <p:cNvPr id="211" name="표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960390"/>
              </p:ext>
            </p:extLst>
          </p:nvPr>
        </p:nvGraphicFramePr>
        <p:xfrm>
          <a:off x="7332307" y="3604704"/>
          <a:ext cx="2748169" cy="24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63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6061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174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937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310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443</a:t>
                      </a:r>
                      <a:endParaRPr lang="ko-KR" altLang="en-US" sz="1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192.168.2.20</a:t>
                      </a:r>
                      <a:endParaRPr lang="ko-KR" altLang="en-US" sz="1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11.11.11.11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12" name="TextBox 211"/>
          <p:cNvSpPr txBox="1"/>
          <p:nvPr/>
        </p:nvSpPr>
        <p:spPr>
          <a:xfrm>
            <a:off x="7307893" y="3876240"/>
            <a:ext cx="2505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 </a:t>
            </a:r>
            <a:r>
              <a:rPr lang="ko-KR" altLang="en-US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         </a:t>
            </a:r>
            <a:r>
              <a:rPr lang="ko-KR" altLang="en-US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                    </a:t>
            </a:r>
            <a:r>
              <a:rPr lang="ko-KR" altLang="en-US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0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</a:t>
            </a:r>
            <a:endParaRPr lang="ko-KR" altLang="en-US" sz="1000" dirty="0">
              <a:latin typeface="Times New Roman" panose="02020603050405020304" pitchFamily="18" charset="0"/>
              <a:ea typeface="함초롬바탕" panose="02030504000101010101"/>
              <a:cs typeface="Times New Roman" panose="02020603050405020304" pitchFamily="18" charset="0"/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725092" y="381044"/>
            <a:ext cx="56478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 Port Mapping (</a:t>
            </a:r>
            <a:r>
              <a:rPr lang="en-US" altLang="ko-KR" sz="2800" dirty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Forwarding)</a:t>
            </a:r>
            <a:endParaRPr lang="en-US" altLang="ko-KR" sz="2800" dirty="0">
              <a:latin typeface="Times New Roman" panose="02020603050405020304" pitchFamily="18" charset="0"/>
              <a:ea typeface="함초롬바탕" panose="02030504000101010101"/>
              <a:cs typeface="Times New Roman" panose="02020603050405020304" pitchFamily="18" charset="0"/>
            </a:endParaRPr>
          </a:p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212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205198"/>
            <a:ext cx="9398000" cy="879475"/>
          </a:xfrm>
        </p:spPr>
        <p:txBody>
          <a:bodyPr>
            <a:norm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Docker0 Bridge Network </a:t>
            </a:r>
            <a:endParaRPr lang="ko-KR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734" y="1431749"/>
            <a:ext cx="5653472" cy="3920067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 flipH="1">
            <a:off x="2515579" y="3322914"/>
            <a:ext cx="10034" cy="1359671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85725" y="4885539"/>
            <a:ext cx="1738884" cy="164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자유형 7"/>
          <p:cNvSpPr/>
          <p:nvPr/>
        </p:nvSpPr>
        <p:spPr>
          <a:xfrm>
            <a:off x="1652638" y="2302933"/>
            <a:ext cx="1617133" cy="804334"/>
          </a:xfrm>
          <a:custGeom>
            <a:avLst/>
            <a:gdLst>
              <a:gd name="connsiteX0" fmla="*/ 0 w 1617133"/>
              <a:gd name="connsiteY0" fmla="*/ 50800 h 804334"/>
              <a:gd name="connsiteX1" fmla="*/ 0 w 1617133"/>
              <a:gd name="connsiteY1" fmla="*/ 795867 h 804334"/>
              <a:gd name="connsiteX2" fmla="*/ 1608667 w 1617133"/>
              <a:gd name="connsiteY2" fmla="*/ 804334 h 804334"/>
              <a:gd name="connsiteX3" fmla="*/ 1617133 w 1617133"/>
              <a:gd name="connsiteY3" fmla="*/ 0 h 80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7133" h="804334">
                <a:moveTo>
                  <a:pt x="0" y="50800"/>
                </a:moveTo>
                <a:lnTo>
                  <a:pt x="0" y="795867"/>
                </a:lnTo>
                <a:lnTo>
                  <a:pt x="1608667" y="804334"/>
                </a:lnTo>
                <a:lnTo>
                  <a:pt x="1617133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544720" y="3714742"/>
            <a:ext cx="2069003" cy="4898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4019" y="3781728"/>
            <a:ext cx="1350864" cy="355881"/>
          </a:xfrm>
          <a:prstGeom prst="rect">
            <a:avLst/>
          </a:prstGeom>
          <a:ln>
            <a:noFill/>
          </a:ln>
        </p:spPr>
      </p:pic>
      <p:sp>
        <p:nvSpPr>
          <p:cNvPr id="11" name="정육면체 10"/>
          <p:cNvSpPr/>
          <p:nvPr/>
        </p:nvSpPr>
        <p:spPr>
          <a:xfrm flipH="1">
            <a:off x="1071028" y="1361677"/>
            <a:ext cx="827144" cy="848124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4600" y="2161134"/>
            <a:ext cx="340892" cy="270708"/>
          </a:xfrm>
          <a:prstGeom prst="rect">
            <a:avLst/>
          </a:prstGeom>
        </p:spPr>
      </p:pic>
      <p:sp>
        <p:nvSpPr>
          <p:cNvPr id="13" name="정육면체 12"/>
          <p:cNvSpPr/>
          <p:nvPr/>
        </p:nvSpPr>
        <p:spPr>
          <a:xfrm>
            <a:off x="3011538" y="1425145"/>
            <a:ext cx="723965" cy="784656"/>
          </a:xfrm>
          <a:prstGeom prst="cub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0200" y="2161134"/>
            <a:ext cx="340892" cy="270708"/>
          </a:xfrm>
          <a:prstGeom prst="rect">
            <a:avLst/>
          </a:prstGeom>
        </p:spPr>
      </p:pic>
      <p:grpSp>
        <p:nvGrpSpPr>
          <p:cNvPr id="15" name="그룹 14"/>
          <p:cNvGrpSpPr/>
          <p:nvPr/>
        </p:nvGrpSpPr>
        <p:grpSpPr>
          <a:xfrm>
            <a:off x="2003769" y="2877494"/>
            <a:ext cx="956696" cy="421883"/>
            <a:chOff x="626571" y="2964783"/>
            <a:chExt cx="1546916" cy="784593"/>
          </a:xfrm>
        </p:grpSpPr>
        <p:sp>
          <p:nvSpPr>
            <p:cNvPr id="18" name="AutoShape 26"/>
            <p:cNvSpPr>
              <a:spLocks noChangeArrowheads="1"/>
            </p:cNvSpPr>
            <p:nvPr/>
          </p:nvSpPr>
          <p:spPr bwMode="auto">
            <a:xfrm>
              <a:off x="626571" y="2964783"/>
              <a:ext cx="1546916" cy="784593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9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675836" y="3454316"/>
              <a:ext cx="1037846" cy="2766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Docker0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126711" y="2832754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  <a:endParaRPr lang="ko-KR" altLang="en-US" sz="14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5167" y="4659048"/>
            <a:ext cx="340892" cy="2707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25613" y="4790173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192.168.10.55/24</a:t>
            </a:r>
            <a:endParaRPr lang="ko-KR" altLang="en-US" sz="1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01494" y="3315623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172.17.0.1/16</a:t>
            </a:r>
            <a:endParaRPr lang="ko-KR" altLang="en-US" sz="1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246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xmlns:lc="http://schemas.openxmlformats.org/drawingml/2006/lockedCanvas" xmlns="" id="{E3ABE40A-3BA1-FEC3-8137-13D2FD0FE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12" y="1663653"/>
            <a:ext cx="6563088" cy="123184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:lc="http://schemas.openxmlformats.org/drawingml/2006/lockedCanvas" xmlns="" id="{967D92F0-E259-2F46-23A7-98C6175E1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30" y="3635393"/>
            <a:ext cx="9340155" cy="83889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xmlns:lc="http://schemas.openxmlformats.org/drawingml/2006/lockedCanvas" xmlns="" id="{620B0E4B-A96D-DF97-38BD-A33AB7306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12" y="5084271"/>
            <a:ext cx="7449231" cy="130225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98112" y="354680"/>
            <a:ext cx="29754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brctl</a:t>
            </a:r>
            <a:r>
              <a:rPr lang="en-US" altLang="ko-KR" sz="2800" b="1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800" b="1" i="0" smtClean="0">
                <a:solidFill>
                  <a:srgbClr val="000000"/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설치와</a:t>
            </a:r>
            <a:r>
              <a:rPr lang="en-US" altLang="ko-KR" sz="2800" b="1" i="0" dirty="0" smtClean="0">
                <a:solidFill>
                  <a:srgbClr val="000000"/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800" b="1" i="0" smtClean="0">
                <a:solidFill>
                  <a:srgbClr val="000000"/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확인 </a:t>
            </a:r>
            <a:endParaRPr lang="ko-KR" altLang="en-US" sz="28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473542" y="474668"/>
            <a:ext cx="3094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en-US" altLang="ko-KR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brctl</a:t>
            </a:r>
            <a:r>
              <a:rPr lang="en-US" altLang="ko-KR" sz="16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sz="1600" b="0" i="0" smtClean="0">
                <a:solidFill>
                  <a:srgbClr val="000000"/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이더넷 </a:t>
            </a:r>
            <a:r>
              <a:rPr lang="ko-KR" altLang="en-US" sz="1600" b="0" i="0" dirty="0" smtClean="0">
                <a:solidFill>
                  <a:srgbClr val="000000"/>
                </a:solidFill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브리지 관리 도구</a:t>
            </a:r>
            <a:endParaRPr lang="ko-KR" altLang="en-US" sz="1600" b="0" i="0" dirty="0">
              <a:solidFill>
                <a:srgbClr val="000000"/>
              </a:solidFill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98112" y="1231993"/>
            <a:ext cx="2672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#apt install –y bridge-</a:t>
            </a:r>
            <a:r>
              <a:rPr lang="en-US" altLang="ko-KR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utils</a:t>
            </a:r>
            <a:endParaRPr lang="ko-KR" alt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98112" y="4714939"/>
            <a:ext cx="13837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#</a:t>
            </a:r>
            <a:r>
              <a:rPr lang="en-US" altLang="ko-KR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brctl</a:t>
            </a:r>
            <a:r>
              <a:rPr lang="en-US" altLang="ko-KR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show </a:t>
            </a:r>
            <a:endParaRPr lang="ko-KR" alt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9149636" y="5290494"/>
            <a:ext cx="1586098" cy="610773"/>
            <a:chOff x="626571" y="2964783"/>
            <a:chExt cx="1546916" cy="784593"/>
          </a:xfrm>
        </p:grpSpPr>
        <p:sp>
          <p:nvSpPr>
            <p:cNvPr id="10" name="AutoShape 26"/>
            <p:cNvSpPr>
              <a:spLocks noChangeArrowheads="1"/>
            </p:cNvSpPr>
            <p:nvPr/>
          </p:nvSpPr>
          <p:spPr bwMode="auto">
            <a:xfrm>
              <a:off x="626571" y="2964783"/>
              <a:ext cx="1546916" cy="784593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1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675836" y="3454316"/>
              <a:ext cx="1037846" cy="2766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Docker0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9458448" y="5280936"/>
            <a:ext cx="1167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  <a:endParaRPr lang="ko-KR" altLang="en-US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45328" y="5970028"/>
            <a:ext cx="2813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Bridge ID :8000.024245922233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74312" y="3086852"/>
            <a:ext cx="2763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#</a:t>
            </a:r>
            <a:r>
              <a:rPr lang="en-US" altLang="ko-KR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dpkb</a:t>
            </a:r>
            <a:r>
              <a:rPr lang="en-US" altLang="ko-KR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-1 | </a:t>
            </a:r>
            <a:r>
              <a:rPr lang="en-US" altLang="ko-KR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grep</a:t>
            </a:r>
            <a:r>
              <a:rPr lang="en-US" altLang="ko-KR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bridge-</a:t>
            </a:r>
            <a:r>
              <a:rPr lang="en-US" altLang="ko-KR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utils</a:t>
            </a:r>
            <a:endParaRPr lang="ko-KR" alt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5" name="슬라이드 번호 개체 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72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228" y="2293506"/>
            <a:ext cx="5544265" cy="3077633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879112" y="329280"/>
            <a:ext cx="17443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Alias</a:t>
            </a:r>
            <a:r>
              <a:rPr lang="en-US" altLang="ko-KR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등록</a:t>
            </a:r>
            <a:endParaRPr lang="ko-KR" altLang="en-US" sz="28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156228" y="1092839"/>
            <a:ext cx="467948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#alias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drm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=‘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rm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–f $(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ps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–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aq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)’</a:t>
            </a:r>
          </a:p>
          <a:p>
            <a:pPr>
              <a:lnSpc>
                <a:spcPct val="150000"/>
              </a:lnSpc>
            </a:pPr>
            <a:r>
              <a:rPr lang="en-US" altLang="ko-KR" sz="20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#alias</a:t>
            </a:r>
            <a:endParaRPr lang="ko-KR" alt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854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555690" y="6475649"/>
            <a:ext cx="2057400" cy="365125"/>
          </a:xfrm>
        </p:spPr>
        <p:txBody>
          <a:bodyPr/>
          <a:lstStyle/>
          <a:p>
            <a:fld id="{513F1703-E928-487B-BA31-EC60EAD58ED8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011" y="1112528"/>
            <a:ext cx="6428284" cy="2473434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011" y="4639638"/>
            <a:ext cx="6470264" cy="1428598"/>
          </a:xfrm>
          <a:prstGeom prst="rect">
            <a:avLst/>
          </a:prstGeom>
        </p:spPr>
      </p:pic>
      <p:sp>
        <p:nvSpPr>
          <p:cNvPr id="55" name="직사각형 54"/>
          <p:cNvSpPr/>
          <p:nvPr/>
        </p:nvSpPr>
        <p:spPr>
          <a:xfrm>
            <a:off x="4746094" y="138012"/>
            <a:ext cx="3706464" cy="960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run -name B1 -it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busybox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ifconfig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817011" y="3655053"/>
            <a:ext cx="370646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run -name B2 -it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busybox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ifconfig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454269" y="1303791"/>
            <a:ext cx="3636868" cy="5171858"/>
            <a:chOff x="454269" y="1303791"/>
            <a:chExt cx="3636868" cy="5171858"/>
          </a:xfrm>
        </p:grpSpPr>
        <p:grpSp>
          <p:nvGrpSpPr>
            <p:cNvPr id="32" name="그룹 31"/>
            <p:cNvGrpSpPr/>
            <p:nvPr/>
          </p:nvGrpSpPr>
          <p:grpSpPr>
            <a:xfrm>
              <a:off x="901695" y="1303791"/>
              <a:ext cx="2664475" cy="5171858"/>
              <a:chOff x="867828" y="1006077"/>
              <a:chExt cx="2664475" cy="5171858"/>
            </a:xfrm>
          </p:grpSpPr>
          <p:cxnSp>
            <p:nvCxnSpPr>
              <p:cNvPr id="31" name="직선 연결선 30"/>
              <p:cNvCxnSpPr/>
              <p:nvPr/>
            </p:nvCxnSpPr>
            <p:spPr>
              <a:xfrm flipH="1">
                <a:off x="2312379" y="2967314"/>
                <a:ext cx="10034" cy="1359671"/>
              </a:xfrm>
              <a:prstGeom prst="line">
                <a:avLst/>
              </a:prstGeom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" name="Picture 2" descr="C:\Users\Toshiba\AppData\Local\Microsoft\Windows\Temporary Internet Files\Content.IE5\TBE21NJN\MC900434845[1]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282525" y="4529939"/>
                <a:ext cx="1738884" cy="16479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자유형 14"/>
              <p:cNvSpPr/>
              <p:nvPr/>
            </p:nvSpPr>
            <p:spPr>
              <a:xfrm>
                <a:off x="1449438" y="1947333"/>
                <a:ext cx="1617133" cy="804334"/>
              </a:xfrm>
              <a:custGeom>
                <a:avLst/>
                <a:gdLst>
                  <a:gd name="connsiteX0" fmla="*/ 0 w 1617133"/>
                  <a:gd name="connsiteY0" fmla="*/ 50800 h 804334"/>
                  <a:gd name="connsiteX1" fmla="*/ 0 w 1617133"/>
                  <a:gd name="connsiteY1" fmla="*/ 795867 h 804334"/>
                  <a:gd name="connsiteX2" fmla="*/ 1608667 w 1617133"/>
                  <a:gd name="connsiteY2" fmla="*/ 804334 h 804334"/>
                  <a:gd name="connsiteX3" fmla="*/ 1617133 w 1617133"/>
                  <a:gd name="connsiteY3" fmla="*/ 0 h 804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17133" h="804334">
                    <a:moveTo>
                      <a:pt x="0" y="50800"/>
                    </a:moveTo>
                    <a:lnTo>
                      <a:pt x="0" y="795867"/>
                    </a:lnTo>
                    <a:lnTo>
                      <a:pt x="1608667" y="804334"/>
                    </a:lnTo>
                    <a:lnTo>
                      <a:pt x="1617133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/>
              <p:cNvSpPr/>
              <p:nvPr/>
            </p:nvSpPr>
            <p:spPr>
              <a:xfrm>
                <a:off x="1341520" y="3359142"/>
                <a:ext cx="2069003" cy="4898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4" name="그림 1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60819" y="3426128"/>
                <a:ext cx="1350864" cy="355881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35" name="정육면체 34"/>
              <p:cNvSpPr/>
              <p:nvPr/>
            </p:nvSpPr>
            <p:spPr>
              <a:xfrm flipH="1">
                <a:off x="867828" y="1006077"/>
                <a:ext cx="827144" cy="848124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B1</a:t>
                </a:r>
                <a:endParaRPr lang="ko-KR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36" name="그림 35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1400" y="1805534"/>
                <a:ext cx="340892" cy="270708"/>
              </a:xfrm>
              <a:prstGeom prst="rect">
                <a:avLst/>
              </a:prstGeom>
            </p:spPr>
          </p:pic>
          <p:sp>
            <p:nvSpPr>
              <p:cNvPr id="38" name="정육면체 37"/>
              <p:cNvSpPr/>
              <p:nvPr/>
            </p:nvSpPr>
            <p:spPr>
              <a:xfrm>
                <a:off x="2808338" y="1069545"/>
                <a:ext cx="723965" cy="784656"/>
              </a:xfrm>
              <a:prstGeom prst="cube">
                <a:avLst/>
              </a:prstGeom>
              <a:solidFill>
                <a:schemeClr val="accent5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 smtClean="0">
                    <a:latin typeface="함초롬바탕" panose="02030504000101010101" pitchFamily="18" charset="-127"/>
                    <a:ea typeface="함초롬바탕" panose="02030504000101010101" pitchFamily="18" charset="-127"/>
                    <a:cs typeface="함초롬바탕" panose="02030504000101010101" pitchFamily="18" charset="-127"/>
                  </a:rPr>
                  <a:t>B2</a:t>
                </a:r>
                <a:endParaRPr lang="ko-KR" altLang="en-US" b="1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endParaRPr>
              </a:p>
            </p:txBody>
          </p:sp>
          <p:pic>
            <p:nvPicPr>
              <p:cNvPr id="40" name="그림 3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07000" y="1805534"/>
                <a:ext cx="340892" cy="270708"/>
              </a:xfrm>
              <a:prstGeom prst="rect">
                <a:avLst/>
              </a:prstGeom>
            </p:spPr>
          </p:pic>
          <p:grpSp>
            <p:nvGrpSpPr>
              <p:cNvPr id="3" name="그룹 2"/>
              <p:cNvGrpSpPr/>
              <p:nvPr/>
            </p:nvGrpSpPr>
            <p:grpSpPr>
              <a:xfrm>
                <a:off x="1800569" y="2521894"/>
                <a:ext cx="956696" cy="421883"/>
                <a:chOff x="626571" y="2964783"/>
                <a:chExt cx="1546916" cy="784593"/>
              </a:xfrm>
            </p:grpSpPr>
            <p:sp>
              <p:nvSpPr>
                <p:cNvPr id="41" name="AutoShape 26"/>
                <p:cNvSpPr>
                  <a:spLocks noChangeArrowheads="1"/>
                </p:cNvSpPr>
                <p:nvPr/>
              </p:nvSpPr>
              <p:spPr bwMode="auto">
                <a:xfrm>
                  <a:off x="626571" y="2964783"/>
                  <a:ext cx="1546916" cy="784593"/>
                </a:xfrm>
                <a:prstGeom prst="cube">
                  <a:avLst>
                    <a:gd name="adj" fmla="val 55426"/>
                  </a:avLst>
                </a:prstGeom>
                <a:gradFill rotWithShape="1">
                  <a:gsLst>
                    <a:gs pos="0">
                      <a:srgbClr val="EAEAEA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rgbClr val="777777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lang="ko-KR" altLang="en-US" sz="1600" b="0" kern="0" dirty="0">
                    <a:solidFill>
                      <a:sysClr val="windowText" lastClr="000000"/>
                    </a:solidFill>
                    <a:latin typeface="Times New Roman" pitchFamily="18" charset="0"/>
                    <a:ea typeface="+mn-ea"/>
                    <a:cs typeface="Times New Roman" pitchFamily="18" charset="0"/>
                  </a:endParaRPr>
                </a:p>
              </p:txBody>
            </p:sp>
            <p:sp>
              <p:nvSpPr>
                <p:cNvPr id="43" name="WordArt 2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675836" y="3454316"/>
                  <a:ext cx="1037846" cy="27661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>
                    <a:buNone/>
                  </a:pPr>
                  <a:r>
                    <a:rPr lang="en-US" altLang="ko-KR" sz="1600" kern="10" dirty="0" smtClean="0">
                      <a:ln w="9525">
                        <a:solidFill>
                          <a:srgbClr val="808080"/>
                        </a:solidFill>
                        <a:round/>
                        <a:headEnd/>
                        <a:tailEnd/>
                      </a:ln>
                      <a:solidFill>
                        <a:srgbClr val="808080"/>
                      </a:solidFill>
                      <a:latin typeface="Times New Roman" pitchFamily="18" charset="0"/>
                      <a:cs typeface="Times New Roman" pitchFamily="18" charset="0"/>
                    </a:rPr>
                    <a:t>Docker0</a:t>
                  </a:r>
                  <a:endParaRPr lang="ko-KR" altLang="en-US" sz="1600" kern="10" dirty="0">
                    <a:ln w="9525">
                      <a:solidFill>
                        <a:srgbClr val="808080"/>
                      </a:solidFill>
                      <a:round/>
                      <a:headEnd/>
                      <a:tailEnd/>
                    </a:ln>
                    <a:solidFill>
                      <a:srgbClr val="80808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3" name="TextBox 22"/>
              <p:cNvSpPr txBox="1"/>
              <p:nvPr/>
            </p:nvSpPr>
            <p:spPr>
              <a:xfrm>
                <a:off x="1923511" y="2477154"/>
                <a:ext cx="7040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 smtClean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Bridge</a:t>
                </a:r>
                <a:endParaRPr lang="ko-KR" altLang="en-US" sz="1400" b="1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48" name="그림 4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51967" y="4303448"/>
                <a:ext cx="340892" cy="270708"/>
              </a:xfrm>
              <a:prstGeom prst="rect">
                <a:avLst/>
              </a:prstGeom>
            </p:spPr>
          </p:pic>
        </p:grpSp>
        <p:sp>
          <p:nvSpPr>
            <p:cNvPr id="57" name="TextBox 56"/>
            <p:cNvSpPr txBox="1"/>
            <p:nvPr/>
          </p:nvSpPr>
          <p:spPr>
            <a:xfrm>
              <a:off x="2346246" y="3235814"/>
              <a:ext cx="10358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172.17.0.1/16</a:t>
              </a:r>
              <a:endParaRPr lang="ko-KR" altLang="en-US" sz="1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54269" y="2373956"/>
              <a:ext cx="10358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172.17.0.2/16</a:t>
              </a:r>
              <a:endParaRPr lang="ko-KR" altLang="en-US" sz="1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055276" y="2422388"/>
              <a:ext cx="10358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172.17.0.3/16</a:t>
              </a:r>
              <a:endParaRPr lang="ko-KR" altLang="en-US" sz="1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366407" y="238764"/>
            <a:ext cx="1518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1. </a:t>
            </a:r>
            <a:endParaRPr lang="ko-KR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985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883044" y="6396991"/>
            <a:ext cx="2057400" cy="365125"/>
          </a:xfrm>
        </p:spPr>
        <p:txBody>
          <a:bodyPr/>
          <a:lstStyle/>
          <a:p>
            <a:fld id="{513F1703-E928-487B-BA31-EC60EAD58ED8}" type="slidenum">
              <a:rPr lang="ko-KR" altLang="en-US" smtClean="0"/>
              <a:t>12</a:t>
            </a:fld>
            <a:endParaRPr lang="ko-KR" altLang="en-US"/>
          </a:p>
        </p:txBody>
      </p:sp>
      <p:grpSp>
        <p:nvGrpSpPr>
          <p:cNvPr id="32" name="그룹 31"/>
          <p:cNvGrpSpPr/>
          <p:nvPr/>
        </p:nvGrpSpPr>
        <p:grpSpPr>
          <a:xfrm>
            <a:off x="867828" y="1006077"/>
            <a:ext cx="2664475" cy="5171858"/>
            <a:chOff x="867828" y="1006077"/>
            <a:chExt cx="2664475" cy="5171858"/>
          </a:xfrm>
        </p:grpSpPr>
        <p:cxnSp>
          <p:nvCxnSpPr>
            <p:cNvPr id="31" name="직선 연결선 30"/>
            <p:cNvCxnSpPr/>
            <p:nvPr/>
          </p:nvCxnSpPr>
          <p:spPr>
            <a:xfrm flipH="1">
              <a:off x="2312379" y="2967314"/>
              <a:ext cx="10034" cy="1359671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2" descr="C:\Users\Toshiba\AppData\Local\Microsoft\Windows\Temporary Internet Files\Content.IE5\TBE21NJN\MC900434845[1]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82525" y="4529939"/>
              <a:ext cx="1738884" cy="1647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자유형 14"/>
            <p:cNvSpPr/>
            <p:nvPr/>
          </p:nvSpPr>
          <p:spPr>
            <a:xfrm>
              <a:off x="1449438" y="1947333"/>
              <a:ext cx="1617133" cy="804334"/>
            </a:xfrm>
            <a:custGeom>
              <a:avLst/>
              <a:gdLst>
                <a:gd name="connsiteX0" fmla="*/ 0 w 1617133"/>
                <a:gd name="connsiteY0" fmla="*/ 50800 h 804334"/>
                <a:gd name="connsiteX1" fmla="*/ 0 w 1617133"/>
                <a:gd name="connsiteY1" fmla="*/ 795867 h 804334"/>
                <a:gd name="connsiteX2" fmla="*/ 1608667 w 1617133"/>
                <a:gd name="connsiteY2" fmla="*/ 804334 h 804334"/>
                <a:gd name="connsiteX3" fmla="*/ 1617133 w 1617133"/>
                <a:gd name="connsiteY3" fmla="*/ 0 h 804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7133" h="804334">
                  <a:moveTo>
                    <a:pt x="0" y="50800"/>
                  </a:moveTo>
                  <a:lnTo>
                    <a:pt x="0" y="795867"/>
                  </a:lnTo>
                  <a:lnTo>
                    <a:pt x="1608667" y="804334"/>
                  </a:lnTo>
                  <a:lnTo>
                    <a:pt x="1617133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341520" y="3359142"/>
              <a:ext cx="2069003" cy="4898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60819" y="3426128"/>
              <a:ext cx="1350864" cy="355881"/>
            </a:xfrm>
            <a:prstGeom prst="rect">
              <a:avLst/>
            </a:prstGeom>
            <a:ln>
              <a:noFill/>
            </a:ln>
          </p:spPr>
        </p:pic>
        <p:sp>
          <p:nvSpPr>
            <p:cNvPr id="35" name="정육면체 34"/>
            <p:cNvSpPr/>
            <p:nvPr/>
          </p:nvSpPr>
          <p:spPr>
            <a:xfrm flipH="1">
              <a:off x="867828" y="1006077"/>
              <a:ext cx="827144" cy="848124"/>
            </a:xfrm>
            <a:prstGeom prst="cub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B1</a:t>
              </a:r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81400" y="1805534"/>
              <a:ext cx="340892" cy="270708"/>
            </a:xfrm>
            <a:prstGeom prst="rect">
              <a:avLst/>
            </a:prstGeom>
          </p:spPr>
        </p:pic>
        <p:sp>
          <p:nvSpPr>
            <p:cNvPr id="38" name="정육면체 37"/>
            <p:cNvSpPr/>
            <p:nvPr/>
          </p:nvSpPr>
          <p:spPr>
            <a:xfrm>
              <a:off x="2808338" y="1069545"/>
              <a:ext cx="723965" cy="784656"/>
            </a:xfrm>
            <a:prstGeom prst="cube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smtClean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B2</a:t>
              </a:r>
              <a:endParaRPr lang="ko-KR" altLang="en-US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endParaRPr>
            </a:p>
          </p:txBody>
        </p:sp>
        <p:pic>
          <p:nvPicPr>
            <p:cNvPr id="40" name="그림 3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07000" y="1805534"/>
              <a:ext cx="340892" cy="270708"/>
            </a:xfrm>
            <a:prstGeom prst="rect">
              <a:avLst/>
            </a:prstGeom>
          </p:spPr>
        </p:pic>
        <p:grpSp>
          <p:nvGrpSpPr>
            <p:cNvPr id="3" name="그룹 2"/>
            <p:cNvGrpSpPr/>
            <p:nvPr/>
          </p:nvGrpSpPr>
          <p:grpSpPr>
            <a:xfrm>
              <a:off x="1800569" y="2521894"/>
              <a:ext cx="956696" cy="421883"/>
              <a:chOff x="626571" y="2964783"/>
              <a:chExt cx="1546916" cy="784593"/>
            </a:xfrm>
          </p:grpSpPr>
          <p:sp>
            <p:nvSpPr>
              <p:cNvPr id="41" name="AutoShape 26"/>
              <p:cNvSpPr>
                <a:spLocks noChangeArrowheads="1"/>
              </p:cNvSpPr>
              <p:nvPr/>
            </p:nvSpPr>
            <p:spPr bwMode="auto">
              <a:xfrm>
                <a:off x="626571" y="2964783"/>
                <a:ext cx="1546916" cy="784593"/>
              </a:xfrm>
              <a:prstGeom prst="cube">
                <a:avLst>
                  <a:gd name="adj" fmla="val 55426"/>
                </a:avLst>
              </a:prstGeom>
              <a:gradFill rotWithShape="1">
                <a:gsLst>
                  <a:gs pos="0">
                    <a:srgbClr val="EAEAEA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77777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600" b="0" kern="0" dirty="0">
                  <a:solidFill>
                    <a:sysClr val="windowText" lastClr="000000"/>
                  </a:solidFill>
                  <a:latin typeface="Times New Roman" pitchFamily="18" charset="0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43" name="WordArt 28"/>
              <p:cNvSpPr>
                <a:spLocks noChangeArrowheads="1" noChangeShapeType="1" noTextEdit="1"/>
              </p:cNvSpPr>
              <p:nvPr/>
            </p:nvSpPr>
            <p:spPr bwMode="auto">
              <a:xfrm>
                <a:off x="675836" y="3454316"/>
                <a:ext cx="1037846" cy="27661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>
                  <a:buNone/>
                </a:pPr>
                <a:r>
                  <a:rPr lang="en-US" altLang="ko-KR" sz="1600" kern="10" dirty="0" smtClean="0">
                    <a:ln w="9525">
                      <a:solidFill>
                        <a:srgbClr val="808080"/>
                      </a:solidFill>
                      <a:round/>
                      <a:headEnd/>
                      <a:tailEnd/>
                    </a:ln>
                    <a:solidFill>
                      <a:srgbClr val="808080"/>
                    </a:solidFill>
                    <a:latin typeface="Times New Roman" pitchFamily="18" charset="0"/>
                    <a:cs typeface="Times New Roman" pitchFamily="18" charset="0"/>
                  </a:rPr>
                  <a:t>Docker0</a:t>
                </a:r>
                <a:endParaRPr lang="ko-KR" altLang="en-US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1923511" y="2477154"/>
              <a:ext cx="7040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Bridge</a:t>
              </a:r>
              <a:endParaRPr lang="ko-KR" altLang="en-US" sz="14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51967" y="4303448"/>
              <a:ext cx="340892" cy="270708"/>
            </a:xfrm>
            <a:prstGeom prst="rect">
              <a:avLst/>
            </a:prstGeom>
          </p:spPr>
        </p:pic>
      </p:grpSp>
      <p:pic>
        <p:nvPicPr>
          <p:cNvPr id="33" name="그림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7011" y="1112528"/>
            <a:ext cx="6428284" cy="2473434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7011" y="4749337"/>
            <a:ext cx="6470264" cy="1428598"/>
          </a:xfrm>
          <a:prstGeom prst="rect">
            <a:avLst/>
          </a:prstGeom>
        </p:spPr>
      </p:pic>
      <p:sp>
        <p:nvSpPr>
          <p:cNvPr id="55" name="직사각형 54"/>
          <p:cNvSpPr/>
          <p:nvPr/>
        </p:nvSpPr>
        <p:spPr>
          <a:xfrm>
            <a:off x="4746094" y="138012"/>
            <a:ext cx="3706464" cy="960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run -name B1 -it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busybox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ifconfig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817011" y="3655053"/>
            <a:ext cx="370646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run -name B2 -it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busybox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ifconfig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312379" y="2938100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172.17.0.1/16</a:t>
            </a:r>
            <a:endParaRPr lang="ko-KR" altLang="en-US" sz="1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20402" y="2076242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172.17.0.2/16</a:t>
            </a:r>
            <a:endParaRPr lang="ko-KR" altLang="en-US" sz="1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21409" y="2124674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172.17.0.3/16</a:t>
            </a:r>
            <a:endParaRPr lang="ko-KR" altLang="en-US" sz="1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789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45" y="830793"/>
            <a:ext cx="7587722" cy="139291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12" y="2743200"/>
            <a:ext cx="5796155" cy="369199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529694" y="311301"/>
            <a:ext cx="1301959" cy="498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ps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99545" y="2223708"/>
            <a:ext cx="216277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inspect B1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72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61" y="1794933"/>
            <a:ext cx="5556423" cy="480906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443" y="1794933"/>
            <a:ext cx="5808974" cy="480906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79412" y="200174"/>
            <a:ext cx="2420856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ifconfig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#ping –c 2 172.17.0.3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#ping –c  2 8.8.8.8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199443" y="200174"/>
            <a:ext cx="2420856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ifconfig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#ping –c 2 172.17.0.2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#ping –c  2 8.8.8.8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>
          <a:xfrm>
            <a:off x="9103930" y="6538869"/>
            <a:ext cx="2743200" cy="365125"/>
          </a:xfrm>
        </p:spPr>
        <p:txBody>
          <a:bodyPr/>
          <a:lstStyle/>
          <a:p>
            <a:fld id="{0061C159-9DB5-4EF8-A5DD-DE91C73B901B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5623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5079803" y="1046048"/>
            <a:ext cx="22783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#iptables -t nat -L -v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079803" y="376573"/>
            <a:ext cx="24482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NAT </a:t>
            </a:r>
            <a:r>
              <a:rPr lang="ko-KR" altLang="en-US" sz="28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설정 확인</a:t>
            </a:r>
            <a:endParaRPr lang="ko-KR" altLang="en-US" sz="28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231" y="1471407"/>
            <a:ext cx="6454318" cy="466513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198548" y="4344716"/>
            <a:ext cx="6663683" cy="84721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 flipH="1">
            <a:off x="2070481" y="2904145"/>
            <a:ext cx="8968" cy="1288167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50082" y="4384592"/>
            <a:ext cx="1554073" cy="1561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자유형 10"/>
          <p:cNvSpPr/>
          <p:nvPr/>
        </p:nvSpPr>
        <p:spPr>
          <a:xfrm>
            <a:off x="1299255" y="1937804"/>
            <a:ext cx="1445262" cy="762035"/>
          </a:xfrm>
          <a:custGeom>
            <a:avLst/>
            <a:gdLst>
              <a:gd name="connsiteX0" fmla="*/ 0 w 1617133"/>
              <a:gd name="connsiteY0" fmla="*/ 50800 h 804334"/>
              <a:gd name="connsiteX1" fmla="*/ 0 w 1617133"/>
              <a:gd name="connsiteY1" fmla="*/ 795867 h 804334"/>
              <a:gd name="connsiteX2" fmla="*/ 1608667 w 1617133"/>
              <a:gd name="connsiteY2" fmla="*/ 804334 h 804334"/>
              <a:gd name="connsiteX3" fmla="*/ 1617133 w 1617133"/>
              <a:gd name="connsiteY3" fmla="*/ 0 h 80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7133" h="804334">
                <a:moveTo>
                  <a:pt x="0" y="50800"/>
                </a:moveTo>
                <a:lnTo>
                  <a:pt x="0" y="795867"/>
                </a:lnTo>
                <a:lnTo>
                  <a:pt x="1608667" y="804334"/>
                </a:lnTo>
                <a:lnTo>
                  <a:pt x="1617133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202807" y="3275367"/>
            <a:ext cx="1849106" cy="46409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542" y="3338830"/>
            <a:ext cx="1207292" cy="337165"/>
          </a:xfrm>
          <a:prstGeom prst="rect">
            <a:avLst/>
          </a:prstGeom>
          <a:ln>
            <a:noFill/>
          </a:ln>
        </p:spPr>
      </p:pic>
      <p:sp>
        <p:nvSpPr>
          <p:cNvPr id="14" name="정육면체 13"/>
          <p:cNvSpPr/>
          <p:nvPr/>
        </p:nvSpPr>
        <p:spPr>
          <a:xfrm flipH="1">
            <a:off x="779460" y="1046048"/>
            <a:ext cx="739234" cy="803522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076" y="1803462"/>
            <a:ext cx="304661" cy="256472"/>
          </a:xfrm>
          <a:prstGeom prst="rect">
            <a:avLst/>
          </a:prstGeom>
        </p:spPr>
      </p:pic>
      <p:sp>
        <p:nvSpPr>
          <p:cNvPr id="16" name="정육면체 15"/>
          <p:cNvSpPr/>
          <p:nvPr/>
        </p:nvSpPr>
        <p:spPr>
          <a:xfrm>
            <a:off x="2513729" y="1106178"/>
            <a:ext cx="647021" cy="743391"/>
          </a:xfrm>
          <a:prstGeom prst="cub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B2</a:t>
            </a:r>
            <a:endParaRPr lang="ko-KR" altLang="en-US" b="1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905" y="1803462"/>
            <a:ext cx="304661" cy="256472"/>
          </a:xfrm>
          <a:prstGeom prst="rect">
            <a:avLst/>
          </a:prstGeom>
        </p:spPr>
      </p:pic>
      <p:grpSp>
        <p:nvGrpSpPr>
          <p:cNvPr id="18" name="그룹 17"/>
          <p:cNvGrpSpPr/>
          <p:nvPr/>
        </p:nvGrpSpPr>
        <p:grpSpPr>
          <a:xfrm>
            <a:off x="1613067" y="2482149"/>
            <a:ext cx="855017" cy="399696"/>
            <a:chOff x="626571" y="2964783"/>
            <a:chExt cx="1546916" cy="784593"/>
          </a:xfrm>
        </p:grpSpPr>
        <p:sp>
          <p:nvSpPr>
            <p:cNvPr id="21" name="AutoShape 26"/>
            <p:cNvSpPr>
              <a:spLocks noChangeArrowheads="1"/>
            </p:cNvSpPr>
            <p:nvPr/>
          </p:nvSpPr>
          <p:spPr bwMode="auto">
            <a:xfrm>
              <a:off x="626571" y="2964783"/>
              <a:ext cx="1546916" cy="784593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2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675836" y="3454316"/>
              <a:ext cx="1037846" cy="2766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Docker0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722943" y="2439762"/>
            <a:ext cx="629213" cy="2915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  <a:endParaRPr lang="ko-KR" altLang="en-US" sz="14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7118" y="4170012"/>
            <a:ext cx="304661" cy="2564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070481" y="2876467"/>
            <a:ext cx="925768" cy="26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172.17.0.1/16</a:t>
            </a:r>
            <a:endParaRPr lang="ko-KR" altLang="en-US" sz="1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8802" y="2059934"/>
            <a:ext cx="925768" cy="26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172.17.0.2/16</a:t>
            </a:r>
            <a:endParaRPr lang="ko-KR" altLang="en-US" sz="1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96061" y="4101685"/>
            <a:ext cx="1252007" cy="3499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 Setting</a:t>
            </a:r>
            <a:endParaRPr lang="ko-KR" alt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구름 26"/>
          <p:cNvSpPr/>
          <p:nvPr/>
        </p:nvSpPr>
        <p:spPr>
          <a:xfrm>
            <a:off x="3051913" y="5051776"/>
            <a:ext cx="1660656" cy="9398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슬라이드 번호 개체 틀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313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17" y="1548107"/>
            <a:ext cx="6309783" cy="443947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38845" y="430880"/>
            <a:ext cx="6285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Alias</a:t>
            </a:r>
            <a:r>
              <a:rPr lang="en-US" altLang="ko-KR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등록과</a:t>
            </a:r>
            <a:r>
              <a:rPr lang="en-US" altLang="ko-KR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8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Docker</a:t>
            </a:r>
            <a:r>
              <a:rPr lang="en-US" altLang="ko-KR" sz="2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container</a:t>
            </a:r>
            <a:r>
              <a:rPr lang="en-US" altLang="ko-KR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일괄 삭제</a:t>
            </a:r>
            <a:endParaRPr lang="ko-KR" altLang="en-US" sz="28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6837361" y="1548107"/>
            <a:ext cx="4679486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#alias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drm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=‘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rm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–f $(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ps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–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aq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)’</a:t>
            </a:r>
          </a:p>
          <a:p>
            <a:pPr>
              <a:lnSpc>
                <a:spcPct val="150000"/>
              </a:lnSpc>
            </a:pPr>
            <a:r>
              <a:rPr lang="en-US" altLang="ko-KR" sz="20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#alias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drm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ps</a:t>
            </a:r>
            <a:endParaRPr lang="ko-KR" alt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756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932206" y="6406536"/>
            <a:ext cx="2057400" cy="365125"/>
          </a:xfrm>
        </p:spPr>
        <p:txBody>
          <a:bodyPr/>
          <a:lstStyle/>
          <a:p>
            <a:fld id="{513F1703-E928-487B-BA31-EC60EAD58ED8}" type="slidenum">
              <a:rPr lang="ko-KR" altLang="en-US" smtClean="0"/>
              <a:t>17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366407" y="1234678"/>
            <a:ext cx="2542695" cy="5171858"/>
            <a:chOff x="1121828" y="1217744"/>
            <a:chExt cx="2542695" cy="5171858"/>
          </a:xfrm>
        </p:grpSpPr>
        <p:cxnSp>
          <p:nvCxnSpPr>
            <p:cNvPr id="31" name="직선 연결선 30"/>
            <p:cNvCxnSpPr/>
            <p:nvPr/>
          </p:nvCxnSpPr>
          <p:spPr>
            <a:xfrm flipH="1">
              <a:off x="2566379" y="3178981"/>
              <a:ext cx="10034" cy="1359671"/>
            </a:xfrm>
            <a:prstGeom prst="line">
              <a:avLst/>
            </a:prstGeom>
            <a:ln w="28575">
              <a:solidFill>
                <a:srgbClr val="C0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2" descr="C:\Users\Toshiba\AppData\Local\Microsoft\Windows\Temporary Internet Files\Content.IE5\TBE21NJN\MC900434845[1]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36525" y="4741606"/>
              <a:ext cx="1738884" cy="1647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>
              <a:off x="1595520" y="3570809"/>
              <a:ext cx="2069003" cy="4898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14819" y="3637795"/>
              <a:ext cx="1350864" cy="355881"/>
            </a:xfrm>
            <a:prstGeom prst="rect">
              <a:avLst/>
            </a:prstGeom>
            <a:ln>
              <a:noFill/>
            </a:ln>
          </p:spPr>
        </p:pic>
        <p:sp>
          <p:nvSpPr>
            <p:cNvPr id="35" name="정육면체 34"/>
            <p:cNvSpPr/>
            <p:nvPr/>
          </p:nvSpPr>
          <p:spPr>
            <a:xfrm flipH="1">
              <a:off x="1121828" y="1217744"/>
              <a:ext cx="827144" cy="848124"/>
            </a:xfrm>
            <a:prstGeom prst="cube">
              <a:avLst/>
            </a:prstGeom>
            <a:solidFill>
              <a:srgbClr val="00B05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 err="1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Nginx</a:t>
              </a:r>
              <a:endParaRPr lang="ko-KR" altLang="en-US" sz="13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35400" y="2017201"/>
              <a:ext cx="340892" cy="270708"/>
            </a:xfrm>
            <a:prstGeom prst="rect">
              <a:avLst/>
            </a:prstGeom>
          </p:spPr>
        </p:pic>
        <p:grpSp>
          <p:nvGrpSpPr>
            <p:cNvPr id="3" name="그룹 2"/>
            <p:cNvGrpSpPr/>
            <p:nvPr/>
          </p:nvGrpSpPr>
          <p:grpSpPr>
            <a:xfrm>
              <a:off x="2054569" y="2733561"/>
              <a:ext cx="956696" cy="421883"/>
              <a:chOff x="626571" y="2964783"/>
              <a:chExt cx="1546916" cy="784593"/>
            </a:xfrm>
          </p:grpSpPr>
          <p:sp>
            <p:nvSpPr>
              <p:cNvPr id="41" name="AutoShape 26"/>
              <p:cNvSpPr>
                <a:spLocks noChangeArrowheads="1"/>
              </p:cNvSpPr>
              <p:nvPr/>
            </p:nvSpPr>
            <p:spPr bwMode="auto">
              <a:xfrm>
                <a:off x="626571" y="2964783"/>
                <a:ext cx="1546916" cy="784593"/>
              </a:xfrm>
              <a:prstGeom prst="cube">
                <a:avLst>
                  <a:gd name="adj" fmla="val 55426"/>
                </a:avLst>
              </a:prstGeom>
              <a:gradFill rotWithShape="1">
                <a:gsLst>
                  <a:gs pos="0">
                    <a:srgbClr val="EAEAEA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777777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600" b="0" kern="0" dirty="0">
                  <a:solidFill>
                    <a:sysClr val="windowText" lastClr="000000"/>
                  </a:solidFill>
                  <a:latin typeface="Times New Roman" pitchFamily="18" charset="0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43" name="WordArt 28"/>
              <p:cNvSpPr>
                <a:spLocks noChangeArrowheads="1" noChangeShapeType="1" noTextEdit="1"/>
              </p:cNvSpPr>
              <p:nvPr/>
            </p:nvSpPr>
            <p:spPr bwMode="auto">
              <a:xfrm>
                <a:off x="675836" y="3454316"/>
                <a:ext cx="1037846" cy="27661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>
                  <a:buNone/>
                </a:pPr>
                <a:r>
                  <a:rPr lang="en-US" altLang="ko-KR" sz="1600" kern="10" dirty="0" smtClean="0">
                    <a:ln w="9525">
                      <a:solidFill>
                        <a:srgbClr val="808080"/>
                      </a:solidFill>
                      <a:round/>
                      <a:headEnd/>
                      <a:tailEnd/>
                    </a:ln>
                    <a:solidFill>
                      <a:srgbClr val="808080"/>
                    </a:solidFill>
                    <a:latin typeface="Times New Roman" pitchFamily="18" charset="0"/>
                    <a:cs typeface="Times New Roman" pitchFamily="18" charset="0"/>
                  </a:rPr>
                  <a:t>Docker0</a:t>
                </a:r>
                <a:endParaRPr lang="ko-KR" altLang="en-US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2177511" y="2688821"/>
              <a:ext cx="7040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Bridge</a:t>
              </a:r>
              <a:endParaRPr lang="ko-KR" altLang="en-US" sz="14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05967" y="4515115"/>
              <a:ext cx="340892" cy="270708"/>
            </a:xfrm>
            <a:prstGeom prst="rect">
              <a:avLst/>
            </a:prstGeom>
          </p:spPr>
        </p:pic>
        <p:sp>
          <p:nvSpPr>
            <p:cNvPr id="8" name="자유형 7"/>
            <p:cNvSpPr/>
            <p:nvPr/>
          </p:nvSpPr>
          <p:spPr>
            <a:xfrm>
              <a:off x="1669846" y="2268822"/>
              <a:ext cx="377950" cy="754871"/>
            </a:xfrm>
            <a:custGeom>
              <a:avLst/>
              <a:gdLst>
                <a:gd name="connsiteX0" fmla="*/ 806245 w 806245"/>
                <a:gd name="connsiteY0" fmla="*/ 796413 h 796413"/>
                <a:gd name="connsiteX1" fmla="*/ 0 w 806245"/>
                <a:gd name="connsiteY1" fmla="*/ 796413 h 796413"/>
                <a:gd name="connsiteX2" fmla="*/ 0 w 806245"/>
                <a:gd name="connsiteY2" fmla="*/ 0 h 796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6245" h="796413">
                  <a:moveTo>
                    <a:pt x="806245" y="796413"/>
                  </a:moveTo>
                  <a:lnTo>
                    <a:pt x="0" y="79641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9" name="TextBox 78"/>
          <p:cNvSpPr txBox="1"/>
          <p:nvPr/>
        </p:nvSpPr>
        <p:spPr>
          <a:xfrm>
            <a:off x="366407" y="238764"/>
            <a:ext cx="47067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2. Port forwarding (1)</a:t>
            </a:r>
            <a:endParaRPr lang="ko-KR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그림 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6703" y="3100339"/>
            <a:ext cx="8838297" cy="26360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9089" y="5428649"/>
            <a:ext cx="1455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192.168.10.55:80</a:t>
            </a:r>
            <a:endParaRPr lang="ko-KR" altLang="en-US" sz="1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07427" y="2252041"/>
            <a:ext cx="10358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172.17.0.2/16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29929" y="4527669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192.168.10.55/24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741467" y="3227909"/>
            <a:ext cx="10358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172.17.0.1/16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193551" y="1659089"/>
            <a:ext cx="10438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172.17.0.2:80</a:t>
            </a:r>
            <a:endParaRPr lang="ko-KR" altLang="en-US" sz="1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3226703" y="1051712"/>
            <a:ext cx="4671663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run –d –p 80:80 –name WS1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nginx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ps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#curl 172.17.0.2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 curl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localhost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:80          </a:t>
            </a:r>
          </a:p>
        </p:txBody>
      </p:sp>
    </p:spTree>
    <p:extLst>
      <p:ext uri="{BB962C8B-B14F-4D97-AF65-F5344CB8AC3E}">
        <p14:creationId xmlns:p14="http://schemas.microsoft.com/office/powerpoint/2010/main" val="3096279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직선 연결선 27"/>
          <p:cNvCxnSpPr>
            <a:endCxn id="12" idx="0"/>
          </p:cNvCxnSpPr>
          <p:nvPr/>
        </p:nvCxnSpPr>
        <p:spPr>
          <a:xfrm>
            <a:off x="10431593" y="2938425"/>
            <a:ext cx="0" cy="1369587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자유형 28"/>
          <p:cNvSpPr/>
          <p:nvPr/>
        </p:nvSpPr>
        <p:spPr>
          <a:xfrm>
            <a:off x="9611197" y="2013060"/>
            <a:ext cx="1445262" cy="762035"/>
          </a:xfrm>
          <a:custGeom>
            <a:avLst/>
            <a:gdLst>
              <a:gd name="connsiteX0" fmla="*/ 0 w 1617133"/>
              <a:gd name="connsiteY0" fmla="*/ 50800 h 804334"/>
              <a:gd name="connsiteX1" fmla="*/ 0 w 1617133"/>
              <a:gd name="connsiteY1" fmla="*/ 795867 h 804334"/>
              <a:gd name="connsiteX2" fmla="*/ 1608667 w 1617133"/>
              <a:gd name="connsiteY2" fmla="*/ 804334 h 804334"/>
              <a:gd name="connsiteX3" fmla="*/ 1617133 w 1617133"/>
              <a:gd name="connsiteY3" fmla="*/ 0 h 80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7133" h="804334">
                <a:moveTo>
                  <a:pt x="0" y="50800"/>
                </a:moveTo>
                <a:lnTo>
                  <a:pt x="0" y="795867"/>
                </a:lnTo>
                <a:lnTo>
                  <a:pt x="1608667" y="804334"/>
                </a:lnTo>
                <a:lnTo>
                  <a:pt x="1617133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391705" y="4534503"/>
            <a:ext cx="1738884" cy="164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9450700" y="3363706"/>
            <a:ext cx="2069003" cy="4898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999" y="3430692"/>
            <a:ext cx="1350864" cy="355881"/>
          </a:xfrm>
          <a:prstGeom prst="rect">
            <a:avLst/>
          </a:prstGeom>
          <a:ln>
            <a:noFill/>
          </a:ln>
        </p:spPr>
      </p:pic>
      <p:sp>
        <p:nvSpPr>
          <p:cNvPr id="8" name="정육면체 7"/>
          <p:cNvSpPr/>
          <p:nvPr/>
        </p:nvSpPr>
        <p:spPr>
          <a:xfrm flipH="1">
            <a:off x="8977008" y="1010641"/>
            <a:ext cx="827144" cy="848124"/>
          </a:xfrm>
          <a:prstGeom prst="cub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endParaRPr lang="ko-KR" altLang="en-US" sz="13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580" y="1810098"/>
            <a:ext cx="340892" cy="270708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9909749" y="2526458"/>
            <a:ext cx="956696" cy="421883"/>
            <a:chOff x="626571" y="2964783"/>
            <a:chExt cx="1546916" cy="784593"/>
          </a:xfrm>
        </p:grpSpPr>
        <p:sp>
          <p:nvSpPr>
            <p:cNvPr id="14" name="AutoShape 26"/>
            <p:cNvSpPr>
              <a:spLocks noChangeArrowheads="1"/>
            </p:cNvSpPr>
            <p:nvPr/>
          </p:nvSpPr>
          <p:spPr bwMode="auto">
            <a:xfrm>
              <a:off x="626571" y="2964783"/>
              <a:ext cx="1546916" cy="784593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5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675836" y="3454316"/>
              <a:ext cx="1037846" cy="2766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Docker0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0032691" y="2481718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  <a:endParaRPr lang="ko-KR" altLang="en-US" sz="14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147" y="4308012"/>
            <a:ext cx="340892" cy="270708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9518028" y="2028004"/>
            <a:ext cx="10358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172.17.0.2/16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40530" y="4303632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192.168.10.55/24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9352068" y="3003872"/>
            <a:ext cx="10358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172.17.0.1/16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8816845" y="748532"/>
            <a:ext cx="10438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172.17.0.2:80</a:t>
            </a:r>
            <a:endParaRPr lang="ko-KR" altLang="en-US" sz="1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정육면체 20"/>
          <p:cNvSpPr/>
          <p:nvPr/>
        </p:nvSpPr>
        <p:spPr>
          <a:xfrm>
            <a:off x="10866445" y="1071116"/>
            <a:ext cx="748983" cy="762001"/>
          </a:xfrm>
          <a:prstGeom prst="cub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Nginx</a:t>
            </a:r>
            <a:endParaRPr lang="ko-KR" altLang="en-US" sz="1000" b="1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6826" y="1771867"/>
            <a:ext cx="304661" cy="256472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10923014" y="794116"/>
            <a:ext cx="10438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172.17.0.3:80</a:t>
            </a:r>
            <a:endParaRPr lang="ko-KR" altLang="en-US" sz="1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0991793" y="2022699"/>
            <a:ext cx="10358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172.17.0.3/16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391705" y="4534502"/>
            <a:ext cx="1738884" cy="164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8809690" y="5204612"/>
            <a:ext cx="1455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192.168.10.55:80</a:t>
            </a:r>
            <a:endParaRPr lang="ko-KR" altLang="en-US" sz="1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05299" y="5496961"/>
            <a:ext cx="1725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192.168.10.55:32768</a:t>
            </a:r>
            <a:endParaRPr lang="ko-KR" altLang="en-US" sz="1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571" y="3337104"/>
            <a:ext cx="8299065" cy="1497729"/>
          </a:xfrm>
          <a:prstGeom prst="rect">
            <a:avLst/>
          </a:prstGeom>
        </p:spPr>
      </p:pic>
      <p:sp>
        <p:nvSpPr>
          <p:cNvPr id="35" name="직사각형 34"/>
          <p:cNvSpPr/>
          <p:nvPr/>
        </p:nvSpPr>
        <p:spPr>
          <a:xfrm>
            <a:off x="386531" y="1306043"/>
            <a:ext cx="4344651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run –d –p 80 –name WS2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nginx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ps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#curl 172.17.0.3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#curl 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localhost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:80   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168" y="496989"/>
            <a:ext cx="47067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2. Port forwarding (2)</a:t>
            </a:r>
            <a:endParaRPr lang="ko-KR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슬라이드 번호 개체 틀 36"/>
          <p:cNvSpPr>
            <a:spLocks noGrp="1"/>
          </p:cNvSpPr>
          <p:nvPr>
            <p:ph type="sldNum" sz="quarter" idx="12"/>
          </p:nvPr>
        </p:nvSpPr>
        <p:spPr>
          <a:xfrm>
            <a:off x="9113601" y="6355943"/>
            <a:ext cx="2743200" cy="365125"/>
          </a:xfrm>
        </p:spPr>
        <p:txBody>
          <a:bodyPr/>
          <a:lstStyle/>
          <a:p>
            <a:fld id="{0061C159-9DB5-4EF8-A5DD-DE91C73B901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734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67" y="2276430"/>
            <a:ext cx="11768667" cy="281764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38845" y="430880"/>
            <a:ext cx="42707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Docker</a:t>
            </a:r>
            <a:r>
              <a:rPr lang="en-US" altLang="ko-KR" sz="2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container</a:t>
            </a:r>
            <a:r>
              <a:rPr lang="en-US" altLang="ko-KR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일괄 삭제</a:t>
            </a:r>
            <a:endParaRPr lang="ko-KR" altLang="en-US" sz="28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38845" y="1107433"/>
            <a:ext cx="130195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drm</a:t>
            </a:r>
            <a:endParaRPr lang="en-US" altLang="ko-KR" sz="2000" dirty="0" smtClean="0">
              <a:solidFill>
                <a:srgbClr val="000000"/>
              </a:solidFill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#</a:t>
            </a:r>
            <a:r>
              <a:rPr lang="en-US" altLang="ko-KR" sz="20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ps</a:t>
            </a:r>
            <a:endParaRPr lang="ko-KR" alt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723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endCxn id="48" idx="0"/>
          </p:cNvCxnSpPr>
          <p:nvPr/>
        </p:nvCxnSpPr>
        <p:spPr>
          <a:xfrm flipH="1">
            <a:off x="6333529" y="3441459"/>
            <a:ext cx="9643" cy="1542054"/>
          </a:xfrm>
          <a:prstGeom prst="line">
            <a:avLst/>
          </a:prstGeom>
          <a:ln>
            <a:solidFill>
              <a:srgbClr val="002060">
                <a:alpha val="9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자유형 28"/>
          <p:cNvSpPr/>
          <p:nvPr/>
        </p:nvSpPr>
        <p:spPr>
          <a:xfrm>
            <a:off x="3991161" y="3101444"/>
            <a:ext cx="4416785" cy="340015"/>
          </a:xfrm>
          <a:custGeom>
            <a:avLst/>
            <a:gdLst>
              <a:gd name="connsiteX0" fmla="*/ 0 w 1617133"/>
              <a:gd name="connsiteY0" fmla="*/ 50800 h 804334"/>
              <a:gd name="connsiteX1" fmla="*/ 0 w 1617133"/>
              <a:gd name="connsiteY1" fmla="*/ 795867 h 804334"/>
              <a:gd name="connsiteX2" fmla="*/ 1608667 w 1617133"/>
              <a:gd name="connsiteY2" fmla="*/ 804334 h 804334"/>
              <a:gd name="connsiteX3" fmla="*/ 1617133 w 1617133"/>
              <a:gd name="connsiteY3" fmla="*/ 0 h 80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7133" h="804334">
                <a:moveTo>
                  <a:pt x="0" y="50800"/>
                </a:moveTo>
                <a:lnTo>
                  <a:pt x="0" y="795867"/>
                </a:lnTo>
                <a:lnTo>
                  <a:pt x="1608667" y="804334"/>
                </a:lnTo>
                <a:lnTo>
                  <a:pt x="1617133" y="0"/>
                </a:lnTo>
              </a:path>
            </a:pathLst>
          </a:custGeom>
          <a:noFill/>
          <a:ln>
            <a:solidFill>
              <a:srgbClr val="002060">
                <a:alpha val="9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001155" y="6396991"/>
            <a:ext cx="2057400" cy="365125"/>
          </a:xfrm>
        </p:spPr>
        <p:txBody>
          <a:bodyPr/>
          <a:lstStyle/>
          <a:p>
            <a:fld id="{513F1703-E928-487B-BA31-EC60EAD58ED8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6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93641" y="5210004"/>
            <a:ext cx="1738884" cy="164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자유형 14"/>
          <p:cNvSpPr/>
          <p:nvPr/>
        </p:nvSpPr>
        <p:spPr>
          <a:xfrm>
            <a:off x="3269771" y="2149409"/>
            <a:ext cx="1617133" cy="804334"/>
          </a:xfrm>
          <a:custGeom>
            <a:avLst/>
            <a:gdLst>
              <a:gd name="connsiteX0" fmla="*/ 0 w 1617133"/>
              <a:gd name="connsiteY0" fmla="*/ 50800 h 804334"/>
              <a:gd name="connsiteX1" fmla="*/ 0 w 1617133"/>
              <a:gd name="connsiteY1" fmla="*/ 795867 h 804334"/>
              <a:gd name="connsiteX2" fmla="*/ 1608667 w 1617133"/>
              <a:gd name="connsiteY2" fmla="*/ 804334 h 804334"/>
              <a:gd name="connsiteX3" fmla="*/ 1617133 w 1617133"/>
              <a:gd name="connsiteY3" fmla="*/ 0 h 80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7133" h="804334">
                <a:moveTo>
                  <a:pt x="0" y="50800"/>
                </a:moveTo>
                <a:lnTo>
                  <a:pt x="0" y="795867"/>
                </a:lnTo>
                <a:lnTo>
                  <a:pt x="1608667" y="804334"/>
                </a:lnTo>
                <a:lnTo>
                  <a:pt x="1617133" y="0"/>
                </a:lnTo>
              </a:path>
            </a:pathLst>
          </a:custGeom>
          <a:noFill/>
          <a:ln>
            <a:solidFill>
              <a:srgbClr val="002060">
                <a:alpha val="9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352636" y="4039207"/>
            <a:ext cx="2069003" cy="4898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935" y="4106193"/>
            <a:ext cx="1350864" cy="355881"/>
          </a:xfrm>
          <a:prstGeom prst="rect">
            <a:avLst/>
          </a:prstGeom>
          <a:ln>
            <a:noFill/>
          </a:ln>
        </p:spPr>
      </p:pic>
      <p:sp>
        <p:nvSpPr>
          <p:cNvPr id="35" name="정육면체 34"/>
          <p:cNvSpPr/>
          <p:nvPr/>
        </p:nvSpPr>
        <p:spPr>
          <a:xfrm flipH="1">
            <a:off x="2688161" y="1208153"/>
            <a:ext cx="827144" cy="848124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1733" y="2007610"/>
            <a:ext cx="340892" cy="270708"/>
          </a:xfrm>
          <a:prstGeom prst="rect">
            <a:avLst/>
          </a:prstGeom>
        </p:spPr>
      </p:pic>
      <p:sp>
        <p:nvSpPr>
          <p:cNvPr id="38" name="정육면체 37"/>
          <p:cNvSpPr/>
          <p:nvPr/>
        </p:nvSpPr>
        <p:spPr>
          <a:xfrm>
            <a:off x="4628671" y="1271621"/>
            <a:ext cx="723965" cy="784656"/>
          </a:xfrm>
          <a:prstGeom prst="cub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333" y="2007610"/>
            <a:ext cx="340892" cy="270708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3620902" y="2723970"/>
            <a:ext cx="956696" cy="421883"/>
            <a:chOff x="626571" y="2964783"/>
            <a:chExt cx="1546916" cy="784593"/>
          </a:xfrm>
        </p:grpSpPr>
        <p:sp>
          <p:nvSpPr>
            <p:cNvPr id="41" name="AutoShape 26"/>
            <p:cNvSpPr>
              <a:spLocks noChangeArrowheads="1"/>
            </p:cNvSpPr>
            <p:nvPr/>
          </p:nvSpPr>
          <p:spPr bwMode="auto">
            <a:xfrm>
              <a:off x="626571" y="2964783"/>
              <a:ext cx="1546916" cy="784593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3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675836" y="3454316"/>
              <a:ext cx="1037846" cy="2766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Docker0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743844" y="267923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  <a:endParaRPr lang="ko-KR" altLang="en-US" sz="14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83" y="4983513"/>
            <a:ext cx="340892" cy="270708"/>
          </a:xfrm>
          <a:prstGeom prst="rect">
            <a:avLst/>
          </a:prstGeom>
        </p:spPr>
      </p:pic>
      <p:sp>
        <p:nvSpPr>
          <p:cNvPr id="18" name="자유형 17"/>
          <p:cNvSpPr/>
          <p:nvPr/>
        </p:nvSpPr>
        <p:spPr>
          <a:xfrm>
            <a:off x="7704409" y="2149409"/>
            <a:ext cx="1617133" cy="804334"/>
          </a:xfrm>
          <a:custGeom>
            <a:avLst/>
            <a:gdLst>
              <a:gd name="connsiteX0" fmla="*/ 0 w 1617133"/>
              <a:gd name="connsiteY0" fmla="*/ 50800 h 804334"/>
              <a:gd name="connsiteX1" fmla="*/ 0 w 1617133"/>
              <a:gd name="connsiteY1" fmla="*/ 795867 h 804334"/>
              <a:gd name="connsiteX2" fmla="*/ 1608667 w 1617133"/>
              <a:gd name="connsiteY2" fmla="*/ 804334 h 804334"/>
              <a:gd name="connsiteX3" fmla="*/ 1617133 w 1617133"/>
              <a:gd name="connsiteY3" fmla="*/ 0 h 80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7133" h="804334">
                <a:moveTo>
                  <a:pt x="0" y="50800"/>
                </a:moveTo>
                <a:lnTo>
                  <a:pt x="0" y="795867"/>
                </a:lnTo>
                <a:lnTo>
                  <a:pt x="1608667" y="804334"/>
                </a:lnTo>
                <a:lnTo>
                  <a:pt x="1617133" y="0"/>
                </a:lnTo>
              </a:path>
            </a:pathLst>
          </a:custGeom>
          <a:noFill/>
          <a:ln>
            <a:solidFill>
              <a:srgbClr val="002060">
                <a:alpha val="9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정육면체 18"/>
          <p:cNvSpPr/>
          <p:nvPr/>
        </p:nvSpPr>
        <p:spPr>
          <a:xfrm flipH="1">
            <a:off x="7122799" y="1208153"/>
            <a:ext cx="827144" cy="848124"/>
          </a:xfrm>
          <a:prstGeom prst="cub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371" y="2007610"/>
            <a:ext cx="340892" cy="270708"/>
          </a:xfrm>
          <a:prstGeom prst="rect">
            <a:avLst/>
          </a:prstGeom>
        </p:spPr>
      </p:pic>
      <p:sp>
        <p:nvSpPr>
          <p:cNvPr id="21" name="정육면체 20"/>
          <p:cNvSpPr/>
          <p:nvPr/>
        </p:nvSpPr>
        <p:spPr>
          <a:xfrm>
            <a:off x="9063309" y="1271621"/>
            <a:ext cx="723965" cy="784656"/>
          </a:xfrm>
          <a:prstGeom prst="cub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1971" y="2007610"/>
            <a:ext cx="340892" cy="270708"/>
          </a:xfrm>
          <a:prstGeom prst="rect">
            <a:avLst/>
          </a:prstGeom>
        </p:spPr>
      </p:pic>
      <p:grpSp>
        <p:nvGrpSpPr>
          <p:cNvPr id="24" name="그룹 23"/>
          <p:cNvGrpSpPr/>
          <p:nvPr/>
        </p:nvGrpSpPr>
        <p:grpSpPr>
          <a:xfrm>
            <a:off x="8055540" y="2723970"/>
            <a:ext cx="956696" cy="421883"/>
            <a:chOff x="626571" y="2964783"/>
            <a:chExt cx="1546916" cy="784593"/>
          </a:xfrm>
        </p:grpSpPr>
        <p:sp>
          <p:nvSpPr>
            <p:cNvPr id="25" name="AutoShape 26"/>
            <p:cNvSpPr>
              <a:spLocks noChangeArrowheads="1"/>
            </p:cNvSpPr>
            <p:nvPr/>
          </p:nvSpPr>
          <p:spPr bwMode="auto">
            <a:xfrm>
              <a:off x="626571" y="2964783"/>
              <a:ext cx="1546916" cy="784593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6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675836" y="3454316"/>
              <a:ext cx="1037846" cy="2766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 err="1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INFOnet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8178482" y="267923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  <a:endParaRPr lang="ko-KR" altLang="en-US" sz="14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6407" y="238764"/>
            <a:ext cx="5621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3. User-Defined Bride Network </a:t>
            </a:r>
            <a:endParaRPr lang="ko-KR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955300" y="3179306"/>
            <a:ext cx="10358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172.17.0.1/16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8399474" y="3164460"/>
            <a:ext cx="11897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192.168.20.0/24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69678" y="4706514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192.168.10.55/24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2193588" y="2272552"/>
            <a:ext cx="10358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172.17.0.2/16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822292" y="2282001"/>
            <a:ext cx="10358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172.17.0.3/16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483479" y="2245176"/>
            <a:ext cx="12666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192.168.20.X/24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9300984" y="2194870"/>
            <a:ext cx="12666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192.168.20.20/24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202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66" y="1087828"/>
            <a:ext cx="5771389" cy="435924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802" y="1559779"/>
            <a:ext cx="4215343" cy="1779099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072716" y="6326853"/>
            <a:ext cx="2743200" cy="365125"/>
          </a:xfrm>
        </p:spPr>
        <p:txBody>
          <a:bodyPr/>
          <a:lstStyle/>
          <a:p>
            <a:fld id="{0061C159-9DB5-4EF8-A5DD-DE91C73B901B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591982" y="1087828"/>
            <a:ext cx="38523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</a:t>
            </a:r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58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89467" y="167902"/>
            <a:ext cx="110405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create --deriver bridge --subnet 192.168.20.0/24 --gateway 192.168.20.254 </a:t>
            </a:r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INFOnet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1" y="681568"/>
            <a:ext cx="10600266" cy="2852089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980267" y="3677991"/>
            <a:ext cx="38523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inspect </a:t>
            </a:r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INFOnet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812" y="3677991"/>
            <a:ext cx="4709055" cy="3098956"/>
          </a:xfrm>
          <a:prstGeom prst="rect">
            <a:avLst/>
          </a:prstGeom>
        </p:spPr>
      </p:pic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7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61999" y="684368"/>
            <a:ext cx="9262533" cy="3691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run -it --name B1 --net 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INFOnet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busybox</a:t>
            </a: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ifconfig</a:t>
            </a: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run -it --name B2 --net 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INFOnet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--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192.168.20.10  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busybox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ifconfig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200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268" y="3865686"/>
            <a:ext cx="7617354" cy="260655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268" y="1545696"/>
            <a:ext cx="7156979" cy="1503832"/>
          </a:xfrm>
          <a:prstGeom prst="rect">
            <a:avLst/>
          </a:prstGeom>
        </p:spPr>
      </p:pic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287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endCxn id="48" idx="0"/>
          </p:cNvCxnSpPr>
          <p:nvPr/>
        </p:nvCxnSpPr>
        <p:spPr>
          <a:xfrm flipH="1">
            <a:off x="4970396" y="3153592"/>
            <a:ext cx="9643" cy="1542054"/>
          </a:xfrm>
          <a:prstGeom prst="line">
            <a:avLst/>
          </a:prstGeom>
          <a:ln>
            <a:solidFill>
              <a:srgbClr val="002060">
                <a:alpha val="9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자유형 28"/>
          <p:cNvSpPr/>
          <p:nvPr/>
        </p:nvSpPr>
        <p:spPr>
          <a:xfrm>
            <a:off x="2628028" y="2813577"/>
            <a:ext cx="4416785" cy="340015"/>
          </a:xfrm>
          <a:custGeom>
            <a:avLst/>
            <a:gdLst>
              <a:gd name="connsiteX0" fmla="*/ 0 w 1617133"/>
              <a:gd name="connsiteY0" fmla="*/ 50800 h 804334"/>
              <a:gd name="connsiteX1" fmla="*/ 0 w 1617133"/>
              <a:gd name="connsiteY1" fmla="*/ 795867 h 804334"/>
              <a:gd name="connsiteX2" fmla="*/ 1608667 w 1617133"/>
              <a:gd name="connsiteY2" fmla="*/ 804334 h 804334"/>
              <a:gd name="connsiteX3" fmla="*/ 1617133 w 1617133"/>
              <a:gd name="connsiteY3" fmla="*/ 0 h 80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7133" h="804334">
                <a:moveTo>
                  <a:pt x="0" y="50800"/>
                </a:moveTo>
                <a:lnTo>
                  <a:pt x="0" y="795867"/>
                </a:lnTo>
                <a:lnTo>
                  <a:pt x="1608667" y="804334"/>
                </a:lnTo>
                <a:lnTo>
                  <a:pt x="1617133" y="0"/>
                </a:lnTo>
              </a:path>
            </a:pathLst>
          </a:custGeom>
          <a:noFill/>
          <a:ln>
            <a:solidFill>
              <a:srgbClr val="002060">
                <a:alpha val="9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630957" y="6205008"/>
            <a:ext cx="2057400" cy="365125"/>
          </a:xfrm>
        </p:spPr>
        <p:txBody>
          <a:bodyPr/>
          <a:lstStyle/>
          <a:p>
            <a:fld id="{513F1703-E928-487B-BA31-EC60EAD58ED8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6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930508" y="4922137"/>
            <a:ext cx="1738884" cy="164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3989503" y="3751340"/>
            <a:ext cx="2069003" cy="4898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802" y="3818326"/>
            <a:ext cx="1350864" cy="355881"/>
          </a:xfrm>
          <a:prstGeom prst="rect">
            <a:avLst/>
          </a:prstGeom>
          <a:ln>
            <a:noFill/>
          </a:ln>
        </p:spPr>
      </p:pic>
      <p:grpSp>
        <p:nvGrpSpPr>
          <p:cNvPr id="3" name="그룹 2"/>
          <p:cNvGrpSpPr/>
          <p:nvPr/>
        </p:nvGrpSpPr>
        <p:grpSpPr>
          <a:xfrm>
            <a:off x="2257769" y="2436103"/>
            <a:ext cx="956696" cy="421883"/>
            <a:chOff x="626571" y="2964783"/>
            <a:chExt cx="1546916" cy="784593"/>
          </a:xfrm>
        </p:grpSpPr>
        <p:sp>
          <p:nvSpPr>
            <p:cNvPr id="41" name="AutoShape 26"/>
            <p:cNvSpPr>
              <a:spLocks noChangeArrowheads="1"/>
            </p:cNvSpPr>
            <p:nvPr/>
          </p:nvSpPr>
          <p:spPr bwMode="auto">
            <a:xfrm>
              <a:off x="626571" y="2964783"/>
              <a:ext cx="1546916" cy="784593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3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675836" y="3454316"/>
              <a:ext cx="1037846" cy="2766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Docker0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2380711" y="2391363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  <a:endParaRPr lang="ko-KR" altLang="en-US" sz="14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950" y="4695646"/>
            <a:ext cx="340892" cy="270708"/>
          </a:xfrm>
          <a:prstGeom prst="rect">
            <a:avLst/>
          </a:prstGeom>
        </p:spPr>
      </p:pic>
      <p:sp>
        <p:nvSpPr>
          <p:cNvPr id="18" name="자유형 17"/>
          <p:cNvSpPr/>
          <p:nvPr/>
        </p:nvSpPr>
        <p:spPr>
          <a:xfrm>
            <a:off x="6341276" y="1861542"/>
            <a:ext cx="1617133" cy="804334"/>
          </a:xfrm>
          <a:custGeom>
            <a:avLst/>
            <a:gdLst>
              <a:gd name="connsiteX0" fmla="*/ 0 w 1617133"/>
              <a:gd name="connsiteY0" fmla="*/ 50800 h 804334"/>
              <a:gd name="connsiteX1" fmla="*/ 0 w 1617133"/>
              <a:gd name="connsiteY1" fmla="*/ 795867 h 804334"/>
              <a:gd name="connsiteX2" fmla="*/ 1608667 w 1617133"/>
              <a:gd name="connsiteY2" fmla="*/ 804334 h 804334"/>
              <a:gd name="connsiteX3" fmla="*/ 1617133 w 1617133"/>
              <a:gd name="connsiteY3" fmla="*/ 0 h 80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7133" h="804334">
                <a:moveTo>
                  <a:pt x="0" y="50800"/>
                </a:moveTo>
                <a:lnTo>
                  <a:pt x="0" y="795867"/>
                </a:lnTo>
                <a:lnTo>
                  <a:pt x="1608667" y="804334"/>
                </a:lnTo>
                <a:lnTo>
                  <a:pt x="1617133" y="0"/>
                </a:lnTo>
              </a:path>
            </a:pathLst>
          </a:custGeom>
          <a:noFill/>
          <a:ln>
            <a:solidFill>
              <a:srgbClr val="002060">
                <a:alpha val="9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정육면체 18"/>
          <p:cNvSpPr/>
          <p:nvPr/>
        </p:nvSpPr>
        <p:spPr>
          <a:xfrm flipH="1">
            <a:off x="5759666" y="920286"/>
            <a:ext cx="827144" cy="848124"/>
          </a:xfrm>
          <a:prstGeom prst="cub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238" y="1719743"/>
            <a:ext cx="340892" cy="270708"/>
          </a:xfrm>
          <a:prstGeom prst="rect">
            <a:avLst/>
          </a:prstGeom>
        </p:spPr>
      </p:pic>
      <p:sp>
        <p:nvSpPr>
          <p:cNvPr id="21" name="정육면체 20"/>
          <p:cNvSpPr/>
          <p:nvPr/>
        </p:nvSpPr>
        <p:spPr>
          <a:xfrm>
            <a:off x="7700176" y="983754"/>
            <a:ext cx="723965" cy="784656"/>
          </a:xfrm>
          <a:prstGeom prst="cub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8838" y="1719743"/>
            <a:ext cx="340892" cy="270708"/>
          </a:xfrm>
          <a:prstGeom prst="rect">
            <a:avLst/>
          </a:prstGeom>
        </p:spPr>
      </p:pic>
      <p:grpSp>
        <p:nvGrpSpPr>
          <p:cNvPr id="24" name="그룹 23"/>
          <p:cNvGrpSpPr/>
          <p:nvPr/>
        </p:nvGrpSpPr>
        <p:grpSpPr>
          <a:xfrm>
            <a:off x="6692407" y="2436103"/>
            <a:ext cx="956696" cy="421883"/>
            <a:chOff x="626571" y="2964783"/>
            <a:chExt cx="1546916" cy="784593"/>
          </a:xfrm>
        </p:grpSpPr>
        <p:sp>
          <p:nvSpPr>
            <p:cNvPr id="25" name="AutoShape 26"/>
            <p:cNvSpPr>
              <a:spLocks noChangeArrowheads="1"/>
            </p:cNvSpPr>
            <p:nvPr/>
          </p:nvSpPr>
          <p:spPr bwMode="auto">
            <a:xfrm>
              <a:off x="626571" y="2964783"/>
              <a:ext cx="1546916" cy="784593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6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675836" y="3454316"/>
              <a:ext cx="1037846" cy="2766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 err="1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INFOnet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6815349" y="2391363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  <a:endParaRPr lang="ko-KR" altLang="en-US" sz="14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592167" y="2891439"/>
            <a:ext cx="10358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172.17.0.1/16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036341" y="2876593"/>
            <a:ext cx="11897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192.168.20.0/24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06545" y="4418647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192.168.10.55/24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120346" y="1957309"/>
            <a:ext cx="11897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192.168.20.1/24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7937851" y="1907003"/>
            <a:ext cx="12666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192.168.20.20/24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424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695309" y="6435072"/>
            <a:ext cx="2057400" cy="365125"/>
          </a:xfrm>
        </p:spPr>
        <p:txBody>
          <a:bodyPr/>
          <a:lstStyle/>
          <a:p>
            <a:fld id="{513F1703-E928-487B-BA31-EC60EAD58ED8}" type="slidenum">
              <a:rPr lang="ko-KR" altLang="en-US" smtClean="0"/>
              <a:t>25</a:t>
            </a:fld>
            <a:endParaRPr lang="ko-KR" altLang="en-US"/>
          </a:p>
        </p:txBody>
      </p:sp>
      <p:cxnSp>
        <p:nvCxnSpPr>
          <p:cNvPr id="31" name="직선 연결선 30"/>
          <p:cNvCxnSpPr/>
          <p:nvPr/>
        </p:nvCxnSpPr>
        <p:spPr>
          <a:xfrm flipH="1">
            <a:off x="6165539" y="3408260"/>
            <a:ext cx="10034" cy="1359671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106807" y="4969638"/>
            <a:ext cx="1738884" cy="164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자유형 14"/>
          <p:cNvSpPr/>
          <p:nvPr/>
        </p:nvSpPr>
        <p:spPr>
          <a:xfrm>
            <a:off x="4114305" y="2388279"/>
            <a:ext cx="3972232" cy="804334"/>
          </a:xfrm>
          <a:custGeom>
            <a:avLst/>
            <a:gdLst>
              <a:gd name="connsiteX0" fmla="*/ 0 w 1617133"/>
              <a:gd name="connsiteY0" fmla="*/ 50800 h 804334"/>
              <a:gd name="connsiteX1" fmla="*/ 0 w 1617133"/>
              <a:gd name="connsiteY1" fmla="*/ 795867 h 804334"/>
              <a:gd name="connsiteX2" fmla="*/ 1608667 w 1617133"/>
              <a:gd name="connsiteY2" fmla="*/ 804334 h 804334"/>
              <a:gd name="connsiteX3" fmla="*/ 1617133 w 1617133"/>
              <a:gd name="connsiteY3" fmla="*/ 0 h 80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7133" h="804334">
                <a:moveTo>
                  <a:pt x="0" y="50800"/>
                </a:moveTo>
                <a:lnTo>
                  <a:pt x="0" y="795867"/>
                </a:lnTo>
                <a:lnTo>
                  <a:pt x="1608667" y="804334"/>
                </a:lnTo>
                <a:lnTo>
                  <a:pt x="1617133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194680" y="3800088"/>
            <a:ext cx="2069003" cy="4898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3979" y="3867074"/>
            <a:ext cx="1350864" cy="355881"/>
          </a:xfrm>
          <a:prstGeom prst="rect">
            <a:avLst/>
          </a:prstGeom>
          <a:ln>
            <a:noFill/>
          </a:ln>
        </p:spPr>
      </p:pic>
      <p:sp>
        <p:nvSpPr>
          <p:cNvPr id="35" name="정육면체 34"/>
          <p:cNvSpPr/>
          <p:nvPr/>
        </p:nvSpPr>
        <p:spPr>
          <a:xfrm flipH="1">
            <a:off x="3605512" y="1369458"/>
            <a:ext cx="827144" cy="848124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</a:p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</a:t>
            </a:r>
            <a:endParaRPr lang="ko-KR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8399" y="2172509"/>
            <a:ext cx="340892" cy="270708"/>
          </a:xfrm>
          <a:prstGeom prst="rect">
            <a:avLst/>
          </a:prstGeom>
        </p:spPr>
      </p:pic>
      <p:sp>
        <p:nvSpPr>
          <p:cNvPr id="38" name="정육면체 37"/>
          <p:cNvSpPr/>
          <p:nvPr/>
        </p:nvSpPr>
        <p:spPr>
          <a:xfrm>
            <a:off x="7766413" y="1462817"/>
            <a:ext cx="775038" cy="784656"/>
          </a:xfrm>
          <a:prstGeom prst="cub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2350" y="2198126"/>
            <a:ext cx="340892" cy="270708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5653729" y="2962840"/>
            <a:ext cx="956696" cy="421883"/>
            <a:chOff x="626571" y="2964783"/>
            <a:chExt cx="1546916" cy="784593"/>
          </a:xfrm>
        </p:grpSpPr>
        <p:sp>
          <p:nvSpPr>
            <p:cNvPr id="41" name="AutoShape 26"/>
            <p:cNvSpPr>
              <a:spLocks noChangeArrowheads="1"/>
            </p:cNvSpPr>
            <p:nvPr/>
          </p:nvSpPr>
          <p:spPr bwMode="auto">
            <a:xfrm>
              <a:off x="626571" y="2964783"/>
              <a:ext cx="1546916" cy="784593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3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675836" y="3454316"/>
              <a:ext cx="1037846" cy="2766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Docker0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776671" y="291810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  <a:endParaRPr lang="ko-KR" altLang="en-US" sz="14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127" y="4744394"/>
            <a:ext cx="340892" cy="2707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6407" y="238764"/>
            <a:ext cx="4740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4. Container </a:t>
            </a:r>
            <a:r>
              <a:rPr lang="ko-KR" altLang="en-US" sz="2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사이의 통신</a:t>
            </a:r>
            <a:endParaRPr lang="ko-KR" altLang="en-US" sz="28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원통 1"/>
          <p:cNvSpPr/>
          <p:nvPr/>
        </p:nvSpPr>
        <p:spPr>
          <a:xfrm>
            <a:off x="8508855" y="1834700"/>
            <a:ext cx="603420" cy="409470"/>
          </a:xfrm>
          <a:prstGeom prst="can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466775" y="2209659"/>
            <a:ext cx="10518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/lib/</a:t>
            </a:r>
            <a:r>
              <a:rPr lang="en-US" altLang="ko-K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순서도: 카드 6"/>
          <p:cNvSpPr/>
          <p:nvPr/>
        </p:nvSpPr>
        <p:spPr>
          <a:xfrm>
            <a:off x="6719976" y="5344858"/>
            <a:ext cx="580722" cy="401020"/>
          </a:xfrm>
          <a:prstGeom prst="flowChartPunchedCard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6719976" y="5812865"/>
            <a:ext cx="6399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dbdata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6092494" y="3394585"/>
            <a:ext cx="10358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172.17.0.1/16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09556" y="4785410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192.168.10.55/24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211440" y="2436051"/>
            <a:ext cx="10358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172.17.0.2/16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964843" y="2392614"/>
            <a:ext cx="10358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172.17.0.3/16</a:t>
            </a:r>
            <a:endParaRPr lang="ko-KR" altLang="en-US" sz="1200" b="1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왼쪽/오른쪽 화살표 7"/>
          <p:cNvSpPr/>
          <p:nvPr/>
        </p:nvSpPr>
        <p:spPr>
          <a:xfrm>
            <a:off x="4839047" y="1693368"/>
            <a:ext cx="2644734" cy="199443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658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01445" y="168190"/>
            <a:ext cx="1136609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US" altLang="ko-K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run -d --name </a:t>
            </a:r>
            <a:r>
              <a:rPr lang="en-US" altLang="ko-KR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altLang="ko-K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-v /</a:t>
            </a:r>
            <a:r>
              <a:rPr lang="en-US" altLang="ko-KR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dbdata</a:t>
            </a:r>
            <a:r>
              <a:rPr lang="en-US" altLang="ko-K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:/</a:t>
            </a:r>
            <a:r>
              <a:rPr lang="en-US" altLang="ko-KR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ko-K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/lib/</a:t>
            </a:r>
            <a:r>
              <a:rPr lang="en-US" altLang="ko-KR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altLang="ko-K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-e MYSQL_ROOT_PASSWORD=</a:t>
            </a:r>
            <a:r>
              <a:rPr lang="en-US" altLang="ko-KR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en-US" altLang="ko-K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-e MYSQL_PASSWORD=</a:t>
            </a:r>
            <a:r>
              <a:rPr lang="en-US" altLang="ko-KR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en-US" altLang="ko-K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mysql:5.7</a:t>
            </a:r>
          </a:p>
          <a:p>
            <a:pPr>
              <a:lnSpc>
                <a:spcPct val="150000"/>
              </a:lnSpc>
            </a:pPr>
            <a:r>
              <a:rPr lang="en-US" altLang="ko-K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US" altLang="ko-K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endParaRPr lang="en-US" altLang="ko-KR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  <a:r>
              <a:rPr lang="en-US" altLang="ko-K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altLang="ko-KR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dbdata</a:t>
            </a:r>
            <a:endParaRPr lang="ko-KR" alt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75" y="1679306"/>
            <a:ext cx="9996135" cy="4809985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168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21109" y="413998"/>
            <a:ext cx="1136609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run -d --name 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--link 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mysql:DBmysq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-e  WORDPRESS_DB_PASSWORD=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-p 80:80 wordpress:4 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08" y="1976744"/>
            <a:ext cx="11386673" cy="1287565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1C159-9DB5-4EF8-A5DD-DE91C73B901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944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798</Words>
  <Application>Microsoft Office PowerPoint</Application>
  <PresentationFormat>와이드스크린</PresentationFormat>
  <Paragraphs>321</Paragraphs>
  <Slides>27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6" baseType="lpstr">
      <vt:lpstr>굴림</vt:lpstr>
      <vt:lpstr>나눔고딕</vt:lpstr>
      <vt:lpstr>맑은 고딕</vt:lpstr>
      <vt:lpstr>함초롬바탕</vt:lpstr>
      <vt:lpstr>Arial</vt:lpstr>
      <vt:lpstr>Tahoma</vt:lpstr>
      <vt:lpstr>Times New Roman</vt:lpstr>
      <vt:lpstr>Wingdings</vt:lpstr>
      <vt:lpstr>Office 테마</vt:lpstr>
      <vt:lpstr>NAT 기능  </vt:lpstr>
      <vt:lpstr>SoHo(Small office/home office)에서의 NAT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Docker0 Bridge Network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37</cp:revision>
  <dcterms:created xsi:type="dcterms:W3CDTF">2023-05-19T01:09:20Z</dcterms:created>
  <dcterms:modified xsi:type="dcterms:W3CDTF">2023-05-19T04:17:50Z</dcterms:modified>
</cp:coreProperties>
</file>